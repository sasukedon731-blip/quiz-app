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Lst>
  <p:notesMasterIdLst>
    <p:notesMasterId r:id="rId10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notesMaster" Target="notesMasters/notesMaster1.xml"/><Relationship Id="rId104" Type="http://schemas.openxmlformats.org/officeDocument/2006/relationships/presProps" Target="presProps.xml"/><Relationship Id="rId105" Type="http://schemas.openxmlformats.org/officeDocument/2006/relationships/viewProps" Target="viewProps.xml"/><Relationship Id="rId106" Type="http://schemas.openxmlformats.org/officeDocument/2006/relationships/theme" Target="theme/theme1.xml"/><Relationship Id="rId10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2C2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611A"/>
          </a:solidFill>
          <a:ln w="12700">
            <a:solidFill>
              <a:srgbClr val="E8611A"/>
            </a:solidFill>
            <a:prstDash val="solid"/>
          </a:ln>
        </p:spPr>
      </p:sp>
      <p:sp>
        <p:nvSpPr>
          <p:cNvPr id="3" name="Shape 1"/>
          <p:cNvSpPr/>
          <p:nvPr/>
        </p:nvSpPr>
        <p:spPr>
          <a:xfrm>
            <a:off x="0" y="5070348"/>
            <a:ext cx="9144000" cy="73152"/>
          </a:xfrm>
          <a:prstGeom prst="rect">
            <a:avLst/>
          </a:prstGeom>
          <a:solidFill>
            <a:srgbClr val="E8611A"/>
          </a:solidFill>
          <a:ln w="12700">
            <a:solidFill>
              <a:srgbClr val="E8611A"/>
            </a:solidFill>
            <a:prstDash val="solid"/>
          </a:ln>
        </p:spPr>
      </p:sp>
      <p:sp>
        <p:nvSpPr>
          <p:cNvPr id="4" name="Text 2"/>
          <p:cNvSpPr/>
          <p:nvPr/>
        </p:nvSpPr>
        <p:spPr>
          <a:xfrm>
            <a:off x="0" y="1280160"/>
            <a:ext cx="9144000" cy="1188720"/>
          </a:xfrm>
          <a:prstGeom prst="rect">
            <a:avLst/>
          </a:prstGeom>
          <a:noFill/>
          <a:ln/>
        </p:spPr>
        <p:txBody>
          <a:bodyPr wrap="square" rtlCol="0" anchor="ctr"/>
          <a:lstStyle/>
          <a:p>
            <a:pPr algn="ctr" indent="0" marL="0">
              <a:buNone/>
            </a:pPr>
            <a:r>
              <a:rPr lang="en-US" sz="4000" b="1" dirty="0">
                <a:solidFill>
                  <a:srgbClr val="FFFFFF"/>
                </a:solidFill>
                <a:latin typeface="メイリオ" pitchFamily="34" charset="0"/>
                <a:ea typeface="メイリオ" pitchFamily="34" charset="-122"/>
                <a:cs typeface="メイリオ" pitchFamily="34" charset="-120"/>
              </a:rPr>
              <a:t>空調・衛生用語クイズ</a:t>
            </a:r>
            <a:endParaRPr lang="en-US" sz="4000" dirty="0"/>
          </a:p>
        </p:txBody>
      </p:sp>
      <p:sp>
        <p:nvSpPr>
          <p:cNvPr id="5" name="Text 3"/>
          <p:cNvSpPr/>
          <p:nvPr/>
        </p:nvSpPr>
        <p:spPr>
          <a:xfrm>
            <a:off x="0" y="2606040"/>
            <a:ext cx="9144000" cy="640080"/>
          </a:xfrm>
          <a:prstGeom prst="rect">
            <a:avLst/>
          </a:prstGeom>
          <a:noFill/>
          <a:ln/>
        </p:spPr>
        <p:txBody>
          <a:bodyPr wrap="square" rtlCol="0" anchor="ctr"/>
          <a:lstStyle/>
          <a:p>
            <a:pPr algn="ctr" indent="0" marL="0">
              <a:buNone/>
            </a:pPr>
            <a:r>
              <a:rPr lang="en-US" sz="2400" dirty="0">
                <a:solidFill>
                  <a:srgbClr val="E8611A"/>
                </a:solidFill>
                <a:latin typeface="メイリオ" pitchFamily="34" charset="0"/>
                <a:ea typeface="メイリオ" pitchFamily="34" charset="-122"/>
                <a:cs typeface="メイリオ" pitchFamily="34" charset="-120"/>
              </a:rPr>
              <a:t>基本編　全50問</a:t>
            </a:r>
            <a:endParaRPr lang="en-US" sz="2400" dirty="0"/>
          </a:p>
        </p:txBody>
      </p:sp>
      <p:sp>
        <p:nvSpPr>
          <p:cNvPr id="6" name="Text 4"/>
          <p:cNvSpPr/>
          <p:nvPr/>
        </p:nvSpPr>
        <p:spPr>
          <a:xfrm>
            <a:off x="0" y="3429000"/>
            <a:ext cx="9144000" cy="548640"/>
          </a:xfrm>
          <a:prstGeom prst="rect">
            <a:avLst/>
          </a:prstGeom>
          <a:noFill/>
          <a:ln/>
        </p:spPr>
        <p:txBody>
          <a:bodyPr wrap="square" rtlCol="0" anchor="ctr"/>
          <a:lstStyle/>
          <a:p>
            <a:pPr algn="ctr" indent="0" marL="0">
              <a:buNone/>
            </a:pPr>
            <a:r>
              <a:rPr lang="en-US" sz="1500" dirty="0">
                <a:solidFill>
                  <a:srgbClr val="AAAAAA"/>
                </a:solidFill>
                <a:latin typeface="メイリオ" pitchFamily="34" charset="0"/>
                <a:ea typeface="メイリオ" pitchFamily="34" charset="-122"/>
                <a:cs typeface="メイリオ" pitchFamily="34" charset="-120"/>
              </a:rPr>
              <a:t>解説文・用語名・写真 3種類のクイズに挑戦しよう！</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Q1</a:t>
            </a:r>
            <a:endParaRPr lang="en-US" sz="2200" dirty="0"/>
          </a:p>
        </p:txBody>
      </p:sp>
      <p:sp>
        <p:nvSpPr>
          <p:cNvPr id="5" name="Shape 3"/>
          <p:cNvSpPr/>
          <p:nvPr/>
        </p:nvSpPr>
        <p:spPr>
          <a:xfrm>
            <a:off x="1005840" y="118872"/>
            <a:ext cx="1828800" cy="420624"/>
          </a:xfrm>
          <a:prstGeom prst="roundRect">
            <a:avLst>
              <a:gd name="adj" fmla="val 17391"/>
            </a:avLst>
          </a:prstGeom>
          <a:solidFill>
            <a:srgbClr val="1565C0"/>
          </a:solidFill>
          <a:ln w="12700">
            <a:solidFill>
              <a:srgbClr val="1565C0"/>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写真問題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1 / 50</a:t>
            </a:r>
            <a:endParaRPr lang="en-US" sz="1400" dirty="0"/>
          </a:p>
        </p:txBody>
      </p:sp>
      <p:sp>
        <p:nvSpPr>
          <p:cNvPr id="8" name="Text 6"/>
          <p:cNvSpPr/>
          <p:nvPr/>
        </p:nvSpPr>
        <p:spPr>
          <a:xfrm>
            <a:off x="182880" y="822960"/>
            <a:ext cx="8778240" cy="45720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この写真に関係する用語はどれでしょうか？</a:t>
            </a:r>
            <a:endParaRPr lang="en-US" sz="1800" dirty="0"/>
          </a:p>
        </p:txBody>
      </p:sp>
      <p:sp>
        <p:nvSpPr>
          <p:cNvPr id="9" name="Shape 7"/>
          <p:cNvSpPr/>
          <p:nvPr/>
        </p:nvSpPr>
        <p:spPr>
          <a:xfrm>
            <a:off x="274320" y="1371600"/>
            <a:ext cx="3840480" cy="3200400"/>
          </a:xfrm>
          <a:prstGeom prst="rect">
            <a:avLst/>
          </a:prstGeom>
          <a:solidFill>
            <a:srgbClr val="FFFFFF"/>
          </a:solidFill>
          <a:ln w="12700">
            <a:solidFill>
              <a:srgbClr val="DDDDDD"/>
            </a:solidFill>
            <a:prstDash val="solid"/>
          </a:ln>
        </p:spPr>
      </p:sp>
      <p:pic>
        <p:nvPicPr>
          <p:cNvPr id="10" name="Image 0" descr="/home/claude/unpacked_空調_衛生用語集/ppt/media/image2.png">    </p:cNvPr>
          <p:cNvPicPr>
            <a:picLocks noChangeAspect="1"/>
          </p:cNvPicPr>
          <p:nvPr/>
        </p:nvPicPr>
        <p:blipFill>
          <a:blip r:embed="rId1"/>
          <a:srcRect l="0" r="0" t="0" b="0"/>
          <a:stretch/>
        </p:blipFill>
        <p:spPr>
          <a:xfrm>
            <a:off x="365760" y="1463040"/>
            <a:ext cx="3657600" cy="3017520"/>
          </a:xfrm>
          <a:prstGeom prst="rect">
            <a:avLst/>
          </a:prstGeom>
        </p:spPr>
      </p:pic>
      <p:sp>
        <p:nvSpPr>
          <p:cNvPr id="11" name="Shape 8"/>
          <p:cNvSpPr/>
          <p:nvPr/>
        </p:nvSpPr>
        <p:spPr>
          <a:xfrm>
            <a:off x="4572000" y="1371600"/>
            <a:ext cx="2194560" cy="1280160"/>
          </a:xfrm>
          <a:prstGeom prst="rect">
            <a:avLst/>
          </a:prstGeom>
          <a:solidFill>
            <a:srgbClr val="E3F2FD"/>
          </a:solidFill>
          <a:ln w="19050">
            <a:solidFill>
              <a:srgbClr val="1565C0"/>
            </a:solidFill>
            <a:prstDash val="solid"/>
          </a:ln>
        </p:spPr>
      </p:sp>
      <p:sp>
        <p:nvSpPr>
          <p:cNvPr id="12" name="Text 9"/>
          <p:cNvSpPr/>
          <p:nvPr/>
        </p:nvSpPr>
        <p:spPr>
          <a:xfrm>
            <a:off x="4617720" y="1417320"/>
            <a:ext cx="320040" cy="320040"/>
          </a:xfrm>
          <a:prstGeom prst="rect">
            <a:avLst/>
          </a:prstGeom>
          <a:solidFill>
            <a:srgbClr val="1565C0"/>
          </a:solidFill>
          <a:ln/>
        </p:spPr>
        <p:txBody>
          <a:bodyPr wrap="square" rtlCol="0" anchor="ctr"/>
          <a:lstStyle/>
          <a:p>
            <a:pPr algn="ctr" indent="0" marL="0">
              <a:buNone/>
            </a:pPr>
            <a:r>
              <a:rPr lang="en-US" sz="1200" b="1" dirty="0">
                <a:solidFill>
                  <a:srgbClr val="FFFFFF"/>
                </a:solidFill>
                <a:latin typeface="メイリオ" pitchFamily="34" charset="0"/>
                <a:ea typeface="メイリオ" pitchFamily="34" charset="-122"/>
                <a:cs typeface="メイリオ" pitchFamily="34" charset="-120"/>
              </a:rPr>
              <a:t>A</a:t>
            </a:r>
            <a:endParaRPr lang="en-US" sz="1200" dirty="0"/>
          </a:p>
        </p:txBody>
      </p:sp>
      <p:sp>
        <p:nvSpPr>
          <p:cNvPr id="13" name="Text 10"/>
          <p:cNvSpPr/>
          <p:nvPr/>
        </p:nvSpPr>
        <p:spPr>
          <a:xfrm>
            <a:off x="4663440" y="1691640"/>
            <a:ext cx="2011680" cy="822960"/>
          </a:xfrm>
          <a:prstGeom prst="rect">
            <a:avLst/>
          </a:prstGeom>
          <a:noFill/>
          <a:ln/>
        </p:spPr>
        <p:txBody>
          <a:bodyPr wrap="square" rtlCol="0" anchor="ctr"/>
          <a:lstStyle/>
          <a:p>
            <a:pPr algn="ctr" indent="0" marL="0">
              <a:buNone/>
            </a:pPr>
            <a:r>
              <a:rPr lang="en-US" sz="1300" b="1" dirty="0">
                <a:solidFill>
                  <a:srgbClr val="1565C0"/>
                </a:solidFill>
                <a:latin typeface="メイリオ" pitchFamily="34" charset="0"/>
                <a:ea typeface="メイリオ" pitchFamily="34" charset="-122"/>
                <a:cs typeface="メイリオ" pitchFamily="34" charset="-120"/>
              </a:rPr>
              <a:t>吸収式冷凍機</a:t>
            </a:r>
            <a:endParaRPr lang="en-US" sz="1300" dirty="0"/>
          </a:p>
        </p:txBody>
      </p:sp>
      <p:sp>
        <p:nvSpPr>
          <p:cNvPr id="14" name="Shape 11"/>
          <p:cNvSpPr/>
          <p:nvPr/>
        </p:nvSpPr>
        <p:spPr>
          <a:xfrm>
            <a:off x="6949440" y="1371600"/>
            <a:ext cx="2194560" cy="1280160"/>
          </a:xfrm>
          <a:prstGeom prst="rect">
            <a:avLst/>
          </a:prstGeom>
          <a:solidFill>
            <a:srgbClr val="F3E5F5"/>
          </a:solidFill>
          <a:ln w="19050">
            <a:solidFill>
              <a:srgbClr val="6A1B9A"/>
            </a:solidFill>
            <a:prstDash val="solid"/>
          </a:ln>
        </p:spPr>
      </p:sp>
      <p:sp>
        <p:nvSpPr>
          <p:cNvPr id="15" name="Text 12"/>
          <p:cNvSpPr/>
          <p:nvPr/>
        </p:nvSpPr>
        <p:spPr>
          <a:xfrm>
            <a:off x="6995160" y="1417320"/>
            <a:ext cx="320040" cy="320040"/>
          </a:xfrm>
          <a:prstGeom prst="rect">
            <a:avLst/>
          </a:prstGeom>
          <a:solidFill>
            <a:srgbClr val="6A1B9A"/>
          </a:solidFill>
          <a:ln/>
        </p:spPr>
        <p:txBody>
          <a:bodyPr wrap="square" rtlCol="0" anchor="ctr"/>
          <a:lstStyle/>
          <a:p>
            <a:pPr algn="ctr" indent="0" marL="0">
              <a:buNone/>
            </a:pPr>
            <a:r>
              <a:rPr lang="en-US" sz="1200" b="1" dirty="0">
                <a:solidFill>
                  <a:srgbClr val="FFFFFF"/>
                </a:solidFill>
                <a:latin typeface="メイリオ" pitchFamily="34" charset="0"/>
                <a:ea typeface="メイリオ" pitchFamily="34" charset="-122"/>
                <a:cs typeface="メイリオ" pitchFamily="34" charset="-120"/>
              </a:rPr>
              <a:t>B</a:t>
            </a:r>
            <a:endParaRPr lang="en-US" sz="1200" dirty="0"/>
          </a:p>
        </p:txBody>
      </p:sp>
      <p:sp>
        <p:nvSpPr>
          <p:cNvPr id="16" name="Text 13"/>
          <p:cNvSpPr/>
          <p:nvPr/>
        </p:nvSpPr>
        <p:spPr>
          <a:xfrm>
            <a:off x="7040880" y="1691640"/>
            <a:ext cx="2011680" cy="822960"/>
          </a:xfrm>
          <a:prstGeom prst="rect">
            <a:avLst/>
          </a:prstGeom>
          <a:noFill/>
          <a:ln/>
        </p:spPr>
        <p:txBody>
          <a:bodyPr wrap="square" rtlCol="0" anchor="ctr"/>
          <a:lstStyle/>
          <a:p>
            <a:pPr algn="ctr" indent="0" marL="0">
              <a:buNone/>
            </a:pPr>
            <a:r>
              <a:rPr lang="en-US" sz="1300" b="1" dirty="0">
                <a:solidFill>
                  <a:srgbClr val="6A1B9A"/>
                </a:solidFill>
                <a:latin typeface="メイリオ" pitchFamily="34" charset="0"/>
                <a:ea typeface="メイリオ" pitchFamily="34" charset="-122"/>
                <a:cs typeface="メイリオ" pitchFamily="34" charset="-120"/>
              </a:rPr>
              <a:t>局所換気</a:t>
            </a:r>
            <a:endParaRPr lang="en-US" sz="1300" dirty="0"/>
          </a:p>
        </p:txBody>
      </p:sp>
      <p:sp>
        <p:nvSpPr>
          <p:cNvPr id="17" name="Shape 14"/>
          <p:cNvSpPr/>
          <p:nvPr/>
        </p:nvSpPr>
        <p:spPr>
          <a:xfrm>
            <a:off x="4572000" y="2834640"/>
            <a:ext cx="2194560" cy="1280160"/>
          </a:xfrm>
          <a:prstGeom prst="rect">
            <a:avLst/>
          </a:prstGeom>
          <a:solidFill>
            <a:srgbClr val="E8F5E9"/>
          </a:solidFill>
          <a:ln w="19050">
            <a:solidFill>
              <a:srgbClr val="1B5E20"/>
            </a:solidFill>
            <a:prstDash val="solid"/>
          </a:ln>
        </p:spPr>
      </p:sp>
      <p:sp>
        <p:nvSpPr>
          <p:cNvPr id="18" name="Text 15"/>
          <p:cNvSpPr/>
          <p:nvPr/>
        </p:nvSpPr>
        <p:spPr>
          <a:xfrm>
            <a:off x="4617720" y="2880360"/>
            <a:ext cx="320040" cy="320040"/>
          </a:xfrm>
          <a:prstGeom prst="rect">
            <a:avLst/>
          </a:prstGeom>
          <a:solidFill>
            <a:srgbClr val="1B5E20"/>
          </a:solidFill>
          <a:ln/>
        </p:spPr>
        <p:txBody>
          <a:bodyPr wrap="square" rtlCol="0" anchor="ctr"/>
          <a:lstStyle/>
          <a:p>
            <a:pPr algn="ctr" indent="0" marL="0">
              <a:buNone/>
            </a:pPr>
            <a:r>
              <a:rPr lang="en-US" sz="1200" b="1" dirty="0">
                <a:solidFill>
                  <a:srgbClr val="FFFFFF"/>
                </a:solidFill>
                <a:latin typeface="メイリオ" pitchFamily="34" charset="0"/>
                <a:ea typeface="メイリオ" pitchFamily="34" charset="-122"/>
                <a:cs typeface="メイリオ" pitchFamily="34" charset="-120"/>
              </a:rPr>
              <a:t>C</a:t>
            </a:r>
            <a:endParaRPr lang="en-US" sz="1200" dirty="0"/>
          </a:p>
        </p:txBody>
      </p:sp>
      <p:sp>
        <p:nvSpPr>
          <p:cNvPr id="19" name="Text 16"/>
          <p:cNvSpPr/>
          <p:nvPr/>
        </p:nvSpPr>
        <p:spPr>
          <a:xfrm>
            <a:off x="4663440" y="3154680"/>
            <a:ext cx="2011680" cy="822960"/>
          </a:xfrm>
          <a:prstGeom prst="rect">
            <a:avLst/>
          </a:prstGeom>
          <a:noFill/>
          <a:ln/>
        </p:spPr>
        <p:txBody>
          <a:bodyPr wrap="square" rtlCol="0" anchor="ctr"/>
          <a:lstStyle/>
          <a:p>
            <a:pPr algn="ctr" indent="0" marL="0">
              <a:buNone/>
            </a:pPr>
            <a:r>
              <a:rPr lang="en-US" sz="1300" b="1" dirty="0">
                <a:solidFill>
                  <a:srgbClr val="1B5E20"/>
                </a:solidFill>
                <a:latin typeface="メイリオ" pitchFamily="34" charset="0"/>
                <a:ea typeface="メイリオ" pitchFamily="34" charset="-122"/>
                <a:cs typeface="メイリオ" pitchFamily="34" charset="-120"/>
              </a:rPr>
              <a:t>スポット空調</a:t>
            </a:r>
            <a:endParaRPr lang="en-US" sz="1300" dirty="0"/>
          </a:p>
        </p:txBody>
      </p:sp>
      <p:sp>
        <p:nvSpPr>
          <p:cNvPr id="20" name="Shape 17"/>
          <p:cNvSpPr/>
          <p:nvPr/>
        </p:nvSpPr>
        <p:spPr>
          <a:xfrm>
            <a:off x="6949440" y="2834640"/>
            <a:ext cx="2194560" cy="1280160"/>
          </a:xfrm>
          <a:prstGeom prst="rect">
            <a:avLst/>
          </a:prstGeom>
          <a:solidFill>
            <a:srgbClr val="FFEBEE"/>
          </a:solidFill>
          <a:ln w="19050">
            <a:solidFill>
              <a:srgbClr val="B71C1C"/>
            </a:solidFill>
            <a:prstDash val="solid"/>
          </a:ln>
        </p:spPr>
      </p:sp>
      <p:sp>
        <p:nvSpPr>
          <p:cNvPr id="21" name="Text 18"/>
          <p:cNvSpPr/>
          <p:nvPr/>
        </p:nvSpPr>
        <p:spPr>
          <a:xfrm>
            <a:off x="6995160" y="2880360"/>
            <a:ext cx="320040" cy="320040"/>
          </a:xfrm>
          <a:prstGeom prst="rect">
            <a:avLst/>
          </a:prstGeom>
          <a:solidFill>
            <a:srgbClr val="B71C1C"/>
          </a:solidFill>
          <a:ln/>
        </p:spPr>
        <p:txBody>
          <a:bodyPr wrap="square" rtlCol="0" anchor="ctr"/>
          <a:lstStyle/>
          <a:p>
            <a:pPr algn="ctr" indent="0" marL="0">
              <a:buNone/>
            </a:pPr>
            <a:r>
              <a:rPr lang="en-US" sz="1200" b="1" dirty="0">
                <a:solidFill>
                  <a:srgbClr val="FFFFFF"/>
                </a:solidFill>
                <a:latin typeface="メイリオ" pitchFamily="34" charset="0"/>
                <a:ea typeface="メイリオ" pitchFamily="34" charset="-122"/>
                <a:cs typeface="メイリオ" pitchFamily="34" charset="-120"/>
              </a:rPr>
              <a:t>D</a:t>
            </a:r>
            <a:endParaRPr lang="en-US" sz="1200" dirty="0"/>
          </a:p>
        </p:txBody>
      </p:sp>
      <p:sp>
        <p:nvSpPr>
          <p:cNvPr id="22" name="Text 19"/>
          <p:cNvSpPr/>
          <p:nvPr/>
        </p:nvSpPr>
        <p:spPr>
          <a:xfrm>
            <a:off x="7040880" y="3154680"/>
            <a:ext cx="2011680" cy="822960"/>
          </a:xfrm>
          <a:prstGeom prst="rect">
            <a:avLst/>
          </a:prstGeom>
          <a:noFill/>
          <a:ln/>
        </p:spPr>
        <p:txBody>
          <a:bodyPr wrap="square" rtlCol="0" anchor="ctr"/>
          <a:lstStyle/>
          <a:p>
            <a:pPr algn="ctr" indent="0" marL="0">
              <a:buNone/>
            </a:pPr>
            <a:r>
              <a:rPr lang="en-US" sz="1300" b="1" dirty="0">
                <a:solidFill>
                  <a:srgbClr val="B71C1C"/>
                </a:solidFill>
                <a:latin typeface="メイリオ" pitchFamily="34" charset="0"/>
                <a:ea typeface="メイリオ" pitchFamily="34" charset="-122"/>
                <a:cs typeface="メイリオ" pitchFamily="34" charset="-120"/>
              </a:rPr>
              <a:t>ダクト</a:t>
            </a:r>
            <a:endParaRPr lang="en-US" sz="1300" dirty="0"/>
          </a:p>
        </p:txBody>
      </p:sp>
      <p:sp>
        <p:nvSpPr>
          <p:cNvPr id="23" name="Text 20"/>
          <p:cNvSpPr/>
          <p:nvPr/>
        </p:nvSpPr>
        <p:spPr>
          <a:xfrm>
            <a:off x="4572000" y="4297680"/>
            <a:ext cx="4389120" cy="365760"/>
          </a:xfrm>
          <a:prstGeom prst="rect">
            <a:avLst/>
          </a:prstGeom>
          <a:noFill/>
          <a:ln/>
        </p:spPr>
        <p:txBody>
          <a:bodyPr wrap="square" rtlCol="0" anchor="ctr"/>
          <a:lstStyle/>
          <a:p>
            <a:pPr algn="l" indent="0" marL="0">
              <a:buNone/>
            </a:pPr>
            <a:r>
              <a:rPr lang="en-US" sz="1200" i="1" dirty="0">
                <a:solidFill>
                  <a:srgbClr val="666666"/>
                </a:solidFill>
                <a:latin typeface="メイリオ" pitchFamily="34" charset="0"/>
                <a:ea typeface="メイリオ" pitchFamily="34" charset="-122"/>
                <a:cs typeface="メイリオ" pitchFamily="34" charset="-120"/>
              </a:rPr>
              <a:t>ヒント: よみ → （だくと）</a:t>
            </a:r>
            <a:endParaRPr lang="en-US" sz="1200" dirty="0"/>
          </a:p>
        </p:txBody>
      </p:sp>
      <p:sp>
        <p:nvSpPr>
          <p:cNvPr id="24" name="Shape 21"/>
          <p:cNvSpPr/>
          <p:nvPr/>
        </p:nvSpPr>
        <p:spPr>
          <a:xfrm>
            <a:off x="0" y="4983480"/>
            <a:ext cx="9144000" cy="160020"/>
          </a:xfrm>
          <a:prstGeom prst="rect">
            <a:avLst/>
          </a:prstGeom>
          <a:solidFill>
            <a:srgbClr val="2C2C2C"/>
          </a:solidFill>
          <a:ln w="12700">
            <a:solidFill>
              <a:srgbClr val="2C2C2C"/>
            </a:solidFill>
            <a:prstDash val="solid"/>
          </a:ln>
        </p:spPr>
      </p:sp>
      <p:sp>
        <p:nvSpPr>
          <p:cNvPr id="25" name="Text 2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Q1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1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D  ダクト</a:t>
            </a:r>
            <a:endParaRPr lang="en-US" sz="2200" dirty="0"/>
          </a:p>
        </p:txBody>
      </p:sp>
      <p:sp>
        <p:nvSpPr>
          <p:cNvPr id="9" name="Shape 7"/>
          <p:cNvSpPr/>
          <p:nvPr/>
        </p:nvSpPr>
        <p:spPr>
          <a:xfrm>
            <a:off x="6583680" y="2011680"/>
            <a:ext cx="2286000" cy="2286000"/>
          </a:xfrm>
          <a:prstGeom prst="rect">
            <a:avLst/>
          </a:prstGeom>
          <a:solidFill>
            <a:srgbClr val="FFFFFF"/>
          </a:solidFill>
          <a:ln w="12700">
            <a:solidFill>
              <a:srgbClr val="444444"/>
            </a:solidFill>
            <a:prstDash val="solid"/>
          </a:ln>
        </p:spPr>
      </p:sp>
      <p:pic>
        <p:nvPicPr>
          <p:cNvPr id="10" name="Image 0" descr="/home/claude/unpacked_空調_衛生用語集/ppt/media/image2.png">    </p:cNvPr>
          <p:cNvPicPr>
            <a:picLocks noChangeAspect="1"/>
          </p:cNvPicPr>
          <p:nvPr/>
        </p:nvPicPr>
        <p:blipFill>
          <a:blip r:embed="rId1"/>
          <a:srcRect l="0" r="0" t="0" b="0"/>
          <a:stretch/>
        </p:blipFill>
        <p:spPr>
          <a:xfrm>
            <a:off x="6675120" y="2103120"/>
            <a:ext cx="2103120" cy="2103120"/>
          </a:xfrm>
          <a:prstGeom prst="rect">
            <a:avLst/>
          </a:prstGeom>
        </p:spPr>
      </p:pic>
      <p:sp>
        <p:nvSpPr>
          <p:cNvPr id="11" name="Shape 8"/>
          <p:cNvSpPr/>
          <p:nvPr/>
        </p:nvSpPr>
        <p:spPr>
          <a:xfrm>
            <a:off x="274320" y="1965960"/>
            <a:ext cx="6126480" cy="457200"/>
          </a:xfrm>
          <a:prstGeom prst="rect">
            <a:avLst/>
          </a:prstGeom>
          <a:solidFill>
            <a:srgbClr val="E8611A"/>
          </a:solidFill>
          <a:ln w="12700">
            <a:solidFill>
              <a:srgbClr val="E8611A"/>
            </a:solidFill>
            <a:prstDash val="solid"/>
          </a:ln>
        </p:spPr>
      </p:sp>
      <p:sp>
        <p:nvSpPr>
          <p:cNvPr id="12" name="Text 9"/>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3" name="Text 10"/>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ダクト（だくと）</a:t>
            </a:r>
            <a:endParaRPr lang="en-US" sz="1600" dirty="0"/>
          </a:p>
        </p:txBody>
      </p:sp>
      <p:sp>
        <p:nvSpPr>
          <p:cNvPr id="14" name="Text 11"/>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空気やガス、液体などを通すための管や通路。建築や設備・工場などの分野で換気・空調・排気などに使用される</a:t>
            </a:r>
            <a:endParaRPr lang="en-US" sz="1400" dirty="0"/>
          </a:p>
        </p:txBody>
      </p:sp>
      <p:sp>
        <p:nvSpPr>
          <p:cNvPr id="15" name="Shape 12"/>
          <p:cNvSpPr/>
          <p:nvPr/>
        </p:nvSpPr>
        <p:spPr>
          <a:xfrm>
            <a:off x="0" y="4983480"/>
            <a:ext cx="9144000" cy="160020"/>
          </a:xfrm>
          <a:prstGeom prst="rect">
            <a:avLst/>
          </a:prstGeom>
          <a:solidFill>
            <a:srgbClr val="111111"/>
          </a:solidFill>
          <a:ln w="12700">
            <a:solidFill>
              <a:srgbClr val="111111"/>
            </a:solidFill>
            <a:prstDash val="solid"/>
          </a:ln>
        </p:spPr>
      </p:sp>
      <p:sp>
        <p:nvSpPr>
          <p:cNvPr id="16" name="Text 13"/>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Q2</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2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空気中のホコリ・花粉・微粒子・微生物などを取り除き清浄な空気を供給するための装置。空調機器に取り付けられ室内環境の質を保つ役割を担う</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吸収式冷凍機</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熱交換器</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フィルター</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室外機</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Q2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2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C  フィルター</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フィルター（ふぃるたー）</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空気中のホコリ・花粉・微粒子・微生物などを取り除き清浄な空気を供給するための装置。空調機器に取り付けられ室内環境の質を保つ役割を担う</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Q3</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3 / 50</a:t>
            </a:r>
            <a:endParaRPr lang="en-US" sz="1400" dirty="0"/>
          </a:p>
        </p:txBody>
      </p:sp>
      <p:sp>
        <p:nvSpPr>
          <p:cNvPr id="8" name="Text 6"/>
          <p:cNvSpPr/>
          <p:nvPr/>
        </p:nvSpPr>
        <p:spPr>
          <a:xfrm>
            <a:off x="182880" y="804672"/>
            <a:ext cx="877824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「圧縮機」の説明として正しいのはどれでしょうか？</a:t>
            </a:r>
            <a:endParaRPr lang="en-US" sz="1700" dirty="0"/>
          </a:p>
        </p:txBody>
      </p:sp>
      <p:sp>
        <p:nvSpPr>
          <p:cNvPr id="9" name="Shape 7"/>
          <p:cNvSpPr/>
          <p:nvPr/>
        </p:nvSpPr>
        <p:spPr>
          <a:xfrm>
            <a:off x="274320" y="1463040"/>
            <a:ext cx="6675120" cy="749808"/>
          </a:xfrm>
          <a:prstGeom prst="rect">
            <a:avLst/>
          </a:prstGeom>
          <a:solidFill>
            <a:srgbClr val="E3F2FD"/>
          </a:solidFill>
          <a:ln w="19050">
            <a:solidFill>
              <a:srgbClr val="1565C0"/>
            </a:solidFill>
            <a:prstDash val="solid"/>
          </a:ln>
        </p:spPr>
      </p:sp>
      <p:sp>
        <p:nvSpPr>
          <p:cNvPr id="10" name="Shape 8"/>
          <p:cNvSpPr/>
          <p:nvPr/>
        </p:nvSpPr>
        <p:spPr>
          <a:xfrm>
            <a:off x="274320" y="1463040"/>
            <a:ext cx="457200" cy="749808"/>
          </a:xfrm>
          <a:prstGeom prst="rect">
            <a:avLst/>
          </a:prstGeom>
          <a:solidFill>
            <a:srgbClr val="1565C0"/>
          </a:solidFill>
          <a:ln w="12700">
            <a:solidFill>
              <a:srgbClr val="1565C0"/>
            </a:solidFill>
            <a:prstDash val="solid"/>
          </a:ln>
        </p:spPr>
      </p:sp>
      <p:sp>
        <p:nvSpPr>
          <p:cNvPr id="11" name="Text 9"/>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2" name="Text 10"/>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空気やガス、液体などを通すための管や通路。建築や設備・工場などの分野で換気・空調・排気などに使用される</a:t>
            </a:r>
            <a:endParaRPr lang="en-US" sz="1200" dirty="0"/>
          </a:p>
        </p:txBody>
      </p:sp>
      <p:sp>
        <p:nvSpPr>
          <p:cNvPr id="13" name="Shape 11"/>
          <p:cNvSpPr/>
          <p:nvPr/>
        </p:nvSpPr>
        <p:spPr>
          <a:xfrm>
            <a:off x="274320" y="2331720"/>
            <a:ext cx="6675120" cy="749808"/>
          </a:xfrm>
          <a:prstGeom prst="rect">
            <a:avLst/>
          </a:prstGeom>
          <a:solidFill>
            <a:srgbClr val="F3E5F5"/>
          </a:solidFill>
          <a:ln w="19050">
            <a:solidFill>
              <a:srgbClr val="6A1B9A"/>
            </a:solidFill>
            <a:prstDash val="solid"/>
          </a:ln>
        </p:spPr>
      </p:sp>
      <p:sp>
        <p:nvSpPr>
          <p:cNvPr id="14" name="Shape 12"/>
          <p:cNvSpPr/>
          <p:nvPr/>
        </p:nvSpPr>
        <p:spPr>
          <a:xfrm>
            <a:off x="274320" y="2331720"/>
            <a:ext cx="457200" cy="749808"/>
          </a:xfrm>
          <a:prstGeom prst="rect">
            <a:avLst/>
          </a:prstGeom>
          <a:solidFill>
            <a:srgbClr val="6A1B9A"/>
          </a:solidFill>
          <a:ln w="12700">
            <a:solidFill>
              <a:srgbClr val="6A1B9A"/>
            </a:solidFill>
            <a:prstDash val="solid"/>
          </a:ln>
        </p:spPr>
      </p:sp>
      <p:sp>
        <p:nvSpPr>
          <p:cNvPr id="15" name="Text 13"/>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6" name="Text 14"/>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エアコンの室外に設置するユニット。圧縮機・熱交換器・ファンなどが内蔵されており、室内機と冷媒配管でつながれている</a:t>
            </a:r>
            <a:endParaRPr lang="en-US" sz="1200" dirty="0"/>
          </a:p>
        </p:txBody>
      </p:sp>
      <p:sp>
        <p:nvSpPr>
          <p:cNvPr id="17" name="Shape 15"/>
          <p:cNvSpPr/>
          <p:nvPr/>
        </p:nvSpPr>
        <p:spPr>
          <a:xfrm>
            <a:off x="274320" y="3200400"/>
            <a:ext cx="6675120" cy="749808"/>
          </a:xfrm>
          <a:prstGeom prst="rect">
            <a:avLst/>
          </a:prstGeom>
          <a:solidFill>
            <a:srgbClr val="E8F5E9"/>
          </a:solidFill>
          <a:ln w="19050">
            <a:solidFill>
              <a:srgbClr val="1B5E20"/>
            </a:solidFill>
            <a:prstDash val="solid"/>
          </a:ln>
        </p:spPr>
      </p:sp>
      <p:sp>
        <p:nvSpPr>
          <p:cNvPr id="18" name="Shape 16"/>
          <p:cNvSpPr/>
          <p:nvPr/>
        </p:nvSpPr>
        <p:spPr>
          <a:xfrm>
            <a:off x="274320" y="3200400"/>
            <a:ext cx="457200" cy="749808"/>
          </a:xfrm>
          <a:prstGeom prst="rect">
            <a:avLst/>
          </a:prstGeom>
          <a:solidFill>
            <a:srgbClr val="1B5E20"/>
          </a:solidFill>
          <a:ln w="12700">
            <a:solidFill>
              <a:srgbClr val="1B5E20"/>
            </a:solidFill>
            <a:prstDash val="solid"/>
          </a:ln>
        </p:spPr>
      </p:sp>
      <p:sp>
        <p:nvSpPr>
          <p:cNvPr id="19" name="Text 17"/>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0" name="Text 18"/>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冷媒ガスを圧縮して高温・高圧の状態にし、冷媒サイクルを成立させるための心臓部の装置。エアコンや冷蔵庫に欠かせない</a:t>
            </a:r>
            <a:endParaRPr lang="en-US" sz="1200" dirty="0"/>
          </a:p>
        </p:txBody>
      </p:sp>
      <p:sp>
        <p:nvSpPr>
          <p:cNvPr id="21" name="Shape 19"/>
          <p:cNvSpPr/>
          <p:nvPr/>
        </p:nvSpPr>
        <p:spPr>
          <a:xfrm>
            <a:off x="274320" y="4069080"/>
            <a:ext cx="6675120" cy="749808"/>
          </a:xfrm>
          <a:prstGeom prst="rect">
            <a:avLst/>
          </a:prstGeom>
          <a:solidFill>
            <a:srgbClr val="FFEBEE"/>
          </a:solidFill>
          <a:ln w="19050">
            <a:solidFill>
              <a:srgbClr val="B71C1C"/>
            </a:solidFill>
            <a:prstDash val="solid"/>
          </a:ln>
        </p:spPr>
      </p:sp>
      <p:sp>
        <p:nvSpPr>
          <p:cNvPr id="22" name="Shape 20"/>
          <p:cNvSpPr/>
          <p:nvPr/>
        </p:nvSpPr>
        <p:spPr>
          <a:xfrm>
            <a:off x="274320" y="4069080"/>
            <a:ext cx="457200" cy="749808"/>
          </a:xfrm>
          <a:prstGeom prst="rect">
            <a:avLst/>
          </a:prstGeom>
          <a:solidFill>
            <a:srgbClr val="B71C1C"/>
          </a:solidFill>
          <a:ln w="12700">
            <a:solidFill>
              <a:srgbClr val="B71C1C"/>
            </a:solidFill>
            <a:prstDash val="solid"/>
          </a:ln>
        </p:spPr>
      </p:sp>
      <p:sp>
        <p:nvSpPr>
          <p:cNvPr id="23" name="Text 21"/>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4" name="Text 22"/>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少ない電力で大きな熱エネルギーを移動させる技術。空気中の熱を取り込んで冷暖房や給湯に利用する省エネ設備</a:t>
            </a:r>
            <a:endParaRPr lang="en-US" sz="1200" dirty="0"/>
          </a:p>
        </p:txBody>
      </p:sp>
      <p:sp>
        <p:nvSpPr>
          <p:cNvPr id="25" name="Shape 23"/>
          <p:cNvSpPr/>
          <p:nvPr/>
        </p:nvSpPr>
        <p:spPr>
          <a:xfrm>
            <a:off x="0" y="4983480"/>
            <a:ext cx="9144000" cy="160020"/>
          </a:xfrm>
          <a:prstGeom prst="rect">
            <a:avLst/>
          </a:prstGeom>
          <a:solidFill>
            <a:srgbClr val="2C2C2C"/>
          </a:solidFill>
          <a:ln w="12700">
            <a:solidFill>
              <a:srgbClr val="2C2C2C"/>
            </a:solidFill>
            <a:prstDash val="solid"/>
          </a:ln>
        </p:spPr>
      </p:sp>
      <p:sp>
        <p:nvSpPr>
          <p:cNvPr id="26" name="Text 24"/>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Q3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3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C  圧縮機</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圧縮機（あっしゅくき）</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冷媒ガスを圧縮して高温・高圧の状態にし、冷媒サイクルを成立させるための心臓部の装置。エアコンや冷蔵庫に欠かせない</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Q4</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4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少ない電力で大きな熱エネルギーを移動させる技術。空気中の熱を取り込んで冷暖房や給湯に利用する省エネ設備</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ヒートポンプ</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遮熱</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排気ファン</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エアフィルター</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Q4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4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ヒートポンプ</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ヒートポンプ（ひーとぽんぷ）</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少ない電力で大きな熱エネルギーを移動させる技術。空気中の熱を取り込んで冷暖房や給湯に利用する省エネ設備</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Q5</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5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建物や設備から出る熱を空気と水を使って外に逃がすための装置。主にビル空調（中央式空調）や工場設備など大型の冷却が必要な場面で使われる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放熱器</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圧縮機</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断水</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冷却塔</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Q5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5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D  冷却塔</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冷却塔（れいきゃくとう）</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建物や設備から出る熱を空気と水を使って外に逃がすための装置。主にビル空調（中央式空調）や工場設備など大型の冷却が必要な場面で使われる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Q6</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6 / 50</a:t>
            </a:r>
            <a:endParaRPr lang="en-US" sz="1400" dirty="0"/>
          </a:p>
        </p:txBody>
      </p:sp>
      <p:sp>
        <p:nvSpPr>
          <p:cNvPr id="8" name="Text 6"/>
          <p:cNvSpPr/>
          <p:nvPr/>
        </p:nvSpPr>
        <p:spPr>
          <a:xfrm>
            <a:off x="182880" y="804672"/>
            <a:ext cx="877824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「インバーター」の説明として正しいのはどれでしょうか？</a:t>
            </a:r>
            <a:endParaRPr lang="en-US" sz="1700" dirty="0"/>
          </a:p>
        </p:txBody>
      </p:sp>
      <p:sp>
        <p:nvSpPr>
          <p:cNvPr id="9" name="Shape 7"/>
          <p:cNvSpPr/>
          <p:nvPr/>
        </p:nvSpPr>
        <p:spPr>
          <a:xfrm>
            <a:off x="274320" y="1463040"/>
            <a:ext cx="6675120" cy="749808"/>
          </a:xfrm>
          <a:prstGeom prst="rect">
            <a:avLst/>
          </a:prstGeom>
          <a:solidFill>
            <a:srgbClr val="E3F2FD"/>
          </a:solidFill>
          <a:ln w="19050">
            <a:solidFill>
              <a:srgbClr val="1565C0"/>
            </a:solidFill>
            <a:prstDash val="solid"/>
          </a:ln>
        </p:spPr>
      </p:sp>
      <p:sp>
        <p:nvSpPr>
          <p:cNvPr id="10" name="Shape 8"/>
          <p:cNvSpPr/>
          <p:nvPr/>
        </p:nvSpPr>
        <p:spPr>
          <a:xfrm>
            <a:off x="274320" y="1463040"/>
            <a:ext cx="457200" cy="749808"/>
          </a:xfrm>
          <a:prstGeom prst="rect">
            <a:avLst/>
          </a:prstGeom>
          <a:solidFill>
            <a:srgbClr val="1565C0"/>
          </a:solidFill>
          <a:ln w="12700">
            <a:solidFill>
              <a:srgbClr val="1565C0"/>
            </a:solidFill>
            <a:prstDash val="solid"/>
          </a:ln>
        </p:spPr>
      </p:sp>
      <p:sp>
        <p:nvSpPr>
          <p:cNvPr id="11" name="Text 9"/>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2" name="Text 10"/>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直流電流（DC）を交流電流（AC）に変換、またはモーターの回転数を制御するための電子機器。空調設備での省エネ制御に多用される</a:t>
            </a:r>
            <a:endParaRPr lang="en-US" sz="1200" dirty="0"/>
          </a:p>
        </p:txBody>
      </p:sp>
      <p:sp>
        <p:nvSpPr>
          <p:cNvPr id="13" name="Shape 11"/>
          <p:cNvSpPr/>
          <p:nvPr/>
        </p:nvSpPr>
        <p:spPr>
          <a:xfrm>
            <a:off x="274320" y="2331720"/>
            <a:ext cx="6675120" cy="749808"/>
          </a:xfrm>
          <a:prstGeom prst="rect">
            <a:avLst/>
          </a:prstGeom>
          <a:solidFill>
            <a:srgbClr val="F3E5F5"/>
          </a:solidFill>
          <a:ln w="19050">
            <a:solidFill>
              <a:srgbClr val="6A1B9A"/>
            </a:solidFill>
            <a:prstDash val="solid"/>
          </a:ln>
        </p:spPr>
      </p:sp>
      <p:sp>
        <p:nvSpPr>
          <p:cNvPr id="14" name="Shape 12"/>
          <p:cNvSpPr/>
          <p:nvPr/>
        </p:nvSpPr>
        <p:spPr>
          <a:xfrm>
            <a:off x="274320" y="2331720"/>
            <a:ext cx="457200" cy="749808"/>
          </a:xfrm>
          <a:prstGeom prst="rect">
            <a:avLst/>
          </a:prstGeom>
          <a:solidFill>
            <a:srgbClr val="6A1B9A"/>
          </a:solidFill>
          <a:ln w="12700">
            <a:solidFill>
              <a:srgbClr val="6A1B9A"/>
            </a:solidFill>
            <a:prstDash val="solid"/>
          </a:ln>
        </p:spPr>
      </p:sp>
      <p:sp>
        <p:nvSpPr>
          <p:cNvPr id="15" name="Text 13"/>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6" name="Text 14"/>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空気中の水蒸気が冷たい表面に触れて水滴となって現れる現象。空調設備や配管まわりで頻繁に発生し、カビや腐食の原因となることがある</a:t>
            </a:r>
            <a:endParaRPr lang="en-US" sz="1200" dirty="0"/>
          </a:p>
        </p:txBody>
      </p:sp>
      <p:sp>
        <p:nvSpPr>
          <p:cNvPr id="17" name="Shape 15"/>
          <p:cNvSpPr/>
          <p:nvPr/>
        </p:nvSpPr>
        <p:spPr>
          <a:xfrm>
            <a:off x="274320" y="3200400"/>
            <a:ext cx="6675120" cy="749808"/>
          </a:xfrm>
          <a:prstGeom prst="rect">
            <a:avLst/>
          </a:prstGeom>
          <a:solidFill>
            <a:srgbClr val="E8F5E9"/>
          </a:solidFill>
          <a:ln w="19050">
            <a:solidFill>
              <a:srgbClr val="1B5E20"/>
            </a:solidFill>
            <a:prstDash val="solid"/>
          </a:ln>
        </p:spPr>
      </p:sp>
      <p:sp>
        <p:nvSpPr>
          <p:cNvPr id="18" name="Shape 16"/>
          <p:cNvSpPr/>
          <p:nvPr/>
        </p:nvSpPr>
        <p:spPr>
          <a:xfrm>
            <a:off x="274320" y="3200400"/>
            <a:ext cx="457200" cy="749808"/>
          </a:xfrm>
          <a:prstGeom prst="rect">
            <a:avLst/>
          </a:prstGeom>
          <a:solidFill>
            <a:srgbClr val="1B5E20"/>
          </a:solidFill>
          <a:ln w="12700">
            <a:solidFill>
              <a:srgbClr val="1B5E20"/>
            </a:solidFill>
            <a:prstDash val="solid"/>
          </a:ln>
        </p:spPr>
      </p:sp>
      <p:sp>
        <p:nvSpPr>
          <p:cNvPr id="19" name="Text 17"/>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0" name="Text 18"/>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空調・衛生設備において使用済みの空気や水に含まれる廃熱を回収し、暖房・給湯・冷房・換気などに再利用する技術のこと。省エネルギー対策に有効</a:t>
            </a:r>
            <a:endParaRPr lang="en-US" sz="1200" dirty="0"/>
          </a:p>
        </p:txBody>
      </p:sp>
      <p:sp>
        <p:nvSpPr>
          <p:cNvPr id="21" name="Shape 19"/>
          <p:cNvSpPr/>
          <p:nvPr/>
        </p:nvSpPr>
        <p:spPr>
          <a:xfrm>
            <a:off x="274320" y="4069080"/>
            <a:ext cx="6675120" cy="749808"/>
          </a:xfrm>
          <a:prstGeom prst="rect">
            <a:avLst/>
          </a:prstGeom>
          <a:solidFill>
            <a:srgbClr val="FFEBEE"/>
          </a:solidFill>
          <a:ln w="19050">
            <a:solidFill>
              <a:srgbClr val="B71C1C"/>
            </a:solidFill>
            <a:prstDash val="solid"/>
          </a:ln>
        </p:spPr>
      </p:sp>
      <p:sp>
        <p:nvSpPr>
          <p:cNvPr id="22" name="Shape 20"/>
          <p:cNvSpPr/>
          <p:nvPr/>
        </p:nvSpPr>
        <p:spPr>
          <a:xfrm>
            <a:off x="274320" y="4069080"/>
            <a:ext cx="457200" cy="749808"/>
          </a:xfrm>
          <a:prstGeom prst="rect">
            <a:avLst/>
          </a:prstGeom>
          <a:solidFill>
            <a:srgbClr val="B71C1C"/>
          </a:solidFill>
          <a:ln w="12700">
            <a:solidFill>
              <a:srgbClr val="B71C1C"/>
            </a:solidFill>
            <a:prstDash val="solid"/>
          </a:ln>
        </p:spPr>
      </p:sp>
      <p:sp>
        <p:nvSpPr>
          <p:cNvPr id="23" name="Text 21"/>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4" name="Text 22"/>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水を高圧で噴射することで付着した汚れやスケール・詰まりを除去する装置。配管・排水設備や空調機器の洗浄・メンテナンスに使用される清掃用機器</a:t>
            </a:r>
            <a:endParaRPr lang="en-US" sz="1200" dirty="0"/>
          </a:p>
        </p:txBody>
      </p:sp>
      <p:sp>
        <p:nvSpPr>
          <p:cNvPr id="25" name="Shape 23"/>
          <p:cNvSpPr/>
          <p:nvPr/>
        </p:nvSpPr>
        <p:spPr>
          <a:xfrm>
            <a:off x="0" y="4983480"/>
            <a:ext cx="9144000" cy="160020"/>
          </a:xfrm>
          <a:prstGeom prst="rect">
            <a:avLst/>
          </a:prstGeom>
          <a:solidFill>
            <a:srgbClr val="2C2C2C"/>
          </a:solidFill>
          <a:ln w="12700">
            <a:solidFill>
              <a:srgbClr val="2C2C2C"/>
            </a:solidFill>
            <a:prstDash val="solid"/>
          </a:ln>
        </p:spPr>
      </p:sp>
      <p:sp>
        <p:nvSpPr>
          <p:cNvPr id="26" name="Text 24"/>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Q6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6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インバーター</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インバーター（いんばーたー）</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直流電流（DC）を交流電流（AC）に変換、またはモーターの回転数を制御するための電子機器。空調設備での省エネ制御に多用される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Q7</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7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空調設備や換気扇・エアコン・ファンなどの機器で出力される風の量を調整すること。室内の温度や湿度、空気の流れを最適な状態にコントロールする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風量調整</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換気</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排水</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ダンパー</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Q7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7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風量調整</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風量調整（ふうりょうちょうせい）</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空調設備や換気扇・エアコン・ファンなどの機器で出力される風の量を調整すること。室内の温度や湿度、空気の流れを最適な状態にコントロールする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Q8</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8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室内の空気を外の新鮮な空気と入れ替えること。室内の空気を清潔に保ち健康的で快適な環境を維持するために非常に重要</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熱交換器</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換気</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冷媒</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直結給水方式</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Q8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8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B  換気</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換気（かんき）</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室内の空気を外の新鮮な空気と入れ替えること。室内の空気を清潔に保ち健康的で快適な環境を維持するために非常に重要</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Q9</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9 / 50</a:t>
            </a:r>
            <a:endParaRPr lang="en-US" sz="1400" dirty="0"/>
          </a:p>
        </p:txBody>
      </p:sp>
      <p:sp>
        <p:nvSpPr>
          <p:cNvPr id="8" name="Text 6"/>
          <p:cNvSpPr/>
          <p:nvPr/>
        </p:nvSpPr>
        <p:spPr>
          <a:xfrm>
            <a:off x="182880" y="804672"/>
            <a:ext cx="658368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「ダンパー」の説明として正しいのはどれでしょうか？</a:t>
            </a:r>
            <a:endParaRPr lang="en-US" sz="1700" dirty="0"/>
          </a:p>
        </p:txBody>
      </p:sp>
      <p:sp>
        <p:nvSpPr>
          <p:cNvPr id="9" name="Shape 7"/>
          <p:cNvSpPr/>
          <p:nvPr/>
        </p:nvSpPr>
        <p:spPr>
          <a:xfrm>
            <a:off x="7132320" y="804672"/>
            <a:ext cx="1737360" cy="1371600"/>
          </a:xfrm>
          <a:prstGeom prst="rect">
            <a:avLst/>
          </a:prstGeom>
          <a:solidFill>
            <a:srgbClr val="FFFFFF"/>
          </a:solidFill>
          <a:ln w="12700">
            <a:solidFill>
              <a:srgbClr val="DDDDDD"/>
            </a:solidFill>
            <a:prstDash val="solid"/>
          </a:ln>
        </p:spPr>
      </p:sp>
      <p:pic>
        <p:nvPicPr>
          <p:cNvPr id="10" name="Image 0" descr="/home/claude/unpacked_空調_衛生用語集/ppt/media/image3.png">    </p:cNvPr>
          <p:cNvPicPr>
            <a:picLocks noChangeAspect="1"/>
          </p:cNvPicPr>
          <p:nvPr/>
        </p:nvPicPr>
        <p:blipFill>
          <a:blip r:embed="rId1"/>
          <a:srcRect l="0" r="0" t="0" b="0"/>
          <a:stretch/>
        </p:blipFill>
        <p:spPr>
          <a:xfrm>
            <a:off x="7178040" y="850392"/>
            <a:ext cx="1645920" cy="1280160"/>
          </a:xfrm>
          <a:prstGeom prst="rect">
            <a:avLst/>
          </a:prstGeom>
        </p:spPr>
      </p:pic>
      <p:sp>
        <p:nvSpPr>
          <p:cNvPr id="11" name="Shape 8"/>
          <p:cNvSpPr/>
          <p:nvPr/>
        </p:nvSpPr>
        <p:spPr>
          <a:xfrm>
            <a:off x="274320" y="1463040"/>
            <a:ext cx="6675120" cy="749808"/>
          </a:xfrm>
          <a:prstGeom prst="rect">
            <a:avLst/>
          </a:prstGeom>
          <a:solidFill>
            <a:srgbClr val="E3F2FD"/>
          </a:solidFill>
          <a:ln w="19050">
            <a:solidFill>
              <a:srgbClr val="1565C0"/>
            </a:solidFill>
            <a:prstDash val="solid"/>
          </a:ln>
        </p:spPr>
      </p:sp>
      <p:sp>
        <p:nvSpPr>
          <p:cNvPr id="12" name="Shape 9"/>
          <p:cNvSpPr/>
          <p:nvPr/>
        </p:nvSpPr>
        <p:spPr>
          <a:xfrm>
            <a:off x="274320" y="1463040"/>
            <a:ext cx="457200" cy="749808"/>
          </a:xfrm>
          <a:prstGeom prst="rect">
            <a:avLst/>
          </a:prstGeom>
          <a:solidFill>
            <a:srgbClr val="1565C0"/>
          </a:solidFill>
          <a:ln w="12700">
            <a:solidFill>
              <a:srgbClr val="1565C0"/>
            </a:solidFill>
            <a:prstDash val="solid"/>
          </a:ln>
        </p:spPr>
      </p:sp>
      <p:sp>
        <p:nvSpPr>
          <p:cNvPr id="13" name="Text 10"/>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4" name="Text 11"/>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空気やガス・煙などの流れを調整するために使用する機器。主に換気・空調・暖房システムで風量制御や空気の流れを止める・煙や有害ガスの拡散防止に使われる</a:t>
            </a:r>
            <a:endParaRPr lang="en-US" sz="1200" dirty="0"/>
          </a:p>
        </p:txBody>
      </p:sp>
      <p:sp>
        <p:nvSpPr>
          <p:cNvPr id="15" name="Shape 12"/>
          <p:cNvSpPr/>
          <p:nvPr/>
        </p:nvSpPr>
        <p:spPr>
          <a:xfrm>
            <a:off x="274320" y="2331720"/>
            <a:ext cx="6675120" cy="749808"/>
          </a:xfrm>
          <a:prstGeom prst="rect">
            <a:avLst/>
          </a:prstGeom>
          <a:solidFill>
            <a:srgbClr val="F3E5F5"/>
          </a:solidFill>
          <a:ln w="19050">
            <a:solidFill>
              <a:srgbClr val="6A1B9A"/>
            </a:solidFill>
            <a:prstDash val="solid"/>
          </a:ln>
        </p:spPr>
      </p:sp>
      <p:sp>
        <p:nvSpPr>
          <p:cNvPr id="16" name="Shape 13"/>
          <p:cNvSpPr/>
          <p:nvPr/>
        </p:nvSpPr>
        <p:spPr>
          <a:xfrm>
            <a:off x="274320" y="2331720"/>
            <a:ext cx="457200" cy="749808"/>
          </a:xfrm>
          <a:prstGeom prst="rect">
            <a:avLst/>
          </a:prstGeom>
          <a:solidFill>
            <a:srgbClr val="6A1B9A"/>
          </a:solidFill>
          <a:ln w="12700">
            <a:solidFill>
              <a:srgbClr val="6A1B9A"/>
            </a:solidFill>
            <a:prstDash val="solid"/>
          </a:ln>
        </p:spPr>
      </p:sp>
      <p:sp>
        <p:nvSpPr>
          <p:cNvPr id="17" name="Text 14"/>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8" name="Text 15"/>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冷房用と暖房用のダクトを別々に設け、季節やゾーンごとに必要な空気（冷風・温風）を供給できる方式のこと</a:t>
            </a:r>
            <a:endParaRPr lang="en-US" sz="1200" dirty="0"/>
          </a:p>
        </p:txBody>
      </p:sp>
      <p:sp>
        <p:nvSpPr>
          <p:cNvPr id="19" name="Shape 16"/>
          <p:cNvSpPr/>
          <p:nvPr/>
        </p:nvSpPr>
        <p:spPr>
          <a:xfrm>
            <a:off x="274320" y="3200400"/>
            <a:ext cx="6675120" cy="749808"/>
          </a:xfrm>
          <a:prstGeom prst="rect">
            <a:avLst/>
          </a:prstGeom>
          <a:solidFill>
            <a:srgbClr val="E8F5E9"/>
          </a:solidFill>
          <a:ln w="19050">
            <a:solidFill>
              <a:srgbClr val="1B5E20"/>
            </a:solidFill>
            <a:prstDash val="solid"/>
          </a:ln>
        </p:spPr>
      </p:sp>
      <p:sp>
        <p:nvSpPr>
          <p:cNvPr id="20" name="Shape 17"/>
          <p:cNvSpPr/>
          <p:nvPr/>
        </p:nvSpPr>
        <p:spPr>
          <a:xfrm>
            <a:off x="274320" y="3200400"/>
            <a:ext cx="457200" cy="749808"/>
          </a:xfrm>
          <a:prstGeom prst="rect">
            <a:avLst/>
          </a:prstGeom>
          <a:solidFill>
            <a:srgbClr val="1B5E20"/>
          </a:solidFill>
          <a:ln w="12700">
            <a:solidFill>
              <a:srgbClr val="1B5E20"/>
            </a:solidFill>
            <a:prstDash val="solid"/>
          </a:ln>
        </p:spPr>
      </p:sp>
      <p:sp>
        <p:nvSpPr>
          <p:cNvPr id="21" name="Text 18"/>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2" name="Text 19"/>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空気やガス、液体などを通すための管や通路。建築や設備・工場などの分野で換気・空調・排気などに使用される</a:t>
            </a:r>
            <a:endParaRPr lang="en-US" sz="1200" dirty="0"/>
          </a:p>
        </p:txBody>
      </p:sp>
      <p:sp>
        <p:nvSpPr>
          <p:cNvPr id="23" name="Shape 20"/>
          <p:cNvSpPr/>
          <p:nvPr/>
        </p:nvSpPr>
        <p:spPr>
          <a:xfrm>
            <a:off x="274320" y="4069080"/>
            <a:ext cx="6675120" cy="749808"/>
          </a:xfrm>
          <a:prstGeom prst="rect">
            <a:avLst/>
          </a:prstGeom>
          <a:solidFill>
            <a:srgbClr val="FFEBEE"/>
          </a:solidFill>
          <a:ln w="19050">
            <a:solidFill>
              <a:srgbClr val="B71C1C"/>
            </a:solidFill>
            <a:prstDash val="solid"/>
          </a:ln>
        </p:spPr>
      </p:sp>
      <p:sp>
        <p:nvSpPr>
          <p:cNvPr id="24" name="Shape 21"/>
          <p:cNvSpPr/>
          <p:nvPr/>
        </p:nvSpPr>
        <p:spPr>
          <a:xfrm>
            <a:off x="274320" y="4069080"/>
            <a:ext cx="457200" cy="749808"/>
          </a:xfrm>
          <a:prstGeom prst="rect">
            <a:avLst/>
          </a:prstGeom>
          <a:solidFill>
            <a:srgbClr val="B71C1C"/>
          </a:solidFill>
          <a:ln w="12700">
            <a:solidFill>
              <a:srgbClr val="B71C1C"/>
            </a:solidFill>
            <a:prstDash val="solid"/>
          </a:ln>
        </p:spPr>
      </p:sp>
      <p:sp>
        <p:nvSpPr>
          <p:cNvPr id="25" name="Text 22"/>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6" name="Text 23"/>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空調設備や換気扇・エアコン・ファンなどの機器で出力される風の量を調整すること。室内の温度や湿度、空気の流れを最適な状態にコントロールする</a:t>
            </a:r>
            <a:endParaRPr lang="en-US" sz="1200" dirty="0"/>
          </a:p>
        </p:txBody>
      </p:sp>
      <p:sp>
        <p:nvSpPr>
          <p:cNvPr id="27" name="Shape 24"/>
          <p:cNvSpPr/>
          <p:nvPr/>
        </p:nvSpPr>
        <p:spPr>
          <a:xfrm>
            <a:off x="0" y="4983480"/>
            <a:ext cx="9144000" cy="160020"/>
          </a:xfrm>
          <a:prstGeom prst="rect">
            <a:avLst/>
          </a:prstGeom>
          <a:solidFill>
            <a:srgbClr val="2C2C2C"/>
          </a:solidFill>
          <a:ln w="12700">
            <a:solidFill>
              <a:srgbClr val="2C2C2C"/>
            </a:solidFill>
            <a:prstDash val="solid"/>
          </a:ln>
        </p:spPr>
      </p:sp>
      <p:sp>
        <p:nvSpPr>
          <p:cNvPr id="28" name="Text 25"/>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Q9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9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ダンパー</a:t>
            </a:r>
            <a:endParaRPr lang="en-US" sz="2200" dirty="0"/>
          </a:p>
        </p:txBody>
      </p:sp>
      <p:sp>
        <p:nvSpPr>
          <p:cNvPr id="9" name="Shape 7"/>
          <p:cNvSpPr/>
          <p:nvPr/>
        </p:nvSpPr>
        <p:spPr>
          <a:xfrm>
            <a:off x="6583680" y="2011680"/>
            <a:ext cx="2286000" cy="2286000"/>
          </a:xfrm>
          <a:prstGeom prst="rect">
            <a:avLst/>
          </a:prstGeom>
          <a:solidFill>
            <a:srgbClr val="FFFFFF"/>
          </a:solidFill>
          <a:ln w="12700">
            <a:solidFill>
              <a:srgbClr val="444444"/>
            </a:solidFill>
            <a:prstDash val="solid"/>
          </a:ln>
        </p:spPr>
      </p:sp>
      <p:pic>
        <p:nvPicPr>
          <p:cNvPr id="10" name="Image 0" descr="/home/claude/unpacked_空調_衛生用語集/ppt/media/image3.png">    </p:cNvPr>
          <p:cNvPicPr>
            <a:picLocks noChangeAspect="1"/>
          </p:cNvPicPr>
          <p:nvPr/>
        </p:nvPicPr>
        <p:blipFill>
          <a:blip r:embed="rId1"/>
          <a:srcRect l="0" r="0" t="0" b="0"/>
          <a:stretch/>
        </p:blipFill>
        <p:spPr>
          <a:xfrm>
            <a:off x="6675120" y="2103120"/>
            <a:ext cx="2103120" cy="2103120"/>
          </a:xfrm>
          <a:prstGeom prst="rect">
            <a:avLst/>
          </a:prstGeom>
        </p:spPr>
      </p:pic>
      <p:sp>
        <p:nvSpPr>
          <p:cNvPr id="11" name="Shape 8"/>
          <p:cNvSpPr/>
          <p:nvPr/>
        </p:nvSpPr>
        <p:spPr>
          <a:xfrm>
            <a:off x="274320" y="1965960"/>
            <a:ext cx="6126480" cy="457200"/>
          </a:xfrm>
          <a:prstGeom prst="rect">
            <a:avLst/>
          </a:prstGeom>
          <a:solidFill>
            <a:srgbClr val="E8611A"/>
          </a:solidFill>
          <a:ln w="12700">
            <a:solidFill>
              <a:srgbClr val="E8611A"/>
            </a:solidFill>
            <a:prstDash val="solid"/>
          </a:ln>
        </p:spPr>
      </p:sp>
      <p:sp>
        <p:nvSpPr>
          <p:cNvPr id="12" name="Text 9"/>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3" name="Text 10"/>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ダンパー（だんぱー）</a:t>
            </a:r>
            <a:endParaRPr lang="en-US" sz="1600" dirty="0"/>
          </a:p>
        </p:txBody>
      </p:sp>
      <p:sp>
        <p:nvSpPr>
          <p:cNvPr id="14" name="Text 11"/>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空気やガス・煙などの流れを調整するために使用する機器。主に換気・空調・暖房システムで風量制御や空気の流れを止める・煙や有害ガスの拡散防止に使われる</a:t>
            </a:r>
            <a:endParaRPr lang="en-US" sz="1400" dirty="0"/>
          </a:p>
        </p:txBody>
      </p:sp>
      <p:sp>
        <p:nvSpPr>
          <p:cNvPr id="15" name="Shape 12"/>
          <p:cNvSpPr/>
          <p:nvPr/>
        </p:nvSpPr>
        <p:spPr>
          <a:xfrm>
            <a:off x="0" y="4983480"/>
            <a:ext cx="9144000" cy="160020"/>
          </a:xfrm>
          <a:prstGeom prst="rect">
            <a:avLst/>
          </a:prstGeom>
          <a:solidFill>
            <a:srgbClr val="111111"/>
          </a:solidFill>
          <a:ln w="12700">
            <a:solidFill>
              <a:srgbClr val="111111"/>
            </a:solidFill>
            <a:prstDash val="solid"/>
          </a:ln>
        </p:spPr>
      </p:sp>
      <p:sp>
        <p:nvSpPr>
          <p:cNvPr id="16" name="Text 13"/>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Q10</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10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消費したエネルギーに対してどれだけ有効なエネルギーを得られるかを示す指標。空調設備ではCOP（成績係数）などで表される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断水</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結露</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冷媒</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エネルギー効率</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Q10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10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D  エネルギー効率</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エネルギー効率（えねるぎーこうりつ）</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消費したエネルギーに対してどれだけ有効なエネルギーを得られるかを示す指標。空調設備ではCOP（成績係数）などで表される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Q11</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11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冷却を目的とした機器で、主に空調システムや冷却が必要な産業・商業施設で使用される。冷却水を循環させて熱を取り除き、大規模な冷却に対応する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結露</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排水槽</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チラー</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ボールタップ</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Q11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11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C  チラー</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チラー（ちらー）</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冷却を目的とした機器で、主に空調システムや冷却が必要な産業・商業施設で使用される。冷却水を循環させて熱を取り除き、大規模な冷却に対応する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Q12</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12 / 50</a:t>
            </a:r>
            <a:endParaRPr lang="en-US" sz="1400" dirty="0"/>
          </a:p>
        </p:txBody>
      </p:sp>
      <p:sp>
        <p:nvSpPr>
          <p:cNvPr id="8" name="Text 6"/>
          <p:cNvSpPr/>
          <p:nvPr/>
        </p:nvSpPr>
        <p:spPr>
          <a:xfrm>
            <a:off x="182880" y="804672"/>
            <a:ext cx="877824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「給排気」の説明として正しいのはどれでしょうか？</a:t>
            </a:r>
            <a:endParaRPr lang="en-US" sz="1700" dirty="0"/>
          </a:p>
        </p:txBody>
      </p:sp>
      <p:sp>
        <p:nvSpPr>
          <p:cNvPr id="9" name="Shape 7"/>
          <p:cNvSpPr/>
          <p:nvPr/>
        </p:nvSpPr>
        <p:spPr>
          <a:xfrm>
            <a:off x="274320" y="1463040"/>
            <a:ext cx="6675120" cy="749808"/>
          </a:xfrm>
          <a:prstGeom prst="rect">
            <a:avLst/>
          </a:prstGeom>
          <a:solidFill>
            <a:srgbClr val="E3F2FD"/>
          </a:solidFill>
          <a:ln w="19050">
            <a:solidFill>
              <a:srgbClr val="1565C0"/>
            </a:solidFill>
            <a:prstDash val="solid"/>
          </a:ln>
        </p:spPr>
      </p:sp>
      <p:sp>
        <p:nvSpPr>
          <p:cNvPr id="10" name="Shape 8"/>
          <p:cNvSpPr/>
          <p:nvPr/>
        </p:nvSpPr>
        <p:spPr>
          <a:xfrm>
            <a:off x="274320" y="1463040"/>
            <a:ext cx="457200" cy="749808"/>
          </a:xfrm>
          <a:prstGeom prst="rect">
            <a:avLst/>
          </a:prstGeom>
          <a:solidFill>
            <a:srgbClr val="1565C0"/>
          </a:solidFill>
          <a:ln w="12700">
            <a:solidFill>
              <a:srgbClr val="1565C0"/>
            </a:solidFill>
            <a:prstDash val="solid"/>
          </a:ln>
        </p:spPr>
      </p:sp>
      <p:sp>
        <p:nvSpPr>
          <p:cNvPr id="11" name="Text 9"/>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2" name="Text 10"/>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太陽からの熱（主に赤外線）を遮り建物内部の温度上昇を防ぐ技術や工法。特に夏季の冷房負荷を軽減し省エネルギーと快適性の向上を目的とする</a:t>
            </a:r>
            <a:endParaRPr lang="en-US" sz="1200" dirty="0"/>
          </a:p>
        </p:txBody>
      </p:sp>
      <p:sp>
        <p:nvSpPr>
          <p:cNvPr id="13" name="Shape 11"/>
          <p:cNvSpPr/>
          <p:nvPr/>
        </p:nvSpPr>
        <p:spPr>
          <a:xfrm>
            <a:off x="274320" y="2331720"/>
            <a:ext cx="6675120" cy="749808"/>
          </a:xfrm>
          <a:prstGeom prst="rect">
            <a:avLst/>
          </a:prstGeom>
          <a:solidFill>
            <a:srgbClr val="F3E5F5"/>
          </a:solidFill>
          <a:ln w="19050">
            <a:solidFill>
              <a:srgbClr val="6A1B9A"/>
            </a:solidFill>
            <a:prstDash val="solid"/>
          </a:ln>
        </p:spPr>
      </p:sp>
      <p:sp>
        <p:nvSpPr>
          <p:cNvPr id="14" name="Shape 12"/>
          <p:cNvSpPr/>
          <p:nvPr/>
        </p:nvSpPr>
        <p:spPr>
          <a:xfrm>
            <a:off x="274320" y="2331720"/>
            <a:ext cx="457200" cy="749808"/>
          </a:xfrm>
          <a:prstGeom prst="rect">
            <a:avLst/>
          </a:prstGeom>
          <a:solidFill>
            <a:srgbClr val="6A1B9A"/>
          </a:solidFill>
          <a:ln w="12700">
            <a:solidFill>
              <a:srgbClr val="6A1B9A"/>
            </a:solidFill>
            <a:prstDash val="solid"/>
          </a:ln>
        </p:spPr>
      </p:sp>
      <p:sp>
        <p:nvSpPr>
          <p:cNvPr id="15" name="Text 13"/>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6" name="Text 14"/>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空調や換気システムにおいて使用される用語。給気は新鮮な外気を室内に送り込むこと、排気は室内の汚れた空気を外部に排出することを指す</a:t>
            </a:r>
            <a:endParaRPr lang="en-US" sz="1200" dirty="0"/>
          </a:p>
        </p:txBody>
      </p:sp>
      <p:sp>
        <p:nvSpPr>
          <p:cNvPr id="17" name="Shape 15"/>
          <p:cNvSpPr/>
          <p:nvPr/>
        </p:nvSpPr>
        <p:spPr>
          <a:xfrm>
            <a:off x="274320" y="3200400"/>
            <a:ext cx="6675120" cy="749808"/>
          </a:xfrm>
          <a:prstGeom prst="rect">
            <a:avLst/>
          </a:prstGeom>
          <a:solidFill>
            <a:srgbClr val="E8F5E9"/>
          </a:solidFill>
          <a:ln w="19050">
            <a:solidFill>
              <a:srgbClr val="1B5E20"/>
            </a:solidFill>
            <a:prstDash val="solid"/>
          </a:ln>
        </p:spPr>
      </p:sp>
      <p:sp>
        <p:nvSpPr>
          <p:cNvPr id="18" name="Shape 16"/>
          <p:cNvSpPr/>
          <p:nvPr/>
        </p:nvSpPr>
        <p:spPr>
          <a:xfrm>
            <a:off x="274320" y="3200400"/>
            <a:ext cx="457200" cy="749808"/>
          </a:xfrm>
          <a:prstGeom prst="rect">
            <a:avLst/>
          </a:prstGeom>
          <a:solidFill>
            <a:srgbClr val="1B5E20"/>
          </a:solidFill>
          <a:ln w="12700">
            <a:solidFill>
              <a:srgbClr val="1B5E20"/>
            </a:solidFill>
            <a:prstDash val="solid"/>
          </a:ln>
        </p:spPr>
      </p:sp>
      <p:sp>
        <p:nvSpPr>
          <p:cNvPr id="19" name="Text 17"/>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0" name="Text 18"/>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主に熱を放出するための機器や装置。熱源から発生した熱を周囲の空間に放出する役割を果たし、暖房システムや冷却システムの一部として使われる</a:t>
            </a:r>
            <a:endParaRPr lang="en-US" sz="1200" dirty="0"/>
          </a:p>
        </p:txBody>
      </p:sp>
      <p:sp>
        <p:nvSpPr>
          <p:cNvPr id="21" name="Shape 19"/>
          <p:cNvSpPr/>
          <p:nvPr/>
        </p:nvSpPr>
        <p:spPr>
          <a:xfrm>
            <a:off x="274320" y="4069080"/>
            <a:ext cx="6675120" cy="749808"/>
          </a:xfrm>
          <a:prstGeom prst="rect">
            <a:avLst/>
          </a:prstGeom>
          <a:solidFill>
            <a:srgbClr val="FFEBEE"/>
          </a:solidFill>
          <a:ln w="19050">
            <a:solidFill>
              <a:srgbClr val="B71C1C"/>
            </a:solidFill>
            <a:prstDash val="solid"/>
          </a:ln>
        </p:spPr>
      </p:sp>
      <p:sp>
        <p:nvSpPr>
          <p:cNvPr id="22" name="Shape 20"/>
          <p:cNvSpPr/>
          <p:nvPr/>
        </p:nvSpPr>
        <p:spPr>
          <a:xfrm>
            <a:off x="274320" y="4069080"/>
            <a:ext cx="457200" cy="749808"/>
          </a:xfrm>
          <a:prstGeom prst="rect">
            <a:avLst/>
          </a:prstGeom>
          <a:solidFill>
            <a:srgbClr val="B71C1C"/>
          </a:solidFill>
          <a:ln w="12700">
            <a:solidFill>
              <a:srgbClr val="B71C1C"/>
            </a:solidFill>
            <a:prstDash val="solid"/>
          </a:ln>
        </p:spPr>
      </p:sp>
      <p:sp>
        <p:nvSpPr>
          <p:cNvPr id="23" name="Text 21"/>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4" name="Text 22"/>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建物内の汚れた空気・臭気・有害ガスなどを屋外へ排出するためのファン。トイレ・厨房・駐車場などに設置される</a:t>
            </a:r>
            <a:endParaRPr lang="en-US" sz="1200" dirty="0"/>
          </a:p>
        </p:txBody>
      </p:sp>
      <p:sp>
        <p:nvSpPr>
          <p:cNvPr id="25" name="Shape 23"/>
          <p:cNvSpPr/>
          <p:nvPr/>
        </p:nvSpPr>
        <p:spPr>
          <a:xfrm>
            <a:off x="0" y="4983480"/>
            <a:ext cx="9144000" cy="160020"/>
          </a:xfrm>
          <a:prstGeom prst="rect">
            <a:avLst/>
          </a:prstGeom>
          <a:solidFill>
            <a:srgbClr val="2C2C2C"/>
          </a:solidFill>
          <a:ln w="12700">
            <a:solidFill>
              <a:srgbClr val="2C2C2C"/>
            </a:solidFill>
            <a:prstDash val="solid"/>
          </a:ln>
        </p:spPr>
      </p:sp>
      <p:sp>
        <p:nvSpPr>
          <p:cNvPr id="26" name="Text 24"/>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Q12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12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B  給排気</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給排気（きゅうはいき）</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空調や換気システムにおいて使用される用語。給気は新鮮な外気を室内に送り込むこと、排気は室内の汚れた空気を外部に排出することを指す</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Q13</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13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主に熱を放出するための機器や装置。熱源から発生した熱を周囲の空間に放出する役割を果たし、暖房システムや冷却システムの一部として使われる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シール材</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放熱器</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ダクト</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熱回収</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Q13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13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B  放熱器</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放熱器（ほうねつき）</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主に熱を放出するための機器や装置。熱源から発生した熱を周囲の空間に放出する役割を果たし、暖房システムや冷却システムの一部として使われる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Q14</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14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冷房や暖房の際に「熱を運ぶ役割」をする液体または気体のこと。エアコンや冷蔵庫・ヒートポンプなどの中を循環しながら熱を吸収して放出する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冷媒</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排水通気</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風量計測</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チラー</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Q14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14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冷媒</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冷媒（れいばい）</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冷房や暖房の際に「熱を運ぶ役割」をする液体または気体のこと。エアコンや冷蔵庫・ヒートポンプなどの中を循環しながら熱を吸収して放出する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Q15</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15 / 50</a:t>
            </a:r>
            <a:endParaRPr lang="en-US" sz="1400" dirty="0"/>
          </a:p>
        </p:txBody>
      </p:sp>
      <p:sp>
        <p:nvSpPr>
          <p:cNvPr id="8" name="Text 6"/>
          <p:cNvSpPr/>
          <p:nvPr/>
        </p:nvSpPr>
        <p:spPr>
          <a:xfrm>
            <a:off x="182880" y="804672"/>
            <a:ext cx="877824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「局所換気」の説明として正しいのはどれでしょうか？</a:t>
            </a:r>
            <a:endParaRPr lang="en-US" sz="1700" dirty="0"/>
          </a:p>
        </p:txBody>
      </p:sp>
      <p:sp>
        <p:nvSpPr>
          <p:cNvPr id="9" name="Shape 7"/>
          <p:cNvSpPr/>
          <p:nvPr/>
        </p:nvSpPr>
        <p:spPr>
          <a:xfrm>
            <a:off x="274320" y="1463040"/>
            <a:ext cx="6675120" cy="749808"/>
          </a:xfrm>
          <a:prstGeom prst="rect">
            <a:avLst/>
          </a:prstGeom>
          <a:solidFill>
            <a:srgbClr val="E3F2FD"/>
          </a:solidFill>
          <a:ln w="19050">
            <a:solidFill>
              <a:srgbClr val="1565C0"/>
            </a:solidFill>
            <a:prstDash val="solid"/>
          </a:ln>
        </p:spPr>
      </p:sp>
      <p:sp>
        <p:nvSpPr>
          <p:cNvPr id="10" name="Shape 8"/>
          <p:cNvSpPr/>
          <p:nvPr/>
        </p:nvSpPr>
        <p:spPr>
          <a:xfrm>
            <a:off x="274320" y="1463040"/>
            <a:ext cx="457200" cy="749808"/>
          </a:xfrm>
          <a:prstGeom prst="rect">
            <a:avLst/>
          </a:prstGeom>
          <a:solidFill>
            <a:srgbClr val="1565C0"/>
          </a:solidFill>
          <a:ln w="12700">
            <a:solidFill>
              <a:srgbClr val="1565C0"/>
            </a:solidFill>
            <a:prstDash val="solid"/>
          </a:ln>
        </p:spPr>
      </p:sp>
      <p:sp>
        <p:nvSpPr>
          <p:cNvPr id="11" name="Text 9"/>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2" name="Text 10"/>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作業環境で発生する有害なガス・蒸気・粉じんなどを発生源の近くで捕集し排出するための換気システム。全体換気とは異なり局所的に処理する</a:t>
            </a:r>
            <a:endParaRPr lang="en-US" sz="1200" dirty="0"/>
          </a:p>
        </p:txBody>
      </p:sp>
      <p:sp>
        <p:nvSpPr>
          <p:cNvPr id="13" name="Shape 11"/>
          <p:cNvSpPr/>
          <p:nvPr/>
        </p:nvSpPr>
        <p:spPr>
          <a:xfrm>
            <a:off x="274320" y="2331720"/>
            <a:ext cx="6675120" cy="749808"/>
          </a:xfrm>
          <a:prstGeom prst="rect">
            <a:avLst/>
          </a:prstGeom>
          <a:solidFill>
            <a:srgbClr val="F3E5F5"/>
          </a:solidFill>
          <a:ln w="19050">
            <a:solidFill>
              <a:srgbClr val="6A1B9A"/>
            </a:solidFill>
            <a:prstDash val="solid"/>
          </a:ln>
        </p:spPr>
      </p:sp>
      <p:sp>
        <p:nvSpPr>
          <p:cNvPr id="14" name="Shape 12"/>
          <p:cNvSpPr/>
          <p:nvPr/>
        </p:nvSpPr>
        <p:spPr>
          <a:xfrm>
            <a:off x="274320" y="2331720"/>
            <a:ext cx="457200" cy="749808"/>
          </a:xfrm>
          <a:prstGeom prst="rect">
            <a:avLst/>
          </a:prstGeom>
          <a:solidFill>
            <a:srgbClr val="6A1B9A"/>
          </a:solidFill>
          <a:ln w="12700">
            <a:solidFill>
              <a:srgbClr val="6A1B9A"/>
            </a:solidFill>
            <a:prstDash val="solid"/>
          </a:ln>
        </p:spPr>
      </p:sp>
      <p:sp>
        <p:nvSpPr>
          <p:cNvPr id="15" name="Text 13"/>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6" name="Text 14"/>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室内の空気を入れ替えるために設置される機器。汚れた空気や湿気・熱・臭気などを屋外へ排出し新鮮な外気を取り込む目的で使われる</a:t>
            </a:r>
            <a:endParaRPr lang="en-US" sz="1200" dirty="0"/>
          </a:p>
        </p:txBody>
      </p:sp>
      <p:sp>
        <p:nvSpPr>
          <p:cNvPr id="17" name="Shape 15"/>
          <p:cNvSpPr/>
          <p:nvPr/>
        </p:nvSpPr>
        <p:spPr>
          <a:xfrm>
            <a:off x="274320" y="3200400"/>
            <a:ext cx="6675120" cy="749808"/>
          </a:xfrm>
          <a:prstGeom prst="rect">
            <a:avLst/>
          </a:prstGeom>
          <a:solidFill>
            <a:srgbClr val="E8F5E9"/>
          </a:solidFill>
          <a:ln w="19050">
            <a:solidFill>
              <a:srgbClr val="1B5E20"/>
            </a:solidFill>
            <a:prstDash val="solid"/>
          </a:ln>
        </p:spPr>
      </p:sp>
      <p:sp>
        <p:nvSpPr>
          <p:cNvPr id="18" name="Shape 16"/>
          <p:cNvSpPr/>
          <p:nvPr/>
        </p:nvSpPr>
        <p:spPr>
          <a:xfrm>
            <a:off x="274320" y="3200400"/>
            <a:ext cx="457200" cy="749808"/>
          </a:xfrm>
          <a:prstGeom prst="rect">
            <a:avLst/>
          </a:prstGeom>
          <a:solidFill>
            <a:srgbClr val="1B5E20"/>
          </a:solidFill>
          <a:ln w="12700">
            <a:solidFill>
              <a:srgbClr val="1B5E20"/>
            </a:solidFill>
            <a:prstDash val="solid"/>
          </a:ln>
        </p:spPr>
      </p:sp>
      <p:sp>
        <p:nvSpPr>
          <p:cNvPr id="19" name="Text 17"/>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0" name="Text 18"/>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空調設備や換気扇・エアコン・ファンなどの機器で出力される風の量を調整すること。室内の温度や湿度、空気の流れを最適な状態にコントロールする</a:t>
            </a:r>
            <a:endParaRPr lang="en-US" sz="1200" dirty="0"/>
          </a:p>
        </p:txBody>
      </p:sp>
      <p:sp>
        <p:nvSpPr>
          <p:cNvPr id="21" name="Shape 19"/>
          <p:cNvSpPr/>
          <p:nvPr/>
        </p:nvSpPr>
        <p:spPr>
          <a:xfrm>
            <a:off x="274320" y="4069080"/>
            <a:ext cx="6675120" cy="749808"/>
          </a:xfrm>
          <a:prstGeom prst="rect">
            <a:avLst/>
          </a:prstGeom>
          <a:solidFill>
            <a:srgbClr val="FFEBEE"/>
          </a:solidFill>
          <a:ln w="19050">
            <a:solidFill>
              <a:srgbClr val="B71C1C"/>
            </a:solidFill>
            <a:prstDash val="solid"/>
          </a:ln>
        </p:spPr>
      </p:sp>
      <p:sp>
        <p:nvSpPr>
          <p:cNvPr id="22" name="Shape 20"/>
          <p:cNvSpPr/>
          <p:nvPr/>
        </p:nvSpPr>
        <p:spPr>
          <a:xfrm>
            <a:off x="274320" y="4069080"/>
            <a:ext cx="457200" cy="749808"/>
          </a:xfrm>
          <a:prstGeom prst="rect">
            <a:avLst/>
          </a:prstGeom>
          <a:solidFill>
            <a:srgbClr val="B71C1C"/>
          </a:solidFill>
          <a:ln w="12700">
            <a:solidFill>
              <a:srgbClr val="B71C1C"/>
            </a:solidFill>
            <a:prstDash val="solid"/>
          </a:ln>
        </p:spPr>
      </p:sp>
      <p:sp>
        <p:nvSpPr>
          <p:cNvPr id="23" name="Text 21"/>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4" name="Text 22"/>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冷媒ガスを圧縮して高温・高圧の状態にし、冷媒サイクルを成立させるための心臓部の装置。エアコンや冷蔵庫に欠かせない</a:t>
            </a:r>
            <a:endParaRPr lang="en-US" sz="1200" dirty="0"/>
          </a:p>
        </p:txBody>
      </p:sp>
      <p:sp>
        <p:nvSpPr>
          <p:cNvPr id="25" name="Shape 23"/>
          <p:cNvSpPr/>
          <p:nvPr/>
        </p:nvSpPr>
        <p:spPr>
          <a:xfrm>
            <a:off x="0" y="4983480"/>
            <a:ext cx="9144000" cy="160020"/>
          </a:xfrm>
          <a:prstGeom prst="rect">
            <a:avLst/>
          </a:prstGeom>
          <a:solidFill>
            <a:srgbClr val="2C2C2C"/>
          </a:solidFill>
          <a:ln w="12700">
            <a:solidFill>
              <a:srgbClr val="2C2C2C"/>
            </a:solidFill>
            <a:prstDash val="solid"/>
          </a:ln>
        </p:spPr>
      </p:sp>
      <p:sp>
        <p:nvSpPr>
          <p:cNvPr id="26" name="Text 24"/>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Q15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15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局所換気</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局所換気（きょくしょかんき）</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作業環境で発生する有害なガス・蒸気・粉じんなどを発生源の近くで捕集し排出するための換気システム。全体換気とは異なり局所的に処理する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Q16</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16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電気ではなく熱（蒸気・温水・ガス）を使って冷房を行う冷凍機（冷却装置）。主に大型ビルや工場の空調設備に使われる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結露</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スポット空調</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吸収式冷凍機</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放熱器</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Q16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16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C  吸収式冷凍機</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吸収式冷凍機（きゅうしゅうしきれいとうき）</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電気ではなく熱（蒸気・温水・ガス）を使って冷房を行う冷凍機（冷却装置）。主に大型ビルや工場の空調設備に使われる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Q17</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17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部屋全体ではなく特定の場所（スポット）だけを冷やしたり温めたりする空調方式のこと。工場・倉庫・データセンターなどで使われる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エルボ・チーズ</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ヒートポンプ</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スポット空調</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ガスヒートポンプ</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Q17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17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C  スポット空調</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スポット空調（すぽっとくうちょう）</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部屋全体ではなく特定の場所（スポット）だけを冷やしたり温めたりする空調方式のこと。工場・倉庫・データセンターなどで使われる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Q18</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18 / 50</a:t>
            </a:r>
            <a:endParaRPr lang="en-US" sz="1400" dirty="0"/>
          </a:p>
        </p:txBody>
      </p:sp>
      <p:sp>
        <p:nvSpPr>
          <p:cNvPr id="8" name="Text 6"/>
          <p:cNvSpPr/>
          <p:nvPr/>
        </p:nvSpPr>
        <p:spPr>
          <a:xfrm>
            <a:off x="182880" y="804672"/>
            <a:ext cx="658368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「天井カセットエアコン」の説明として正しいのはどれでしょうか？</a:t>
            </a:r>
            <a:endParaRPr lang="en-US" sz="1700" dirty="0"/>
          </a:p>
        </p:txBody>
      </p:sp>
      <p:sp>
        <p:nvSpPr>
          <p:cNvPr id="9" name="Shape 7"/>
          <p:cNvSpPr/>
          <p:nvPr/>
        </p:nvSpPr>
        <p:spPr>
          <a:xfrm>
            <a:off x="7132320" y="804672"/>
            <a:ext cx="1737360" cy="1371600"/>
          </a:xfrm>
          <a:prstGeom prst="rect">
            <a:avLst/>
          </a:prstGeom>
          <a:solidFill>
            <a:srgbClr val="FFFFFF"/>
          </a:solidFill>
          <a:ln w="12700">
            <a:solidFill>
              <a:srgbClr val="DDDDDD"/>
            </a:solidFill>
            <a:prstDash val="solid"/>
          </a:ln>
        </p:spPr>
      </p:sp>
      <p:pic>
        <p:nvPicPr>
          <p:cNvPr id="10" name="Image 0" descr="/home/claude/unpacked_空調_衛生用語集/ppt/media/image4.png">    </p:cNvPr>
          <p:cNvPicPr>
            <a:picLocks noChangeAspect="1"/>
          </p:cNvPicPr>
          <p:nvPr/>
        </p:nvPicPr>
        <p:blipFill>
          <a:blip r:embed="rId1"/>
          <a:srcRect l="0" r="0" t="0" b="0"/>
          <a:stretch/>
        </p:blipFill>
        <p:spPr>
          <a:xfrm>
            <a:off x="7178040" y="850392"/>
            <a:ext cx="1645920" cy="1280160"/>
          </a:xfrm>
          <a:prstGeom prst="rect">
            <a:avLst/>
          </a:prstGeom>
        </p:spPr>
      </p:pic>
      <p:sp>
        <p:nvSpPr>
          <p:cNvPr id="11" name="Shape 8"/>
          <p:cNvSpPr/>
          <p:nvPr/>
        </p:nvSpPr>
        <p:spPr>
          <a:xfrm>
            <a:off x="274320" y="1463040"/>
            <a:ext cx="6675120" cy="749808"/>
          </a:xfrm>
          <a:prstGeom prst="rect">
            <a:avLst/>
          </a:prstGeom>
          <a:solidFill>
            <a:srgbClr val="E3F2FD"/>
          </a:solidFill>
          <a:ln w="19050">
            <a:solidFill>
              <a:srgbClr val="1565C0"/>
            </a:solidFill>
            <a:prstDash val="solid"/>
          </a:ln>
        </p:spPr>
      </p:sp>
      <p:sp>
        <p:nvSpPr>
          <p:cNvPr id="12" name="Shape 9"/>
          <p:cNvSpPr/>
          <p:nvPr/>
        </p:nvSpPr>
        <p:spPr>
          <a:xfrm>
            <a:off x="274320" y="1463040"/>
            <a:ext cx="457200" cy="749808"/>
          </a:xfrm>
          <a:prstGeom prst="rect">
            <a:avLst/>
          </a:prstGeom>
          <a:solidFill>
            <a:srgbClr val="1565C0"/>
          </a:solidFill>
          <a:ln w="12700">
            <a:solidFill>
              <a:srgbClr val="1565C0"/>
            </a:solidFill>
            <a:prstDash val="solid"/>
          </a:ln>
        </p:spPr>
      </p:sp>
      <p:sp>
        <p:nvSpPr>
          <p:cNvPr id="13" name="Text 10"/>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4" name="Text 11"/>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気密・水密・防振・防音などを目的として使われる漏れ防止や性能維持に使用される材料。コーキング・ガスケット・Oリングなどが含まれる</a:t>
            </a:r>
            <a:endParaRPr lang="en-US" sz="1200" dirty="0"/>
          </a:p>
        </p:txBody>
      </p:sp>
      <p:sp>
        <p:nvSpPr>
          <p:cNvPr id="15" name="Shape 12"/>
          <p:cNvSpPr/>
          <p:nvPr/>
        </p:nvSpPr>
        <p:spPr>
          <a:xfrm>
            <a:off x="274320" y="2331720"/>
            <a:ext cx="6675120" cy="749808"/>
          </a:xfrm>
          <a:prstGeom prst="rect">
            <a:avLst/>
          </a:prstGeom>
          <a:solidFill>
            <a:srgbClr val="F3E5F5"/>
          </a:solidFill>
          <a:ln w="19050">
            <a:solidFill>
              <a:srgbClr val="6A1B9A"/>
            </a:solidFill>
            <a:prstDash val="solid"/>
          </a:ln>
        </p:spPr>
      </p:sp>
      <p:sp>
        <p:nvSpPr>
          <p:cNvPr id="16" name="Shape 13"/>
          <p:cNvSpPr/>
          <p:nvPr/>
        </p:nvSpPr>
        <p:spPr>
          <a:xfrm>
            <a:off x="274320" y="2331720"/>
            <a:ext cx="457200" cy="749808"/>
          </a:xfrm>
          <a:prstGeom prst="rect">
            <a:avLst/>
          </a:prstGeom>
          <a:solidFill>
            <a:srgbClr val="6A1B9A"/>
          </a:solidFill>
          <a:ln w="12700">
            <a:solidFill>
              <a:srgbClr val="6A1B9A"/>
            </a:solidFill>
            <a:prstDash val="solid"/>
          </a:ln>
        </p:spPr>
      </p:sp>
      <p:sp>
        <p:nvSpPr>
          <p:cNvPr id="17" name="Text 14"/>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8" name="Text 15"/>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空気やガス、液体などを通すための管や通路。建築や設備・工場などの分野で換気・空調・排気などに使用される</a:t>
            </a:r>
            <a:endParaRPr lang="en-US" sz="1200" dirty="0"/>
          </a:p>
        </p:txBody>
      </p:sp>
      <p:sp>
        <p:nvSpPr>
          <p:cNvPr id="19" name="Shape 16"/>
          <p:cNvSpPr/>
          <p:nvPr/>
        </p:nvSpPr>
        <p:spPr>
          <a:xfrm>
            <a:off x="274320" y="3200400"/>
            <a:ext cx="6675120" cy="749808"/>
          </a:xfrm>
          <a:prstGeom prst="rect">
            <a:avLst/>
          </a:prstGeom>
          <a:solidFill>
            <a:srgbClr val="E8F5E9"/>
          </a:solidFill>
          <a:ln w="19050">
            <a:solidFill>
              <a:srgbClr val="1B5E20"/>
            </a:solidFill>
            <a:prstDash val="solid"/>
          </a:ln>
        </p:spPr>
      </p:sp>
      <p:sp>
        <p:nvSpPr>
          <p:cNvPr id="20" name="Shape 17"/>
          <p:cNvSpPr/>
          <p:nvPr/>
        </p:nvSpPr>
        <p:spPr>
          <a:xfrm>
            <a:off x="274320" y="3200400"/>
            <a:ext cx="457200" cy="749808"/>
          </a:xfrm>
          <a:prstGeom prst="rect">
            <a:avLst/>
          </a:prstGeom>
          <a:solidFill>
            <a:srgbClr val="1B5E20"/>
          </a:solidFill>
          <a:ln w="12700">
            <a:solidFill>
              <a:srgbClr val="1B5E20"/>
            </a:solidFill>
            <a:prstDash val="solid"/>
          </a:ln>
        </p:spPr>
      </p:sp>
      <p:sp>
        <p:nvSpPr>
          <p:cNvPr id="21" name="Text 18"/>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2" name="Text 19"/>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ガスエンジンでコンプレッサーを動かし、ヒートポンプ方式で冷暖房を行う空調機器。電力ピーク抑制や省エネ効果がある</a:t>
            </a:r>
            <a:endParaRPr lang="en-US" sz="1200" dirty="0"/>
          </a:p>
        </p:txBody>
      </p:sp>
      <p:sp>
        <p:nvSpPr>
          <p:cNvPr id="23" name="Shape 20"/>
          <p:cNvSpPr/>
          <p:nvPr/>
        </p:nvSpPr>
        <p:spPr>
          <a:xfrm>
            <a:off x="274320" y="4069080"/>
            <a:ext cx="6675120" cy="749808"/>
          </a:xfrm>
          <a:prstGeom prst="rect">
            <a:avLst/>
          </a:prstGeom>
          <a:solidFill>
            <a:srgbClr val="FFEBEE"/>
          </a:solidFill>
          <a:ln w="19050">
            <a:solidFill>
              <a:srgbClr val="B71C1C"/>
            </a:solidFill>
            <a:prstDash val="solid"/>
          </a:ln>
        </p:spPr>
      </p:sp>
      <p:sp>
        <p:nvSpPr>
          <p:cNvPr id="24" name="Shape 21"/>
          <p:cNvSpPr/>
          <p:nvPr/>
        </p:nvSpPr>
        <p:spPr>
          <a:xfrm>
            <a:off x="274320" y="4069080"/>
            <a:ext cx="457200" cy="749808"/>
          </a:xfrm>
          <a:prstGeom prst="rect">
            <a:avLst/>
          </a:prstGeom>
          <a:solidFill>
            <a:srgbClr val="B71C1C"/>
          </a:solidFill>
          <a:ln w="12700">
            <a:solidFill>
              <a:srgbClr val="B71C1C"/>
            </a:solidFill>
            <a:prstDash val="solid"/>
          </a:ln>
        </p:spPr>
      </p:sp>
      <p:sp>
        <p:nvSpPr>
          <p:cNvPr id="25" name="Text 22"/>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6" name="Text 23"/>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天井に埋め込む形で設置するエアコン。室内機が天井に収まるため空間をすっきり使え、オフィスや店舗などに多く使われる</a:t>
            </a:r>
            <a:endParaRPr lang="en-US" sz="1200" dirty="0"/>
          </a:p>
        </p:txBody>
      </p:sp>
      <p:sp>
        <p:nvSpPr>
          <p:cNvPr id="27" name="Shape 24"/>
          <p:cNvSpPr/>
          <p:nvPr/>
        </p:nvSpPr>
        <p:spPr>
          <a:xfrm>
            <a:off x="0" y="4983480"/>
            <a:ext cx="9144000" cy="160020"/>
          </a:xfrm>
          <a:prstGeom prst="rect">
            <a:avLst/>
          </a:prstGeom>
          <a:solidFill>
            <a:srgbClr val="2C2C2C"/>
          </a:solidFill>
          <a:ln w="12700">
            <a:solidFill>
              <a:srgbClr val="2C2C2C"/>
            </a:solidFill>
            <a:prstDash val="solid"/>
          </a:ln>
        </p:spPr>
      </p:sp>
      <p:sp>
        <p:nvSpPr>
          <p:cNvPr id="28" name="Text 25"/>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Q18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18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D  天井カセットエアコン</a:t>
            </a:r>
            <a:endParaRPr lang="en-US" sz="2200" dirty="0"/>
          </a:p>
        </p:txBody>
      </p:sp>
      <p:sp>
        <p:nvSpPr>
          <p:cNvPr id="9" name="Shape 7"/>
          <p:cNvSpPr/>
          <p:nvPr/>
        </p:nvSpPr>
        <p:spPr>
          <a:xfrm>
            <a:off x="6583680" y="2011680"/>
            <a:ext cx="2286000" cy="2286000"/>
          </a:xfrm>
          <a:prstGeom prst="rect">
            <a:avLst/>
          </a:prstGeom>
          <a:solidFill>
            <a:srgbClr val="FFFFFF"/>
          </a:solidFill>
          <a:ln w="12700">
            <a:solidFill>
              <a:srgbClr val="444444"/>
            </a:solidFill>
            <a:prstDash val="solid"/>
          </a:ln>
        </p:spPr>
      </p:sp>
      <p:pic>
        <p:nvPicPr>
          <p:cNvPr id="10" name="Image 0" descr="/home/claude/unpacked_空調_衛生用語集/ppt/media/image4.png">    </p:cNvPr>
          <p:cNvPicPr>
            <a:picLocks noChangeAspect="1"/>
          </p:cNvPicPr>
          <p:nvPr/>
        </p:nvPicPr>
        <p:blipFill>
          <a:blip r:embed="rId1"/>
          <a:srcRect l="0" r="0" t="0" b="0"/>
          <a:stretch/>
        </p:blipFill>
        <p:spPr>
          <a:xfrm>
            <a:off x="6675120" y="2103120"/>
            <a:ext cx="2103120" cy="2103120"/>
          </a:xfrm>
          <a:prstGeom prst="rect">
            <a:avLst/>
          </a:prstGeom>
        </p:spPr>
      </p:pic>
      <p:sp>
        <p:nvSpPr>
          <p:cNvPr id="11" name="Shape 8"/>
          <p:cNvSpPr/>
          <p:nvPr/>
        </p:nvSpPr>
        <p:spPr>
          <a:xfrm>
            <a:off x="274320" y="1965960"/>
            <a:ext cx="6126480" cy="457200"/>
          </a:xfrm>
          <a:prstGeom prst="rect">
            <a:avLst/>
          </a:prstGeom>
          <a:solidFill>
            <a:srgbClr val="E8611A"/>
          </a:solidFill>
          <a:ln w="12700">
            <a:solidFill>
              <a:srgbClr val="E8611A"/>
            </a:solidFill>
            <a:prstDash val="solid"/>
          </a:ln>
        </p:spPr>
      </p:sp>
      <p:sp>
        <p:nvSpPr>
          <p:cNvPr id="12" name="Text 9"/>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3" name="Text 10"/>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天井カセットエアコン（てんじょうかせっとえあこん）</a:t>
            </a:r>
            <a:endParaRPr lang="en-US" sz="1600" dirty="0"/>
          </a:p>
        </p:txBody>
      </p:sp>
      <p:sp>
        <p:nvSpPr>
          <p:cNvPr id="14" name="Text 11"/>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天井に埋め込む形で設置するエアコン。室内機が天井に収まるため空間をすっきり使え、オフィスや店舗などに多く使われる</a:t>
            </a:r>
            <a:endParaRPr lang="en-US" sz="1400" dirty="0"/>
          </a:p>
        </p:txBody>
      </p:sp>
      <p:sp>
        <p:nvSpPr>
          <p:cNvPr id="15" name="Shape 12"/>
          <p:cNvSpPr/>
          <p:nvPr/>
        </p:nvSpPr>
        <p:spPr>
          <a:xfrm>
            <a:off x="0" y="4983480"/>
            <a:ext cx="9144000" cy="160020"/>
          </a:xfrm>
          <a:prstGeom prst="rect">
            <a:avLst/>
          </a:prstGeom>
          <a:solidFill>
            <a:srgbClr val="111111"/>
          </a:solidFill>
          <a:ln w="12700">
            <a:solidFill>
              <a:srgbClr val="111111"/>
            </a:solidFill>
            <a:prstDash val="solid"/>
          </a:ln>
        </p:spPr>
      </p:sp>
      <p:sp>
        <p:nvSpPr>
          <p:cNvPr id="16" name="Text 13"/>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Q19</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19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壁・床・天井などに配管やダクトを通すためにあらかじめ設ける穴あけ用の筒（さや管）のこと</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外気導入</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熱回収</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熱交換器</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スリーブ</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Q19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19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D  スリーブ</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スリーブ（すりーぶ）</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壁・床・天井などに配管やダクトを通すためにあらかじめ設ける穴あけ用の筒（さや管）のこと</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Q20</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20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塩化ビニール（PVC）製の配管材料。軽量で耐腐食性に優れ、給排水・空調ドレンなど幅広い用途に使われる。VP管・VU管などの種類がある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ボールタップ</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排気ファン</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インバーター</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塩ビ管</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Q20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20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D  塩ビ管</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塩ビ管（えんびかん）</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塩化ビニール（PVC）製の配管材料。軽量で耐腐食性に優れ、給排水・空調ドレンなど幅広い用途に使われる。VP管・VU管などの種類がある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Q21</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21 / 50</a:t>
            </a:r>
            <a:endParaRPr lang="en-US" sz="1400" dirty="0"/>
          </a:p>
        </p:txBody>
      </p:sp>
      <p:sp>
        <p:nvSpPr>
          <p:cNvPr id="8" name="Text 6"/>
          <p:cNvSpPr/>
          <p:nvPr/>
        </p:nvSpPr>
        <p:spPr>
          <a:xfrm>
            <a:off x="182880" y="804672"/>
            <a:ext cx="877824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「エルボ・チーズ」の説明として正しいのはどれでしょうか？</a:t>
            </a:r>
            <a:endParaRPr lang="en-US" sz="1700" dirty="0"/>
          </a:p>
        </p:txBody>
      </p:sp>
      <p:sp>
        <p:nvSpPr>
          <p:cNvPr id="9" name="Shape 7"/>
          <p:cNvSpPr/>
          <p:nvPr/>
        </p:nvSpPr>
        <p:spPr>
          <a:xfrm>
            <a:off x="274320" y="1463040"/>
            <a:ext cx="6675120" cy="749808"/>
          </a:xfrm>
          <a:prstGeom prst="rect">
            <a:avLst/>
          </a:prstGeom>
          <a:solidFill>
            <a:srgbClr val="E3F2FD"/>
          </a:solidFill>
          <a:ln w="19050">
            <a:solidFill>
              <a:srgbClr val="1565C0"/>
            </a:solidFill>
            <a:prstDash val="solid"/>
          </a:ln>
        </p:spPr>
      </p:sp>
      <p:sp>
        <p:nvSpPr>
          <p:cNvPr id="10" name="Shape 8"/>
          <p:cNvSpPr/>
          <p:nvPr/>
        </p:nvSpPr>
        <p:spPr>
          <a:xfrm>
            <a:off x="274320" y="1463040"/>
            <a:ext cx="457200" cy="749808"/>
          </a:xfrm>
          <a:prstGeom prst="rect">
            <a:avLst/>
          </a:prstGeom>
          <a:solidFill>
            <a:srgbClr val="1565C0"/>
          </a:solidFill>
          <a:ln w="12700">
            <a:solidFill>
              <a:srgbClr val="1565C0"/>
            </a:solidFill>
            <a:prstDash val="solid"/>
          </a:ln>
        </p:spPr>
      </p:sp>
      <p:sp>
        <p:nvSpPr>
          <p:cNvPr id="11" name="Text 9"/>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2" name="Text 10"/>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配管の継手（つなぎ目）部品。エルボは配管の方向を曲げるための部品、チーズは配管をT字形に分岐させるための部品</a:t>
            </a:r>
            <a:endParaRPr lang="en-US" sz="1200" dirty="0"/>
          </a:p>
        </p:txBody>
      </p:sp>
      <p:sp>
        <p:nvSpPr>
          <p:cNvPr id="13" name="Shape 11"/>
          <p:cNvSpPr/>
          <p:nvPr/>
        </p:nvSpPr>
        <p:spPr>
          <a:xfrm>
            <a:off x="274320" y="2331720"/>
            <a:ext cx="6675120" cy="749808"/>
          </a:xfrm>
          <a:prstGeom prst="rect">
            <a:avLst/>
          </a:prstGeom>
          <a:solidFill>
            <a:srgbClr val="F3E5F5"/>
          </a:solidFill>
          <a:ln w="19050">
            <a:solidFill>
              <a:srgbClr val="6A1B9A"/>
            </a:solidFill>
            <a:prstDash val="solid"/>
          </a:ln>
        </p:spPr>
      </p:sp>
      <p:sp>
        <p:nvSpPr>
          <p:cNvPr id="14" name="Shape 12"/>
          <p:cNvSpPr/>
          <p:nvPr/>
        </p:nvSpPr>
        <p:spPr>
          <a:xfrm>
            <a:off x="274320" y="2331720"/>
            <a:ext cx="457200" cy="749808"/>
          </a:xfrm>
          <a:prstGeom prst="rect">
            <a:avLst/>
          </a:prstGeom>
          <a:solidFill>
            <a:srgbClr val="6A1B9A"/>
          </a:solidFill>
          <a:ln w="12700">
            <a:solidFill>
              <a:srgbClr val="6A1B9A"/>
            </a:solidFill>
            <a:prstDash val="solid"/>
          </a:ln>
        </p:spPr>
      </p:sp>
      <p:sp>
        <p:nvSpPr>
          <p:cNvPr id="15" name="Text 13"/>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6" name="Text 14"/>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排水管内の気圧を調整し、排水の流れをスムーズにするための通気管を設ける仕組み。臭気の逆流防止や排水音の低減にも役立つ</a:t>
            </a:r>
            <a:endParaRPr lang="en-US" sz="1200" dirty="0"/>
          </a:p>
        </p:txBody>
      </p:sp>
      <p:sp>
        <p:nvSpPr>
          <p:cNvPr id="17" name="Shape 15"/>
          <p:cNvSpPr/>
          <p:nvPr/>
        </p:nvSpPr>
        <p:spPr>
          <a:xfrm>
            <a:off x="274320" y="3200400"/>
            <a:ext cx="6675120" cy="749808"/>
          </a:xfrm>
          <a:prstGeom prst="rect">
            <a:avLst/>
          </a:prstGeom>
          <a:solidFill>
            <a:srgbClr val="E8F5E9"/>
          </a:solidFill>
          <a:ln w="19050">
            <a:solidFill>
              <a:srgbClr val="1B5E20"/>
            </a:solidFill>
            <a:prstDash val="solid"/>
          </a:ln>
        </p:spPr>
      </p:sp>
      <p:sp>
        <p:nvSpPr>
          <p:cNvPr id="18" name="Shape 16"/>
          <p:cNvSpPr/>
          <p:nvPr/>
        </p:nvSpPr>
        <p:spPr>
          <a:xfrm>
            <a:off x="274320" y="3200400"/>
            <a:ext cx="457200" cy="749808"/>
          </a:xfrm>
          <a:prstGeom prst="rect">
            <a:avLst/>
          </a:prstGeom>
          <a:solidFill>
            <a:srgbClr val="1B5E20"/>
          </a:solidFill>
          <a:ln w="12700">
            <a:solidFill>
              <a:srgbClr val="1B5E20"/>
            </a:solidFill>
            <a:prstDash val="solid"/>
          </a:ln>
        </p:spPr>
      </p:sp>
      <p:sp>
        <p:nvSpPr>
          <p:cNvPr id="19" name="Text 17"/>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0" name="Text 18"/>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少ない電力で大きな熱エネルギーを移動させる技術。空気中の熱を取り込んで冷暖房や給湯に利用する省エネ設備</a:t>
            </a:r>
            <a:endParaRPr lang="en-US" sz="1200" dirty="0"/>
          </a:p>
        </p:txBody>
      </p:sp>
      <p:sp>
        <p:nvSpPr>
          <p:cNvPr id="21" name="Shape 19"/>
          <p:cNvSpPr/>
          <p:nvPr/>
        </p:nvSpPr>
        <p:spPr>
          <a:xfrm>
            <a:off x="274320" y="4069080"/>
            <a:ext cx="6675120" cy="749808"/>
          </a:xfrm>
          <a:prstGeom prst="rect">
            <a:avLst/>
          </a:prstGeom>
          <a:solidFill>
            <a:srgbClr val="FFEBEE"/>
          </a:solidFill>
          <a:ln w="19050">
            <a:solidFill>
              <a:srgbClr val="B71C1C"/>
            </a:solidFill>
            <a:prstDash val="solid"/>
          </a:ln>
        </p:spPr>
      </p:sp>
      <p:sp>
        <p:nvSpPr>
          <p:cNvPr id="22" name="Shape 20"/>
          <p:cNvSpPr/>
          <p:nvPr/>
        </p:nvSpPr>
        <p:spPr>
          <a:xfrm>
            <a:off x="274320" y="4069080"/>
            <a:ext cx="457200" cy="749808"/>
          </a:xfrm>
          <a:prstGeom prst="rect">
            <a:avLst/>
          </a:prstGeom>
          <a:solidFill>
            <a:srgbClr val="B71C1C"/>
          </a:solidFill>
          <a:ln w="12700">
            <a:solidFill>
              <a:srgbClr val="B71C1C"/>
            </a:solidFill>
            <a:prstDash val="solid"/>
          </a:ln>
        </p:spPr>
      </p:sp>
      <p:sp>
        <p:nvSpPr>
          <p:cNvPr id="23" name="Text 21"/>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4" name="Text 22"/>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電気ではなく熱（蒸気・温水・ガス）を使って冷房を行う冷凍機（冷却装置）。主に大型ビルや工場の空調設備に使われる</a:t>
            </a:r>
            <a:endParaRPr lang="en-US" sz="1200" dirty="0"/>
          </a:p>
        </p:txBody>
      </p:sp>
      <p:sp>
        <p:nvSpPr>
          <p:cNvPr id="25" name="Shape 23"/>
          <p:cNvSpPr/>
          <p:nvPr/>
        </p:nvSpPr>
        <p:spPr>
          <a:xfrm>
            <a:off x="0" y="4983480"/>
            <a:ext cx="9144000" cy="160020"/>
          </a:xfrm>
          <a:prstGeom prst="rect">
            <a:avLst/>
          </a:prstGeom>
          <a:solidFill>
            <a:srgbClr val="2C2C2C"/>
          </a:solidFill>
          <a:ln w="12700">
            <a:solidFill>
              <a:srgbClr val="2C2C2C"/>
            </a:solidFill>
            <a:prstDash val="solid"/>
          </a:ln>
        </p:spPr>
      </p:sp>
      <p:sp>
        <p:nvSpPr>
          <p:cNvPr id="26" name="Text 24"/>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Q21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21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エルボ・チーズ</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エルボ・チーズ（えるぼ・ちーず）</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配管の継手（つなぎ目）部品。エルボは配管の方向を曲げるための部品、チーズは配管をT字形に分岐させるための部品</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Q22</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22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空調機器や冷蔵設備・ボイラー・給湯器などで発生する不要な水分（ドレン水）を排出するための配管のこと</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結露</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ダンパー</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ドレン配管</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給水</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Q22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22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C  ドレン配管</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ドレン配管（どれんはいかん）</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空調機器や冷蔵設備・ボイラー・給湯器などで発生する不要な水分（ドレン水）を排出するための配管のこと</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Q23</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23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空調・衛生設備において使用済みの空気や水に含まれる廃熱を回収し、暖房・給湯・冷房・換気などに再利用する技術のこと。省エネルギー対策に有効</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直結給水方式</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ダクト</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冷却塔</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熱回収</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Q23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23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D  熱回収</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熱回収（ねつかいしゅう）</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空調・衛生設備において使用済みの空気や水に含まれる廃熱を回収し、暖房・給湯・冷房・換気などに再利用する技術のこと。省エネルギー対策に有効</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Q24</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24 / 50</a:t>
            </a:r>
            <a:endParaRPr lang="en-US" sz="1400" dirty="0"/>
          </a:p>
        </p:txBody>
      </p:sp>
      <p:sp>
        <p:nvSpPr>
          <p:cNvPr id="8" name="Text 6"/>
          <p:cNvSpPr/>
          <p:nvPr/>
        </p:nvSpPr>
        <p:spPr>
          <a:xfrm>
            <a:off x="182880" y="804672"/>
            <a:ext cx="877824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「換気扇」の説明として正しいのはどれでしょうか？</a:t>
            </a:r>
            <a:endParaRPr lang="en-US" sz="1700" dirty="0"/>
          </a:p>
        </p:txBody>
      </p:sp>
      <p:sp>
        <p:nvSpPr>
          <p:cNvPr id="9" name="Shape 7"/>
          <p:cNvSpPr/>
          <p:nvPr/>
        </p:nvSpPr>
        <p:spPr>
          <a:xfrm>
            <a:off x="274320" y="1463040"/>
            <a:ext cx="6675120" cy="749808"/>
          </a:xfrm>
          <a:prstGeom prst="rect">
            <a:avLst/>
          </a:prstGeom>
          <a:solidFill>
            <a:srgbClr val="E3F2FD"/>
          </a:solidFill>
          <a:ln w="19050">
            <a:solidFill>
              <a:srgbClr val="1565C0"/>
            </a:solidFill>
            <a:prstDash val="solid"/>
          </a:ln>
        </p:spPr>
      </p:sp>
      <p:sp>
        <p:nvSpPr>
          <p:cNvPr id="10" name="Shape 8"/>
          <p:cNvSpPr/>
          <p:nvPr/>
        </p:nvSpPr>
        <p:spPr>
          <a:xfrm>
            <a:off x="274320" y="1463040"/>
            <a:ext cx="457200" cy="749808"/>
          </a:xfrm>
          <a:prstGeom prst="rect">
            <a:avLst/>
          </a:prstGeom>
          <a:solidFill>
            <a:srgbClr val="1565C0"/>
          </a:solidFill>
          <a:ln w="12700">
            <a:solidFill>
              <a:srgbClr val="1565C0"/>
            </a:solidFill>
            <a:prstDash val="solid"/>
          </a:ln>
        </p:spPr>
      </p:sp>
      <p:sp>
        <p:nvSpPr>
          <p:cNvPr id="11" name="Text 9"/>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2" name="Text 10"/>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室内の空気を入れ替えるために設置される機器。汚れた空気や湿気・熱・臭気などを屋外へ排出し新鮮な外気を取り込む目的で使われる</a:t>
            </a:r>
            <a:endParaRPr lang="en-US" sz="1200" dirty="0"/>
          </a:p>
        </p:txBody>
      </p:sp>
      <p:sp>
        <p:nvSpPr>
          <p:cNvPr id="13" name="Shape 11"/>
          <p:cNvSpPr/>
          <p:nvPr/>
        </p:nvSpPr>
        <p:spPr>
          <a:xfrm>
            <a:off x="274320" y="2331720"/>
            <a:ext cx="6675120" cy="749808"/>
          </a:xfrm>
          <a:prstGeom prst="rect">
            <a:avLst/>
          </a:prstGeom>
          <a:solidFill>
            <a:srgbClr val="F3E5F5"/>
          </a:solidFill>
          <a:ln w="19050">
            <a:solidFill>
              <a:srgbClr val="6A1B9A"/>
            </a:solidFill>
            <a:prstDash val="solid"/>
          </a:ln>
        </p:spPr>
      </p:sp>
      <p:sp>
        <p:nvSpPr>
          <p:cNvPr id="14" name="Shape 12"/>
          <p:cNvSpPr/>
          <p:nvPr/>
        </p:nvSpPr>
        <p:spPr>
          <a:xfrm>
            <a:off x="274320" y="2331720"/>
            <a:ext cx="457200" cy="749808"/>
          </a:xfrm>
          <a:prstGeom prst="rect">
            <a:avLst/>
          </a:prstGeom>
          <a:solidFill>
            <a:srgbClr val="6A1B9A"/>
          </a:solidFill>
          <a:ln w="12700">
            <a:solidFill>
              <a:srgbClr val="6A1B9A"/>
            </a:solidFill>
            <a:prstDash val="solid"/>
          </a:ln>
        </p:spPr>
      </p:sp>
      <p:sp>
        <p:nvSpPr>
          <p:cNvPr id="15" name="Text 13"/>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6" name="Text 14"/>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屋外の空気（外気）を室内へ取り入れる仕組み。換気・空気の排出などを目的として行われ、室内の空気質を維持するために重要</a:t>
            </a:r>
            <a:endParaRPr lang="en-US" sz="1200" dirty="0"/>
          </a:p>
        </p:txBody>
      </p:sp>
      <p:sp>
        <p:nvSpPr>
          <p:cNvPr id="17" name="Shape 15"/>
          <p:cNvSpPr/>
          <p:nvPr/>
        </p:nvSpPr>
        <p:spPr>
          <a:xfrm>
            <a:off x="274320" y="3200400"/>
            <a:ext cx="6675120" cy="749808"/>
          </a:xfrm>
          <a:prstGeom prst="rect">
            <a:avLst/>
          </a:prstGeom>
          <a:solidFill>
            <a:srgbClr val="E8F5E9"/>
          </a:solidFill>
          <a:ln w="19050">
            <a:solidFill>
              <a:srgbClr val="1B5E20"/>
            </a:solidFill>
            <a:prstDash val="solid"/>
          </a:ln>
        </p:spPr>
      </p:sp>
      <p:sp>
        <p:nvSpPr>
          <p:cNvPr id="18" name="Shape 16"/>
          <p:cNvSpPr/>
          <p:nvPr/>
        </p:nvSpPr>
        <p:spPr>
          <a:xfrm>
            <a:off x="274320" y="3200400"/>
            <a:ext cx="457200" cy="749808"/>
          </a:xfrm>
          <a:prstGeom prst="rect">
            <a:avLst/>
          </a:prstGeom>
          <a:solidFill>
            <a:srgbClr val="1B5E20"/>
          </a:solidFill>
          <a:ln w="12700">
            <a:solidFill>
              <a:srgbClr val="1B5E20"/>
            </a:solidFill>
            <a:prstDash val="solid"/>
          </a:ln>
        </p:spPr>
      </p:sp>
      <p:sp>
        <p:nvSpPr>
          <p:cNvPr id="19" name="Text 17"/>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0" name="Text 18"/>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天井に埋め込む形で設置するエアコン。室内機が天井に収まるため空間をすっきり使え、オフィスや店舗などに多く使われる</a:t>
            </a:r>
            <a:endParaRPr lang="en-US" sz="1200" dirty="0"/>
          </a:p>
        </p:txBody>
      </p:sp>
      <p:sp>
        <p:nvSpPr>
          <p:cNvPr id="21" name="Shape 19"/>
          <p:cNvSpPr/>
          <p:nvPr/>
        </p:nvSpPr>
        <p:spPr>
          <a:xfrm>
            <a:off x="274320" y="4069080"/>
            <a:ext cx="6675120" cy="749808"/>
          </a:xfrm>
          <a:prstGeom prst="rect">
            <a:avLst/>
          </a:prstGeom>
          <a:solidFill>
            <a:srgbClr val="FFEBEE"/>
          </a:solidFill>
          <a:ln w="19050">
            <a:solidFill>
              <a:srgbClr val="B71C1C"/>
            </a:solidFill>
            <a:prstDash val="solid"/>
          </a:ln>
        </p:spPr>
      </p:sp>
      <p:sp>
        <p:nvSpPr>
          <p:cNvPr id="22" name="Shape 20"/>
          <p:cNvSpPr/>
          <p:nvPr/>
        </p:nvSpPr>
        <p:spPr>
          <a:xfrm>
            <a:off x="274320" y="4069080"/>
            <a:ext cx="457200" cy="749808"/>
          </a:xfrm>
          <a:prstGeom prst="rect">
            <a:avLst/>
          </a:prstGeom>
          <a:solidFill>
            <a:srgbClr val="B71C1C"/>
          </a:solidFill>
          <a:ln w="12700">
            <a:solidFill>
              <a:srgbClr val="B71C1C"/>
            </a:solidFill>
            <a:prstDash val="solid"/>
          </a:ln>
        </p:spPr>
      </p:sp>
      <p:sp>
        <p:nvSpPr>
          <p:cNvPr id="23" name="Text 21"/>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4" name="Text 22"/>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流体（水・ガス・空気・蒸気など）を目的の場所に輸送するためのパイプや管のシステム全体のこと。空調・衛生・プラントなど幅広い設備に使われる</a:t>
            </a:r>
            <a:endParaRPr lang="en-US" sz="1200" dirty="0"/>
          </a:p>
        </p:txBody>
      </p:sp>
      <p:sp>
        <p:nvSpPr>
          <p:cNvPr id="25" name="Shape 23"/>
          <p:cNvSpPr/>
          <p:nvPr/>
        </p:nvSpPr>
        <p:spPr>
          <a:xfrm>
            <a:off x="0" y="4983480"/>
            <a:ext cx="9144000" cy="160020"/>
          </a:xfrm>
          <a:prstGeom prst="rect">
            <a:avLst/>
          </a:prstGeom>
          <a:solidFill>
            <a:srgbClr val="2C2C2C"/>
          </a:solidFill>
          <a:ln w="12700">
            <a:solidFill>
              <a:srgbClr val="2C2C2C"/>
            </a:solidFill>
            <a:prstDash val="solid"/>
          </a:ln>
        </p:spPr>
      </p:sp>
      <p:sp>
        <p:nvSpPr>
          <p:cNvPr id="26" name="Text 24"/>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Q24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24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換気扇</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換気扇（かんきせん）</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室内の空気を入れ替えるために設置される機器。汚れた空気や湿気・熱・臭気などを屋外へ排出し新鮮な外気を取り込む目的で使われる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Q25</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25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空気を移動させるための装置。空調機や換気設備などで空気の搬送に使われ、ファン・ブロワーとも呼ばれる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ボールタップ</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排水通気</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局所換気</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送風機</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Q25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25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D  送風機</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送風機（そうふうき）</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空気を移動させるための装置。空調機や換気設備などで空気の搬送に使われ、ファン・ブロワーとも呼ばれる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Q26</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26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空調機や送風機・換気設備などから供給・排出される空気の量（風量）を測定する作業。設備の性能確認や省エネ管理に使われる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風量計測</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熱回収</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フィルター</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換気扇</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Q26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26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風量計測</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風量計測（ふうりょうけいそく）</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空調機や送風機・換気設備などから供給・排出される空気の量（風量）を測定する作業。設備の性能確認や省エネ管理に使われる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Q27</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27 / 50</a:t>
            </a:r>
            <a:endParaRPr lang="en-US" sz="1400" dirty="0"/>
          </a:p>
        </p:txBody>
      </p:sp>
      <p:sp>
        <p:nvSpPr>
          <p:cNvPr id="8" name="Text 6"/>
          <p:cNvSpPr/>
          <p:nvPr/>
        </p:nvSpPr>
        <p:spPr>
          <a:xfrm>
            <a:off x="182880" y="804672"/>
            <a:ext cx="877824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「遮熱」の説明として正しいのはどれでしょうか？</a:t>
            </a:r>
            <a:endParaRPr lang="en-US" sz="1700" dirty="0"/>
          </a:p>
        </p:txBody>
      </p:sp>
      <p:sp>
        <p:nvSpPr>
          <p:cNvPr id="9" name="Shape 7"/>
          <p:cNvSpPr/>
          <p:nvPr/>
        </p:nvSpPr>
        <p:spPr>
          <a:xfrm>
            <a:off x="274320" y="1463040"/>
            <a:ext cx="6675120" cy="749808"/>
          </a:xfrm>
          <a:prstGeom prst="rect">
            <a:avLst/>
          </a:prstGeom>
          <a:solidFill>
            <a:srgbClr val="E3F2FD"/>
          </a:solidFill>
          <a:ln w="19050">
            <a:solidFill>
              <a:srgbClr val="1565C0"/>
            </a:solidFill>
            <a:prstDash val="solid"/>
          </a:ln>
        </p:spPr>
      </p:sp>
      <p:sp>
        <p:nvSpPr>
          <p:cNvPr id="10" name="Shape 8"/>
          <p:cNvSpPr/>
          <p:nvPr/>
        </p:nvSpPr>
        <p:spPr>
          <a:xfrm>
            <a:off x="274320" y="1463040"/>
            <a:ext cx="457200" cy="749808"/>
          </a:xfrm>
          <a:prstGeom prst="rect">
            <a:avLst/>
          </a:prstGeom>
          <a:solidFill>
            <a:srgbClr val="1565C0"/>
          </a:solidFill>
          <a:ln w="12700">
            <a:solidFill>
              <a:srgbClr val="1565C0"/>
            </a:solidFill>
            <a:prstDash val="solid"/>
          </a:ln>
        </p:spPr>
      </p:sp>
      <p:sp>
        <p:nvSpPr>
          <p:cNvPr id="11" name="Text 9"/>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2" name="Text 10"/>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太陽からの熱（主に赤外線）を遮り建物内部の温度上昇を防ぐ技術や工法。特に夏季の冷房負荷を軽減し省エネルギーと快適性の向上を目的とする</a:t>
            </a:r>
            <a:endParaRPr lang="en-US" sz="1200" dirty="0"/>
          </a:p>
        </p:txBody>
      </p:sp>
      <p:sp>
        <p:nvSpPr>
          <p:cNvPr id="13" name="Shape 11"/>
          <p:cNvSpPr/>
          <p:nvPr/>
        </p:nvSpPr>
        <p:spPr>
          <a:xfrm>
            <a:off x="274320" y="2331720"/>
            <a:ext cx="6675120" cy="749808"/>
          </a:xfrm>
          <a:prstGeom prst="rect">
            <a:avLst/>
          </a:prstGeom>
          <a:solidFill>
            <a:srgbClr val="F3E5F5"/>
          </a:solidFill>
          <a:ln w="19050">
            <a:solidFill>
              <a:srgbClr val="6A1B9A"/>
            </a:solidFill>
            <a:prstDash val="solid"/>
          </a:ln>
        </p:spPr>
      </p:sp>
      <p:sp>
        <p:nvSpPr>
          <p:cNvPr id="14" name="Shape 12"/>
          <p:cNvSpPr/>
          <p:nvPr/>
        </p:nvSpPr>
        <p:spPr>
          <a:xfrm>
            <a:off x="274320" y="2331720"/>
            <a:ext cx="457200" cy="749808"/>
          </a:xfrm>
          <a:prstGeom prst="rect">
            <a:avLst/>
          </a:prstGeom>
          <a:solidFill>
            <a:srgbClr val="6A1B9A"/>
          </a:solidFill>
          <a:ln w="12700">
            <a:solidFill>
              <a:srgbClr val="6A1B9A"/>
            </a:solidFill>
            <a:prstDash val="solid"/>
          </a:ln>
        </p:spPr>
      </p:sp>
      <p:sp>
        <p:nvSpPr>
          <p:cNvPr id="15" name="Text 13"/>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6" name="Text 14"/>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冷房用と暖房用のダクトを別々に設け、季節やゾーンごとに必要な空気（冷風・温風）を供給できる方式のこと</a:t>
            </a:r>
            <a:endParaRPr lang="en-US" sz="1200" dirty="0"/>
          </a:p>
        </p:txBody>
      </p:sp>
      <p:sp>
        <p:nvSpPr>
          <p:cNvPr id="17" name="Shape 15"/>
          <p:cNvSpPr/>
          <p:nvPr/>
        </p:nvSpPr>
        <p:spPr>
          <a:xfrm>
            <a:off x="274320" y="3200400"/>
            <a:ext cx="6675120" cy="749808"/>
          </a:xfrm>
          <a:prstGeom prst="rect">
            <a:avLst/>
          </a:prstGeom>
          <a:solidFill>
            <a:srgbClr val="E8F5E9"/>
          </a:solidFill>
          <a:ln w="19050">
            <a:solidFill>
              <a:srgbClr val="1B5E20"/>
            </a:solidFill>
            <a:prstDash val="solid"/>
          </a:ln>
        </p:spPr>
      </p:sp>
      <p:sp>
        <p:nvSpPr>
          <p:cNvPr id="18" name="Shape 16"/>
          <p:cNvSpPr/>
          <p:nvPr/>
        </p:nvSpPr>
        <p:spPr>
          <a:xfrm>
            <a:off x="274320" y="3200400"/>
            <a:ext cx="457200" cy="749808"/>
          </a:xfrm>
          <a:prstGeom prst="rect">
            <a:avLst/>
          </a:prstGeom>
          <a:solidFill>
            <a:srgbClr val="1B5E20"/>
          </a:solidFill>
          <a:ln w="12700">
            <a:solidFill>
              <a:srgbClr val="1B5E20"/>
            </a:solidFill>
            <a:prstDash val="solid"/>
          </a:ln>
        </p:spPr>
      </p:sp>
      <p:sp>
        <p:nvSpPr>
          <p:cNvPr id="19" name="Text 17"/>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0" name="Text 18"/>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空気中の水蒸気が冷たい表面に触れて水滴となって現れる現象。空調設備や配管まわりで頻繁に発生し、カビや腐食の原因となることがある</a:t>
            </a:r>
            <a:endParaRPr lang="en-US" sz="1200" dirty="0"/>
          </a:p>
        </p:txBody>
      </p:sp>
      <p:sp>
        <p:nvSpPr>
          <p:cNvPr id="21" name="Shape 19"/>
          <p:cNvSpPr/>
          <p:nvPr/>
        </p:nvSpPr>
        <p:spPr>
          <a:xfrm>
            <a:off x="274320" y="4069080"/>
            <a:ext cx="6675120" cy="749808"/>
          </a:xfrm>
          <a:prstGeom prst="rect">
            <a:avLst/>
          </a:prstGeom>
          <a:solidFill>
            <a:srgbClr val="FFEBEE"/>
          </a:solidFill>
          <a:ln w="19050">
            <a:solidFill>
              <a:srgbClr val="B71C1C"/>
            </a:solidFill>
            <a:prstDash val="solid"/>
          </a:ln>
        </p:spPr>
      </p:sp>
      <p:sp>
        <p:nvSpPr>
          <p:cNvPr id="22" name="Shape 20"/>
          <p:cNvSpPr/>
          <p:nvPr/>
        </p:nvSpPr>
        <p:spPr>
          <a:xfrm>
            <a:off x="274320" y="4069080"/>
            <a:ext cx="457200" cy="749808"/>
          </a:xfrm>
          <a:prstGeom prst="rect">
            <a:avLst/>
          </a:prstGeom>
          <a:solidFill>
            <a:srgbClr val="B71C1C"/>
          </a:solidFill>
          <a:ln w="12700">
            <a:solidFill>
              <a:srgbClr val="B71C1C"/>
            </a:solidFill>
            <a:prstDash val="solid"/>
          </a:ln>
        </p:spPr>
      </p:sp>
      <p:sp>
        <p:nvSpPr>
          <p:cNvPr id="23" name="Text 21"/>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4" name="Text 22"/>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気密・水密・防振・防音などを目的として使われる漏れ防止や性能維持に使用される材料。コーキング・ガスケット・Oリングなどが含まれる</a:t>
            </a:r>
            <a:endParaRPr lang="en-US" sz="1200" dirty="0"/>
          </a:p>
        </p:txBody>
      </p:sp>
      <p:sp>
        <p:nvSpPr>
          <p:cNvPr id="25" name="Shape 23"/>
          <p:cNvSpPr/>
          <p:nvPr/>
        </p:nvSpPr>
        <p:spPr>
          <a:xfrm>
            <a:off x="0" y="4983480"/>
            <a:ext cx="9144000" cy="160020"/>
          </a:xfrm>
          <a:prstGeom prst="rect">
            <a:avLst/>
          </a:prstGeom>
          <a:solidFill>
            <a:srgbClr val="2C2C2C"/>
          </a:solidFill>
          <a:ln w="12700">
            <a:solidFill>
              <a:srgbClr val="2C2C2C"/>
            </a:solidFill>
            <a:prstDash val="solid"/>
          </a:ln>
        </p:spPr>
      </p:sp>
      <p:sp>
        <p:nvSpPr>
          <p:cNvPr id="26" name="Text 24"/>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Q27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27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遮熱</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遮熱（しゃねつ）</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太陽からの熱（主に赤外線）を遮り建物内部の温度上昇を防ぐ技術や工法。特に夏季の冷房負荷を軽減し省エネルギーと快適性の向上を目的とする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Q28</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28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空気中の水蒸気が冷たい表面に触れて水滴となって現れる現象。空調設備や配管まわりで頻繁に発生し、カビや腐食の原因となることがある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インバーター</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スポット空調</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送風機</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結露</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Q28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28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D  結露</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結露（けつろ）</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空気中の水蒸気が冷たい表面に触れて水滴となって現れる現象。空調設備や配管まわりで頻繁に発生し、カビや腐食の原因となることがある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Q29</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29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空調システムで空気中の塵・埃・花粉・微生物などを除去するためのフィルター。定期的な清掃・交換が空調の性能維持に重要</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冷媒</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排気ファン</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局所換気</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エアフィルター</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Q29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29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D  エアフィルター</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エアフィルター（えあふぃるたー）</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空調システムで空気中の塵・埃・花粉・微生物などを除去するためのフィルター。定期的な清掃・交換が空調の性能維持に重要</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Q30</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30 / 50</a:t>
            </a:r>
            <a:endParaRPr lang="en-US" sz="1400" dirty="0"/>
          </a:p>
        </p:txBody>
      </p:sp>
      <p:sp>
        <p:nvSpPr>
          <p:cNvPr id="8" name="Text 6"/>
          <p:cNvSpPr/>
          <p:nvPr/>
        </p:nvSpPr>
        <p:spPr>
          <a:xfrm>
            <a:off x="182880" y="804672"/>
            <a:ext cx="877824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「熱交換器」の説明として正しいのはどれでしょうか？</a:t>
            </a:r>
            <a:endParaRPr lang="en-US" sz="1700" dirty="0"/>
          </a:p>
        </p:txBody>
      </p:sp>
      <p:sp>
        <p:nvSpPr>
          <p:cNvPr id="9" name="Shape 7"/>
          <p:cNvSpPr/>
          <p:nvPr/>
        </p:nvSpPr>
        <p:spPr>
          <a:xfrm>
            <a:off x="274320" y="1463040"/>
            <a:ext cx="6675120" cy="749808"/>
          </a:xfrm>
          <a:prstGeom prst="rect">
            <a:avLst/>
          </a:prstGeom>
          <a:solidFill>
            <a:srgbClr val="E3F2FD"/>
          </a:solidFill>
          <a:ln w="19050">
            <a:solidFill>
              <a:srgbClr val="1565C0"/>
            </a:solidFill>
            <a:prstDash val="solid"/>
          </a:ln>
        </p:spPr>
      </p:sp>
      <p:sp>
        <p:nvSpPr>
          <p:cNvPr id="10" name="Shape 8"/>
          <p:cNvSpPr/>
          <p:nvPr/>
        </p:nvSpPr>
        <p:spPr>
          <a:xfrm>
            <a:off x="274320" y="1463040"/>
            <a:ext cx="457200" cy="749808"/>
          </a:xfrm>
          <a:prstGeom prst="rect">
            <a:avLst/>
          </a:prstGeom>
          <a:solidFill>
            <a:srgbClr val="1565C0"/>
          </a:solidFill>
          <a:ln w="12700">
            <a:solidFill>
              <a:srgbClr val="1565C0"/>
            </a:solidFill>
            <a:prstDash val="solid"/>
          </a:ln>
        </p:spPr>
      </p:sp>
      <p:sp>
        <p:nvSpPr>
          <p:cNvPr id="11" name="Text 9"/>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2" name="Text 10"/>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2つの流体（空気や水など）間で熱エネルギーをやり取りする仕組みや装置のこと。冷暖房・換気・給湯・排熱回収など空調システムの多くに利用されている</a:t>
            </a:r>
            <a:endParaRPr lang="en-US" sz="1200" dirty="0"/>
          </a:p>
        </p:txBody>
      </p:sp>
      <p:sp>
        <p:nvSpPr>
          <p:cNvPr id="13" name="Shape 11"/>
          <p:cNvSpPr/>
          <p:nvPr/>
        </p:nvSpPr>
        <p:spPr>
          <a:xfrm>
            <a:off x="274320" y="2331720"/>
            <a:ext cx="6675120" cy="749808"/>
          </a:xfrm>
          <a:prstGeom prst="rect">
            <a:avLst/>
          </a:prstGeom>
          <a:solidFill>
            <a:srgbClr val="F3E5F5"/>
          </a:solidFill>
          <a:ln w="19050">
            <a:solidFill>
              <a:srgbClr val="6A1B9A"/>
            </a:solidFill>
            <a:prstDash val="solid"/>
          </a:ln>
        </p:spPr>
      </p:sp>
      <p:sp>
        <p:nvSpPr>
          <p:cNvPr id="14" name="Shape 12"/>
          <p:cNvSpPr/>
          <p:nvPr/>
        </p:nvSpPr>
        <p:spPr>
          <a:xfrm>
            <a:off x="274320" y="2331720"/>
            <a:ext cx="457200" cy="749808"/>
          </a:xfrm>
          <a:prstGeom prst="rect">
            <a:avLst/>
          </a:prstGeom>
          <a:solidFill>
            <a:srgbClr val="6A1B9A"/>
          </a:solidFill>
          <a:ln w="12700">
            <a:solidFill>
              <a:srgbClr val="6A1B9A"/>
            </a:solidFill>
            <a:prstDash val="solid"/>
          </a:ln>
        </p:spPr>
      </p:sp>
      <p:sp>
        <p:nvSpPr>
          <p:cNvPr id="15" name="Text 13"/>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6" name="Text 14"/>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配管内の流体の温度を維持し、結露・凍結・熱損失を防止するための重要な処理。グラスウール・ロックウールなどの保温材が使われる</a:t>
            </a:r>
            <a:endParaRPr lang="en-US" sz="1200" dirty="0"/>
          </a:p>
        </p:txBody>
      </p:sp>
      <p:sp>
        <p:nvSpPr>
          <p:cNvPr id="17" name="Shape 15"/>
          <p:cNvSpPr/>
          <p:nvPr/>
        </p:nvSpPr>
        <p:spPr>
          <a:xfrm>
            <a:off x="274320" y="3200400"/>
            <a:ext cx="6675120" cy="749808"/>
          </a:xfrm>
          <a:prstGeom prst="rect">
            <a:avLst/>
          </a:prstGeom>
          <a:solidFill>
            <a:srgbClr val="E8F5E9"/>
          </a:solidFill>
          <a:ln w="19050">
            <a:solidFill>
              <a:srgbClr val="1B5E20"/>
            </a:solidFill>
            <a:prstDash val="solid"/>
          </a:ln>
        </p:spPr>
      </p:sp>
      <p:sp>
        <p:nvSpPr>
          <p:cNvPr id="18" name="Shape 16"/>
          <p:cNvSpPr/>
          <p:nvPr/>
        </p:nvSpPr>
        <p:spPr>
          <a:xfrm>
            <a:off x="274320" y="3200400"/>
            <a:ext cx="457200" cy="749808"/>
          </a:xfrm>
          <a:prstGeom prst="rect">
            <a:avLst/>
          </a:prstGeom>
          <a:solidFill>
            <a:srgbClr val="1B5E20"/>
          </a:solidFill>
          <a:ln w="12700">
            <a:solidFill>
              <a:srgbClr val="1B5E20"/>
            </a:solidFill>
            <a:prstDash val="solid"/>
          </a:ln>
        </p:spPr>
      </p:sp>
      <p:sp>
        <p:nvSpPr>
          <p:cNvPr id="19" name="Text 17"/>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0" name="Text 18"/>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部屋全体ではなく特定の場所（スポット）だけを冷やしたり温めたりする空調方式のこと。工場・倉庫・データセンターなどで使われる</a:t>
            </a:r>
            <a:endParaRPr lang="en-US" sz="1200" dirty="0"/>
          </a:p>
        </p:txBody>
      </p:sp>
      <p:sp>
        <p:nvSpPr>
          <p:cNvPr id="21" name="Shape 19"/>
          <p:cNvSpPr/>
          <p:nvPr/>
        </p:nvSpPr>
        <p:spPr>
          <a:xfrm>
            <a:off x="274320" y="4069080"/>
            <a:ext cx="6675120" cy="749808"/>
          </a:xfrm>
          <a:prstGeom prst="rect">
            <a:avLst/>
          </a:prstGeom>
          <a:solidFill>
            <a:srgbClr val="FFEBEE"/>
          </a:solidFill>
          <a:ln w="19050">
            <a:solidFill>
              <a:srgbClr val="B71C1C"/>
            </a:solidFill>
            <a:prstDash val="solid"/>
          </a:ln>
        </p:spPr>
      </p:sp>
      <p:sp>
        <p:nvSpPr>
          <p:cNvPr id="22" name="Shape 20"/>
          <p:cNvSpPr/>
          <p:nvPr/>
        </p:nvSpPr>
        <p:spPr>
          <a:xfrm>
            <a:off x="274320" y="4069080"/>
            <a:ext cx="457200" cy="749808"/>
          </a:xfrm>
          <a:prstGeom prst="rect">
            <a:avLst/>
          </a:prstGeom>
          <a:solidFill>
            <a:srgbClr val="B71C1C"/>
          </a:solidFill>
          <a:ln w="12700">
            <a:solidFill>
              <a:srgbClr val="B71C1C"/>
            </a:solidFill>
            <a:prstDash val="solid"/>
          </a:ln>
        </p:spPr>
      </p:sp>
      <p:sp>
        <p:nvSpPr>
          <p:cNvPr id="23" name="Text 21"/>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4" name="Text 22"/>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排水を一時的に貯留・排出する設備。マンション・商業施設・地下設備などで広く使われ、排水の円滑な処理とポンプによる排出に重要な役割を果たす</a:t>
            </a:r>
            <a:endParaRPr lang="en-US" sz="1200" dirty="0"/>
          </a:p>
        </p:txBody>
      </p:sp>
      <p:sp>
        <p:nvSpPr>
          <p:cNvPr id="25" name="Shape 23"/>
          <p:cNvSpPr/>
          <p:nvPr/>
        </p:nvSpPr>
        <p:spPr>
          <a:xfrm>
            <a:off x="0" y="4983480"/>
            <a:ext cx="9144000" cy="160020"/>
          </a:xfrm>
          <a:prstGeom prst="rect">
            <a:avLst/>
          </a:prstGeom>
          <a:solidFill>
            <a:srgbClr val="2C2C2C"/>
          </a:solidFill>
          <a:ln w="12700">
            <a:solidFill>
              <a:srgbClr val="2C2C2C"/>
            </a:solidFill>
            <a:prstDash val="solid"/>
          </a:ln>
        </p:spPr>
      </p:sp>
      <p:sp>
        <p:nvSpPr>
          <p:cNvPr id="26" name="Text 24"/>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Q30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30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熱交換器</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熱交換器（ねつこうかんき）</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2つの流体（空気や水など）間で熱エネルギーをやり取りする仕組みや装置のこと。冷暖房・換気・給湯・排熱回収など空調システムの多くに利用されている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Q31</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31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屋外の空気（外気）を室内へ取り入れる仕組み。換気・空気の排出などを目的として行われ、室内の空気質を維持するために重要</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外気導入</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送風機</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局所換気</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シール材</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Q31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31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外気導入</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外気導入（がいきどうにゅう）</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屋外の空気（外気）を室内へ取り入れる仕組み。換気・空気の排出などを目的として行われ、室内の空気質を維持するために重要</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Q32</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32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冷房用と暖房用のダクトを別々に設け、季節やゾーンごとに必要な空気（冷風・温風）を供給できる方式のこと</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グレーチング</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換気扇</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風量調整</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二重ダクト方式</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Q32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32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D  二重ダクト方式</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二重ダクト方式（にじゅうだくとほうしき）</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冷房用と暖房用のダクトを別々に設け、季節やゾーンごとに必要な空気（冷風・温風）を供給できる方式のこと</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Q33</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33 / 50</a:t>
            </a:r>
            <a:endParaRPr lang="en-US" sz="1400" dirty="0"/>
          </a:p>
        </p:txBody>
      </p:sp>
      <p:sp>
        <p:nvSpPr>
          <p:cNvPr id="8" name="Text 6"/>
          <p:cNvSpPr/>
          <p:nvPr/>
        </p:nvSpPr>
        <p:spPr>
          <a:xfrm>
            <a:off x="182880" y="804672"/>
            <a:ext cx="877824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「ガスヒートポンプ」の説明として正しいのはどれでしょうか？</a:t>
            </a:r>
            <a:endParaRPr lang="en-US" sz="1700" dirty="0"/>
          </a:p>
        </p:txBody>
      </p:sp>
      <p:sp>
        <p:nvSpPr>
          <p:cNvPr id="9" name="Shape 7"/>
          <p:cNvSpPr/>
          <p:nvPr/>
        </p:nvSpPr>
        <p:spPr>
          <a:xfrm>
            <a:off x="274320" y="1463040"/>
            <a:ext cx="6675120" cy="749808"/>
          </a:xfrm>
          <a:prstGeom prst="rect">
            <a:avLst/>
          </a:prstGeom>
          <a:solidFill>
            <a:srgbClr val="E3F2FD"/>
          </a:solidFill>
          <a:ln w="19050">
            <a:solidFill>
              <a:srgbClr val="1565C0"/>
            </a:solidFill>
            <a:prstDash val="solid"/>
          </a:ln>
        </p:spPr>
      </p:sp>
      <p:sp>
        <p:nvSpPr>
          <p:cNvPr id="10" name="Shape 8"/>
          <p:cNvSpPr/>
          <p:nvPr/>
        </p:nvSpPr>
        <p:spPr>
          <a:xfrm>
            <a:off x="274320" y="1463040"/>
            <a:ext cx="457200" cy="749808"/>
          </a:xfrm>
          <a:prstGeom prst="rect">
            <a:avLst/>
          </a:prstGeom>
          <a:solidFill>
            <a:srgbClr val="1565C0"/>
          </a:solidFill>
          <a:ln w="12700">
            <a:solidFill>
              <a:srgbClr val="1565C0"/>
            </a:solidFill>
            <a:prstDash val="solid"/>
          </a:ln>
        </p:spPr>
      </p:sp>
      <p:sp>
        <p:nvSpPr>
          <p:cNvPr id="11" name="Text 9"/>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2" name="Text 10"/>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水道本管から供給される水を加圧装置や受水槽を使わずに直接建物内に分配する給水方式のこと。水道本管の圧力だけで建物内の給水をまかなう</a:t>
            </a:r>
            <a:endParaRPr lang="en-US" sz="1200" dirty="0"/>
          </a:p>
        </p:txBody>
      </p:sp>
      <p:sp>
        <p:nvSpPr>
          <p:cNvPr id="13" name="Shape 11"/>
          <p:cNvSpPr/>
          <p:nvPr/>
        </p:nvSpPr>
        <p:spPr>
          <a:xfrm>
            <a:off x="274320" y="2331720"/>
            <a:ext cx="6675120" cy="749808"/>
          </a:xfrm>
          <a:prstGeom prst="rect">
            <a:avLst/>
          </a:prstGeom>
          <a:solidFill>
            <a:srgbClr val="F3E5F5"/>
          </a:solidFill>
          <a:ln w="19050">
            <a:solidFill>
              <a:srgbClr val="6A1B9A"/>
            </a:solidFill>
            <a:prstDash val="solid"/>
          </a:ln>
        </p:spPr>
      </p:sp>
      <p:sp>
        <p:nvSpPr>
          <p:cNvPr id="14" name="Shape 12"/>
          <p:cNvSpPr/>
          <p:nvPr/>
        </p:nvSpPr>
        <p:spPr>
          <a:xfrm>
            <a:off x="274320" y="2331720"/>
            <a:ext cx="457200" cy="749808"/>
          </a:xfrm>
          <a:prstGeom prst="rect">
            <a:avLst/>
          </a:prstGeom>
          <a:solidFill>
            <a:srgbClr val="6A1B9A"/>
          </a:solidFill>
          <a:ln w="12700">
            <a:solidFill>
              <a:srgbClr val="6A1B9A"/>
            </a:solidFill>
            <a:prstDash val="solid"/>
          </a:ln>
        </p:spPr>
      </p:sp>
      <p:sp>
        <p:nvSpPr>
          <p:cNvPr id="15" name="Text 13"/>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6" name="Text 14"/>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ガスエンジンでコンプレッサーを動かし、ヒートポンプ方式で冷暖房を行う空調機器。電力ピーク抑制や省エネ効果がある</a:t>
            </a:r>
            <a:endParaRPr lang="en-US" sz="1200" dirty="0"/>
          </a:p>
        </p:txBody>
      </p:sp>
      <p:sp>
        <p:nvSpPr>
          <p:cNvPr id="17" name="Shape 15"/>
          <p:cNvSpPr/>
          <p:nvPr/>
        </p:nvSpPr>
        <p:spPr>
          <a:xfrm>
            <a:off x="274320" y="3200400"/>
            <a:ext cx="6675120" cy="749808"/>
          </a:xfrm>
          <a:prstGeom prst="rect">
            <a:avLst/>
          </a:prstGeom>
          <a:solidFill>
            <a:srgbClr val="E8F5E9"/>
          </a:solidFill>
          <a:ln w="19050">
            <a:solidFill>
              <a:srgbClr val="1B5E20"/>
            </a:solidFill>
            <a:prstDash val="solid"/>
          </a:ln>
        </p:spPr>
      </p:sp>
      <p:sp>
        <p:nvSpPr>
          <p:cNvPr id="18" name="Shape 16"/>
          <p:cNvSpPr/>
          <p:nvPr/>
        </p:nvSpPr>
        <p:spPr>
          <a:xfrm>
            <a:off x="274320" y="3200400"/>
            <a:ext cx="457200" cy="749808"/>
          </a:xfrm>
          <a:prstGeom prst="rect">
            <a:avLst/>
          </a:prstGeom>
          <a:solidFill>
            <a:srgbClr val="1B5E20"/>
          </a:solidFill>
          <a:ln w="12700">
            <a:solidFill>
              <a:srgbClr val="1B5E20"/>
            </a:solidFill>
            <a:prstDash val="solid"/>
          </a:ln>
        </p:spPr>
      </p:sp>
      <p:sp>
        <p:nvSpPr>
          <p:cNvPr id="19" name="Text 17"/>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0" name="Text 18"/>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建物や設備から出る熱を空気と水を使って外に逃がすための装置。主にビル空調（中央式空調）や工場設備など大型の冷却が必要な場面で使われる</a:t>
            </a:r>
            <a:endParaRPr lang="en-US" sz="1200" dirty="0"/>
          </a:p>
        </p:txBody>
      </p:sp>
      <p:sp>
        <p:nvSpPr>
          <p:cNvPr id="21" name="Shape 19"/>
          <p:cNvSpPr/>
          <p:nvPr/>
        </p:nvSpPr>
        <p:spPr>
          <a:xfrm>
            <a:off x="274320" y="4069080"/>
            <a:ext cx="6675120" cy="749808"/>
          </a:xfrm>
          <a:prstGeom prst="rect">
            <a:avLst/>
          </a:prstGeom>
          <a:solidFill>
            <a:srgbClr val="FFEBEE"/>
          </a:solidFill>
          <a:ln w="19050">
            <a:solidFill>
              <a:srgbClr val="B71C1C"/>
            </a:solidFill>
            <a:prstDash val="solid"/>
          </a:ln>
        </p:spPr>
      </p:sp>
      <p:sp>
        <p:nvSpPr>
          <p:cNvPr id="22" name="Shape 20"/>
          <p:cNvSpPr/>
          <p:nvPr/>
        </p:nvSpPr>
        <p:spPr>
          <a:xfrm>
            <a:off x="274320" y="4069080"/>
            <a:ext cx="457200" cy="749808"/>
          </a:xfrm>
          <a:prstGeom prst="rect">
            <a:avLst/>
          </a:prstGeom>
          <a:solidFill>
            <a:srgbClr val="B71C1C"/>
          </a:solidFill>
          <a:ln w="12700">
            <a:solidFill>
              <a:srgbClr val="B71C1C"/>
            </a:solidFill>
            <a:prstDash val="solid"/>
          </a:ln>
        </p:spPr>
      </p:sp>
      <p:sp>
        <p:nvSpPr>
          <p:cNvPr id="23" name="Text 21"/>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4" name="Text 22"/>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壁・床・天井などに配管やダクトを通すためにあらかじめ設ける穴あけ用の筒（さや管）のこと</a:t>
            </a:r>
            <a:endParaRPr lang="en-US" sz="1200" dirty="0"/>
          </a:p>
        </p:txBody>
      </p:sp>
      <p:sp>
        <p:nvSpPr>
          <p:cNvPr id="25" name="Shape 23"/>
          <p:cNvSpPr/>
          <p:nvPr/>
        </p:nvSpPr>
        <p:spPr>
          <a:xfrm>
            <a:off x="0" y="4983480"/>
            <a:ext cx="9144000" cy="160020"/>
          </a:xfrm>
          <a:prstGeom prst="rect">
            <a:avLst/>
          </a:prstGeom>
          <a:solidFill>
            <a:srgbClr val="2C2C2C"/>
          </a:solidFill>
          <a:ln w="12700">
            <a:solidFill>
              <a:srgbClr val="2C2C2C"/>
            </a:solidFill>
            <a:prstDash val="solid"/>
          </a:ln>
        </p:spPr>
      </p:sp>
      <p:sp>
        <p:nvSpPr>
          <p:cNvPr id="26" name="Text 24"/>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Q33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33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B  ガスヒートポンプ</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ガスヒートポンプ（がすひーとぽんぷ）</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ガスエンジンでコンプレッサーを動かし、ヒートポンプ方式で冷暖房を行う空調機器。電力ピーク抑制や省エネ効果がある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Q34</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34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エアコンの室外に設置するユニット。圧縮機・熱交換器・ファンなどが内蔵されており、室内機と冷媒配管でつながれている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室外機</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エネルギー効率</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換気</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フィルター</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Q34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34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室外機</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室外機（しつがいき）</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エアコンの室外に設置するユニット。圧縮機・熱交換器・ファンなどが内蔵されており、室内機と冷媒配管でつながれている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Q35</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35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天井に設置される扇風機（ファン）。空気の循環や換気を補助する装置として用いられる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塩ビ管</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天井扇</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ヒートポンプ</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チラー</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Q35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35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B  天井扇</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天井扇（てんじょうせん）</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天井に設置される扇風機（ファン）。空気の循環や換気を補助する装置として用いられる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Q36</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36 / 50</a:t>
            </a:r>
            <a:endParaRPr lang="en-US" sz="1400" dirty="0"/>
          </a:p>
        </p:txBody>
      </p:sp>
      <p:sp>
        <p:nvSpPr>
          <p:cNvPr id="8" name="Text 6"/>
          <p:cNvSpPr/>
          <p:nvPr/>
        </p:nvSpPr>
        <p:spPr>
          <a:xfrm>
            <a:off x="182880" y="804672"/>
            <a:ext cx="877824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「給水」の説明として正しいのはどれでしょうか？</a:t>
            </a:r>
            <a:endParaRPr lang="en-US" sz="1700" dirty="0"/>
          </a:p>
        </p:txBody>
      </p:sp>
      <p:sp>
        <p:nvSpPr>
          <p:cNvPr id="9" name="Shape 7"/>
          <p:cNvSpPr/>
          <p:nvPr/>
        </p:nvSpPr>
        <p:spPr>
          <a:xfrm>
            <a:off x="274320" y="1463040"/>
            <a:ext cx="6675120" cy="749808"/>
          </a:xfrm>
          <a:prstGeom prst="rect">
            <a:avLst/>
          </a:prstGeom>
          <a:solidFill>
            <a:srgbClr val="E3F2FD"/>
          </a:solidFill>
          <a:ln w="19050">
            <a:solidFill>
              <a:srgbClr val="1565C0"/>
            </a:solidFill>
            <a:prstDash val="solid"/>
          </a:ln>
        </p:spPr>
      </p:sp>
      <p:sp>
        <p:nvSpPr>
          <p:cNvPr id="10" name="Shape 8"/>
          <p:cNvSpPr/>
          <p:nvPr/>
        </p:nvSpPr>
        <p:spPr>
          <a:xfrm>
            <a:off x="274320" y="1463040"/>
            <a:ext cx="457200" cy="749808"/>
          </a:xfrm>
          <a:prstGeom prst="rect">
            <a:avLst/>
          </a:prstGeom>
          <a:solidFill>
            <a:srgbClr val="1565C0"/>
          </a:solidFill>
          <a:ln w="12700">
            <a:solidFill>
              <a:srgbClr val="1565C0"/>
            </a:solidFill>
            <a:prstDash val="solid"/>
          </a:ln>
        </p:spPr>
      </p:sp>
      <p:sp>
        <p:nvSpPr>
          <p:cNvPr id="11" name="Text 9"/>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2" name="Text 10"/>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水を高圧で噴射することで付着した汚れやスケール・詰まりを除去する装置。配管・排水設備や空調機器の洗浄・メンテナンスに使用される清掃用機器</a:t>
            </a:r>
            <a:endParaRPr lang="en-US" sz="1200" dirty="0"/>
          </a:p>
        </p:txBody>
      </p:sp>
      <p:sp>
        <p:nvSpPr>
          <p:cNvPr id="13" name="Shape 11"/>
          <p:cNvSpPr/>
          <p:nvPr/>
        </p:nvSpPr>
        <p:spPr>
          <a:xfrm>
            <a:off x="274320" y="2331720"/>
            <a:ext cx="6675120" cy="749808"/>
          </a:xfrm>
          <a:prstGeom prst="rect">
            <a:avLst/>
          </a:prstGeom>
          <a:solidFill>
            <a:srgbClr val="F3E5F5"/>
          </a:solidFill>
          <a:ln w="19050">
            <a:solidFill>
              <a:srgbClr val="6A1B9A"/>
            </a:solidFill>
            <a:prstDash val="solid"/>
          </a:ln>
        </p:spPr>
      </p:sp>
      <p:sp>
        <p:nvSpPr>
          <p:cNvPr id="14" name="Shape 12"/>
          <p:cNvSpPr/>
          <p:nvPr/>
        </p:nvSpPr>
        <p:spPr>
          <a:xfrm>
            <a:off x="274320" y="2331720"/>
            <a:ext cx="457200" cy="749808"/>
          </a:xfrm>
          <a:prstGeom prst="rect">
            <a:avLst/>
          </a:prstGeom>
          <a:solidFill>
            <a:srgbClr val="6A1B9A"/>
          </a:solidFill>
          <a:ln w="12700">
            <a:solidFill>
              <a:srgbClr val="6A1B9A"/>
            </a:solidFill>
            <a:prstDash val="solid"/>
          </a:ln>
        </p:spPr>
      </p:sp>
      <p:sp>
        <p:nvSpPr>
          <p:cNvPr id="15" name="Text 13"/>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6" name="Text 14"/>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空気中の水蒸気が冷たい表面に触れて水滴となって現れる現象。空調設備や配管まわりで頻繁に発生し、カビや腐食の原因となることがある</a:t>
            </a:r>
            <a:endParaRPr lang="en-US" sz="1200" dirty="0"/>
          </a:p>
        </p:txBody>
      </p:sp>
      <p:sp>
        <p:nvSpPr>
          <p:cNvPr id="17" name="Shape 15"/>
          <p:cNvSpPr/>
          <p:nvPr/>
        </p:nvSpPr>
        <p:spPr>
          <a:xfrm>
            <a:off x="274320" y="3200400"/>
            <a:ext cx="6675120" cy="749808"/>
          </a:xfrm>
          <a:prstGeom prst="rect">
            <a:avLst/>
          </a:prstGeom>
          <a:solidFill>
            <a:srgbClr val="E8F5E9"/>
          </a:solidFill>
          <a:ln w="19050">
            <a:solidFill>
              <a:srgbClr val="1B5E20"/>
            </a:solidFill>
            <a:prstDash val="solid"/>
          </a:ln>
        </p:spPr>
      </p:sp>
      <p:sp>
        <p:nvSpPr>
          <p:cNvPr id="18" name="Shape 16"/>
          <p:cNvSpPr/>
          <p:nvPr/>
        </p:nvSpPr>
        <p:spPr>
          <a:xfrm>
            <a:off x="274320" y="3200400"/>
            <a:ext cx="457200" cy="749808"/>
          </a:xfrm>
          <a:prstGeom prst="rect">
            <a:avLst/>
          </a:prstGeom>
          <a:solidFill>
            <a:srgbClr val="1B5E20"/>
          </a:solidFill>
          <a:ln w="12700">
            <a:solidFill>
              <a:srgbClr val="1B5E20"/>
            </a:solidFill>
            <a:prstDash val="solid"/>
          </a:ln>
        </p:spPr>
      </p:sp>
      <p:sp>
        <p:nvSpPr>
          <p:cNvPr id="19" name="Text 17"/>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0" name="Text 18"/>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建物や施設にて、清潔で安全な飲料水の供給を確保するもの。水道から建物内の各所へ水を届けるための設備・配管系統全体を指す</a:t>
            </a:r>
            <a:endParaRPr lang="en-US" sz="1200" dirty="0"/>
          </a:p>
        </p:txBody>
      </p:sp>
      <p:sp>
        <p:nvSpPr>
          <p:cNvPr id="21" name="Shape 19"/>
          <p:cNvSpPr/>
          <p:nvPr/>
        </p:nvSpPr>
        <p:spPr>
          <a:xfrm>
            <a:off x="274320" y="4069080"/>
            <a:ext cx="6675120" cy="749808"/>
          </a:xfrm>
          <a:prstGeom prst="rect">
            <a:avLst/>
          </a:prstGeom>
          <a:solidFill>
            <a:srgbClr val="FFEBEE"/>
          </a:solidFill>
          <a:ln w="19050">
            <a:solidFill>
              <a:srgbClr val="B71C1C"/>
            </a:solidFill>
            <a:prstDash val="solid"/>
          </a:ln>
        </p:spPr>
      </p:sp>
      <p:sp>
        <p:nvSpPr>
          <p:cNvPr id="22" name="Shape 20"/>
          <p:cNvSpPr/>
          <p:nvPr/>
        </p:nvSpPr>
        <p:spPr>
          <a:xfrm>
            <a:off x="274320" y="4069080"/>
            <a:ext cx="457200" cy="749808"/>
          </a:xfrm>
          <a:prstGeom prst="rect">
            <a:avLst/>
          </a:prstGeom>
          <a:solidFill>
            <a:srgbClr val="B71C1C"/>
          </a:solidFill>
          <a:ln w="12700">
            <a:solidFill>
              <a:srgbClr val="B71C1C"/>
            </a:solidFill>
            <a:prstDash val="solid"/>
          </a:ln>
        </p:spPr>
      </p:sp>
      <p:sp>
        <p:nvSpPr>
          <p:cNvPr id="23" name="Text 21"/>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4" name="Text 22"/>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少ない電力で大きな熱エネルギーを移動させる技術。空気中の熱を取り込んで冷暖房や給湯に利用する省エネ設備</a:t>
            </a:r>
            <a:endParaRPr lang="en-US" sz="1200" dirty="0"/>
          </a:p>
        </p:txBody>
      </p:sp>
      <p:sp>
        <p:nvSpPr>
          <p:cNvPr id="25" name="Shape 23"/>
          <p:cNvSpPr/>
          <p:nvPr/>
        </p:nvSpPr>
        <p:spPr>
          <a:xfrm>
            <a:off x="0" y="4983480"/>
            <a:ext cx="9144000" cy="160020"/>
          </a:xfrm>
          <a:prstGeom prst="rect">
            <a:avLst/>
          </a:prstGeom>
          <a:solidFill>
            <a:srgbClr val="2C2C2C"/>
          </a:solidFill>
          <a:ln w="12700">
            <a:solidFill>
              <a:srgbClr val="2C2C2C"/>
            </a:solidFill>
            <a:prstDash val="solid"/>
          </a:ln>
        </p:spPr>
      </p:sp>
      <p:sp>
        <p:nvSpPr>
          <p:cNvPr id="26" name="Text 24"/>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Q36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36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C  給水</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給水（きゅうすい）</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建物や施設にて、清潔で安全な飲料水の供給を確保するもの。水道から建物内の各所へ水を届けるための設備・配管系統全体を指す</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Q37</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37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流体（水・ガス・空気・蒸気など）を目的の場所に輸送するためのパイプや管のシステム全体のこと。空調・衛生・プラントなど幅広い設備に使われる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排気ファン</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風量計測</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熱交換器</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配管</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Q37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37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D  配管</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配管（はいかん）</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流体（水・ガス・空気・蒸気など）を目的の場所に輸送するためのパイプや管のシステム全体のこと。空調・衛生・プラントなど幅広い設備に使われる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Q38</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38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使用済みの水や不要な水を建物や施設から外部へ排出すること。汚水・雑排水・雨水などの種類があり、適切な処理が求められる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結露</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排水</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ダンパー</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換気</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Q38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38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B  排水</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排水（はいすい）</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使用済みの水や不要な水を建物や施設から外部へ排出すること。汚水・雑排水・雨水などの種類があり、適切な処理が求められる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Q39</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39 / 50</a:t>
            </a:r>
            <a:endParaRPr lang="en-US" sz="1400" dirty="0"/>
          </a:p>
        </p:txBody>
      </p:sp>
      <p:sp>
        <p:nvSpPr>
          <p:cNvPr id="8" name="Text 6"/>
          <p:cNvSpPr/>
          <p:nvPr/>
        </p:nvSpPr>
        <p:spPr>
          <a:xfrm>
            <a:off x="182880" y="804672"/>
            <a:ext cx="877824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「バルブ」の説明として正しいのはどれでしょうか？</a:t>
            </a:r>
            <a:endParaRPr lang="en-US" sz="1700" dirty="0"/>
          </a:p>
        </p:txBody>
      </p:sp>
      <p:sp>
        <p:nvSpPr>
          <p:cNvPr id="9" name="Shape 7"/>
          <p:cNvSpPr/>
          <p:nvPr/>
        </p:nvSpPr>
        <p:spPr>
          <a:xfrm>
            <a:off x="274320" y="1463040"/>
            <a:ext cx="6675120" cy="749808"/>
          </a:xfrm>
          <a:prstGeom prst="rect">
            <a:avLst/>
          </a:prstGeom>
          <a:solidFill>
            <a:srgbClr val="E3F2FD"/>
          </a:solidFill>
          <a:ln w="19050">
            <a:solidFill>
              <a:srgbClr val="1565C0"/>
            </a:solidFill>
            <a:prstDash val="solid"/>
          </a:ln>
        </p:spPr>
      </p:sp>
      <p:sp>
        <p:nvSpPr>
          <p:cNvPr id="10" name="Shape 8"/>
          <p:cNvSpPr/>
          <p:nvPr/>
        </p:nvSpPr>
        <p:spPr>
          <a:xfrm>
            <a:off x="274320" y="1463040"/>
            <a:ext cx="457200" cy="749808"/>
          </a:xfrm>
          <a:prstGeom prst="rect">
            <a:avLst/>
          </a:prstGeom>
          <a:solidFill>
            <a:srgbClr val="1565C0"/>
          </a:solidFill>
          <a:ln w="12700">
            <a:solidFill>
              <a:srgbClr val="1565C0"/>
            </a:solidFill>
            <a:prstDash val="solid"/>
          </a:ln>
        </p:spPr>
      </p:sp>
      <p:sp>
        <p:nvSpPr>
          <p:cNvPr id="11" name="Text 9"/>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2" name="Text 10"/>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2つの流体（空気や水など）間で熱エネルギーをやり取りする仕組みや装置のこと。冷暖房・換気・給湯・排熱回収など空調システムの多くに利用されている</a:t>
            </a:r>
            <a:endParaRPr lang="en-US" sz="1200" dirty="0"/>
          </a:p>
        </p:txBody>
      </p:sp>
      <p:sp>
        <p:nvSpPr>
          <p:cNvPr id="13" name="Shape 11"/>
          <p:cNvSpPr/>
          <p:nvPr/>
        </p:nvSpPr>
        <p:spPr>
          <a:xfrm>
            <a:off x="274320" y="2331720"/>
            <a:ext cx="6675120" cy="749808"/>
          </a:xfrm>
          <a:prstGeom prst="rect">
            <a:avLst/>
          </a:prstGeom>
          <a:solidFill>
            <a:srgbClr val="F3E5F5"/>
          </a:solidFill>
          <a:ln w="19050">
            <a:solidFill>
              <a:srgbClr val="6A1B9A"/>
            </a:solidFill>
            <a:prstDash val="solid"/>
          </a:ln>
        </p:spPr>
      </p:sp>
      <p:sp>
        <p:nvSpPr>
          <p:cNvPr id="14" name="Shape 12"/>
          <p:cNvSpPr/>
          <p:nvPr/>
        </p:nvSpPr>
        <p:spPr>
          <a:xfrm>
            <a:off x="274320" y="2331720"/>
            <a:ext cx="457200" cy="749808"/>
          </a:xfrm>
          <a:prstGeom prst="rect">
            <a:avLst/>
          </a:prstGeom>
          <a:solidFill>
            <a:srgbClr val="6A1B9A"/>
          </a:solidFill>
          <a:ln w="12700">
            <a:solidFill>
              <a:srgbClr val="6A1B9A"/>
            </a:solidFill>
            <a:prstDash val="solid"/>
          </a:ln>
        </p:spPr>
      </p:sp>
      <p:sp>
        <p:nvSpPr>
          <p:cNvPr id="15" name="Text 13"/>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6" name="Text 14"/>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水・空気・冷媒・ガスなどの流体を制御・遮断・調整するための機器。開閉・流量制御・逆流防止など様々な用途に使われる</a:t>
            </a:r>
            <a:endParaRPr lang="en-US" sz="1200" dirty="0"/>
          </a:p>
        </p:txBody>
      </p:sp>
      <p:sp>
        <p:nvSpPr>
          <p:cNvPr id="17" name="Shape 15"/>
          <p:cNvSpPr/>
          <p:nvPr/>
        </p:nvSpPr>
        <p:spPr>
          <a:xfrm>
            <a:off x="274320" y="3200400"/>
            <a:ext cx="6675120" cy="749808"/>
          </a:xfrm>
          <a:prstGeom prst="rect">
            <a:avLst/>
          </a:prstGeom>
          <a:solidFill>
            <a:srgbClr val="E8F5E9"/>
          </a:solidFill>
          <a:ln w="19050">
            <a:solidFill>
              <a:srgbClr val="1B5E20"/>
            </a:solidFill>
            <a:prstDash val="solid"/>
          </a:ln>
        </p:spPr>
      </p:sp>
      <p:sp>
        <p:nvSpPr>
          <p:cNvPr id="18" name="Shape 16"/>
          <p:cNvSpPr/>
          <p:nvPr/>
        </p:nvSpPr>
        <p:spPr>
          <a:xfrm>
            <a:off x="274320" y="3200400"/>
            <a:ext cx="457200" cy="749808"/>
          </a:xfrm>
          <a:prstGeom prst="rect">
            <a:avLst/>
          </a:prstGeom>
          <a:solidFill>
            <a:srgbClr val="1B5E20"/>
          </a:solidFill>
          <a:ln w="12700">
            <a:solidFill>
              <a:srgbClr val="1B5E20"/>
            </a:solidFill>
            <a:prstDash val="solid"/>
          </a:ln>
        </p:spPr>
      </p:sp>
      <p:sp>
        <p:nvSpPr>
          <p:cNvPr id="19" name="Text 17"/>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0" name="Text 18"/>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部屋全体ではなく特定の場所（スポット）だけを冷やしたり温めたりする空調方式のこと。工場・倉庫・データセンターなどで使われる</a:t>
            </a:r>
            <a:endParaRPr lang="en-US" sz="1200" dirty="0"/>
          </a:p>
        </p:txBody>
      </p:sp>
      <p:sp>
        <p:nvSpPr>
          <p:cNvPr id="21" name="Shape 19"/>
          <p:cNvSpPr/>
          <p:nvPr/>
        </p:nvSpPr>
        <p:spPr>
          <a:xfrm>
            <a:off x="274320" y="4069080"/>
            <a:ext cx="6675120" cy="749808"/>
          </a:xfrm>
          <a:prstGeom prst="rect">
            <a:avLst/>
          </a:prstGeom>
          <a:solidFill>
            <a:srgbClr val="FFEBEE"/>
          </a:solidFill>
          <a:ln w="19050">
            <a:solidFill>
              <a:srgbClr val="B71C1C"/>
            </a:solidFill>
            <a:prstDash val="solid"/>
          </a:ln>
        </p:spPr>
      </p:sp>
      <p:sp>
        <p:nvSpPr>
          <p:cNvPr id="22" name="Shape 20"/>
          <p:cNvSpPr/>
          <p:nvPr/>
        </p:nvSpPr>
        <p:spPr>
          <a:xfrm>
            <a:off x="274320" y="4069080"/>
            <a:ext cx="457200" cy="749808"/>
          </a:xfrm>
          <a:prstGeom prst="rect">
            <a:avLst/>
          </a:prstGeom>
          <a:solidFill>
            <a:srgbClr val="B71C1C"/>
          </a:solidFill>
          <a:ln w="12700">
            <a:solidFill>
              <a:srgbClr val="B71C1C"/>
            </a:solidFill>
            <a:prstDash val="solid"/>
          </a:ln>
        </p:spPr>
      </p:sp>
      <p:sp>
        <p:nvSpPr>
          <p:cNvPr id="23" name="Text 21"/>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4" name="Text 22"/>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流体（水・ガス・空気・蒸気など）を目的の場所に輸送するためのパイプや管のシステム全体のこと。空調・衛生・プラントなど幅広い設備に使われる</a:t>
            </a:r>
            <a:endParaRPr lang="en-US" sz="1200" dirty="0"/>
          </a:p>
        </p:txBody>
      </p:sp>
      <p:sp>
        <p:nvSpPr>
          <p:cNvPr id="25" name="Shape 23"/>
          <p:cNvSpPr/>
          <p:nvPr/>
        </p:nvSpPr>
        <p:spPr>
          <a:xfrm>
            <a:off x="0" y="4983480"/>
            <a:ext cx="9144000" cy="160020"/>
          </a:xfrm>
          <a:prstGeom prst="rect">
            <a:avLst/>
          </a:prstGeom>
          <a:solidFill>
            <a:srgbClr val="2C2C2C"/>
          </a:solidFill>
          <a:ln w="12700">
            <a:solidFill>
              <a:srgbClr val="2C2C2C"/>
            </a:solidFill>
            <a:prstDash val="solid"/>
          </a:ln>
        </p:spPr>
      </p:sp>
      <p:sp>
        <p:nvSpPr>
          <p:cNvPr id="26" name="Text 24"/>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Q39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39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B  バルブ</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バルブ（ばるぶ）</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水・空気・冷媒・ガスなどの流体を制御・遮断・調整するための機器。開閉・流量制御・逆流防止など様々な用途に使われる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Q40</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40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下水道が整備されていない地域で家庭や施設の汚水を処理するための設備。微生物の力を使って汚水を浄化し、放流水の水質を保つ</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浄化槽</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ヒートポンプ</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結露</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直結給水方式</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Q40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40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浄化槽</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浄化槽（じょうかそう）</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下水道が整備されていない地域で家庭や施設の汚水を処理するための設備。微生物の力を使って汚水を浄化し、放流水の水質を保つ</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Q41</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41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配管内の流体の温度を維持し、結露・凍結・熱損失を防止するための重要な処理。グラスウール・ロックウールなどの保温材が使われる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ガスヒートポンプ</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配管保温</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エアフィルター</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ダンパー</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Q41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41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B  配管保温</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配管保温（はいかんほおん）</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配管内の流体の温度を維持し、結露・凍結・熱損失を防止するための重要な処理。グラスウール・ロックウールなどの保温材が使われる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Q42</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42 / 50</a:t>
            </a:r>
            <a:endParaRPr lang="en-US" sz="1400" dirty="0"/>
          </a:p>
        </p:txBody>
      </p:sp>
      <p:sp>
        <p:nvSpPr>
          <p:cNvPr id="8" name="Text 6"/>
          <p:cNvSpPr/>
          <p:nvPr/>
        </p:nvSpPr>
        <p:spPr>
          <a:xfrm>
            <a:off x="182880" y="804672"/>
            <a:ext cx="877824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「排気ファン」の説明として正しいのはどれでしょうか？</a:t>
            </a:r>
            <a:endParaRPr lang="en-US" sz="1700" dirty="0"/>
          </a:p>
        </p:txBody>
      </p:sp>
      <p:sp>
        <p:nvSpPr>
          <p:cNvPr id="9" name="Shape 7"/>
          <p:cNvSpPr/>
          <p:nvPr/>
        </p:nvSpPr>
        <p:spPr>
          <a:xfrm>
            <a:off x="274320" y="1463040"/>
            <a:ext cx="6675120" cy="749808"/>
          </a:xfrm>
          <a:prstGeom prst="rect">
            <a:avLst/>
          </a:prstGeom>
          <a:solidFill>
            <a:srgbClr val="E3F2FD"/>
          </a:solidFill>
          <a:ln w="19050">
            <a:solidFill>
              <a:srgbClr val="1565C0"/>
            </a:solidFill>
            <a:prstDash val="solid"/>
          </a:ln>
        </p:spPr>
      </p:sp>
      <p:sp>
        <p:nvSpPr>
          <p:cNvPr id="10" name="Shape 8"/>
          <p:cNvSpPr/>
          <p:nvPr/>
        </p:nvSpPr>
        <p:spPr>
          <a:xfrm>
            <a:off x="274320" y="1463040"/>
            <a:ext cx="457200" cy="749808"/>
          </a:xfrm>
          <a:prstGeom prst="rect">
            <a:avLst/>
          </a:prstGeom>
          <a:solidFill>
            <a:srgbClr val="1565C0"/>
          </a:solidFill>
          <a:ln w="12700">
            <a:solidFill>
              <a:srgbClr val="1565C0"/>
            </a:solidFill>
            <a:prstDash val="solid"/>
          </a:ln>
        </p:spPr>
      </p:sp>
      <p:sp>
        <p:nvSpPr>
          <p:cNvPr id="11" name="Text 9"/>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2" name="Text 10"/>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建物内の汚れた空気・臭気・有害ガスなどを屋外へ排出するためのファン。トイレ・厨房・駐車場などに設置される</a:t>
            </a:r>
            <a:endParaRPr lang="en-US" sz="1200" dirty="0"/>
          </a:p>
        </p:txBody>
      </p:sp>
      <p:sp>
        <p:nvSpPr>
          <p:cNvPr id="13" name="Shape 11"/>
          <p:cNvSpPr/>
          <p:nvPr/>
        </p:nvSpPr>
        <p:spPr>
          <a:xfrm>
            <a:off x="274320" y="2331720"/>
            <a:ext cx="6675120" cy="749808"/>
          </a:xfrm>
          <a:prstGeom prst="rect">
            <a:avLst/>
          </a:prstGeom>
          <a:solidFill>
            <a:srgbClr val="F3E5F5"/>
          </a:solidFill>
          <a:ln w="19050">
            <a:solidFill>
              <a:srgbClr val="6A1B9A"/>
            </a:solidFill>
            <a:prstDash val="solid"/>
          </a:ln>
        </p:spPr>
      </p:sp>
      <p:sp>
        <p:nvSpPr>
          <p:cNvPr id="14" name="Shape 12"/>
          <p:cNvSpPr/>
          <p:nvPr/>
        </p:nvSpPr>
        <p:spPr>
          <a:xfrm>
            <a:off x="274320" y="2331720"/>
            <a:ext cx="457200" cy="749808"/>
          </a:xfrm>
          <a:prstGeom prst="rect">
            <a:avLst/>
          </a:prstGeom>
          <a:solidFill>
            <a:srgbClr val="6A1B9A"/>
          </a:solidFill>
          <a:ln w="12700">
            <a:solidFill>
              <a:srgbClr val="6A1B9A"/>
            </a:solidFill>
            <a:prstDash val="solid"/>
          </a:ln>
        </p:spPr>
      </p:sp>
      <p:sp>
        <p:nvSpPr>
          <p:cNvPr id="15" name="Text 13"/>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6" name="Text 14"/>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空調や換気システムにおいて使用される用語。給気は新鮮な外気を室内に送り込むこと、排気は室内の汚れた空気を外部に排出することを指す</a:t>
            </a:r>
            <a:endParaRPr lang="en-US" sz="1200" dirty="0"/>
          </a:p>
        </p:txBody>
      </p:sp>
      <p:sp>
        <p:nvSpPr>
          <p:cNvPr id="17" name="Shape 15"/>
          <p:cNvSpPr/>
          <p:nvPr/>
        </p:nvSpPr>
        <p:spPr>
          <a:xfrm>
            <a:off x="274320" y="3200400"/>
            <a:ext cx="6675120" cy="749808"/>
          </a:xfrm>
          <a:prstGeom prst="rect">
            <a:avLst/>
          </a:prstGeom>
          <a:solidFill>
            <a:srgbClr val="E8F5E9"/>
          </a:solidFill>
          <a:ln w="19050">
            <a:solidFill>
              <a:srgbClr val="1B5E20"/>
            </a:solidFill>
            <a:prstDash val="solid"/>
          </a:ln>
        </p:spPr>
      </p:sp>
      <p:sp>
        <p:nvSpPr>
          <p:cNvPr id="18" name="Shape 16"/>
          <p:cNvSpPr/>
          <p:nvPr/>
        </p:nvSpPr>
        <p:spPr>
          <a:xfrm>
            <a:off x="274320" y="3200400"/>
            <a:ext cx="457200" cy="749808"/>
          </a:xfrm>
          <a:prstGeom prst="rect">
            <a:avLst/>
          </a:prstGeom>
          <a:solidFill>
            <a:srgbClr val="1B5E20"/>
          </a:solidFill>
          <a:ln w="12700">
            <a:solidFill>
              <a:srgbClr val="1B5E20"/>
            </a:solidFill>
            <a:prstDash val="solid"/>
          </a:ln>
        </p:spPr>
      </p:sp>
      <p:sp>
        <p:nvSpPr>
          <p:cNvPr id="19" name="Text 17"/>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0" name="Text 18"/>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配管の継手（つなぎ目）部品。エルボは配管の方向を曲げるための部品、チーズは配管をT字形に分岐させるための部品</a:t>
            </a:r>
            <a:endParaRPr lang="en-US" sz="1200" dirty="0"/>
          </a:p>
        </p:txBody>
      </p:sp>
      <p:sp>
        <p:nvSpPr>
          <p:cNvPr id="21" name="Shape 19"/>
          <p:cNvSpPr/>
          <p:nvPr/>
        </p:nvSpPr>
        <p:spPr>
          <a:xfrm>
            <a:off x="274320" y="4069080"/>
            <a:ext cx="6675120" cy="749808"/>
          </a:xfrm>
          <a:prstGeom prst="rect">
            <a:avLst/>
          </a:prstGeom>
          <a:solidFill>
            <a:srgbClr val="FFEBEE"/>
          </a:solidFill>
          <a:ln w="19050">
            <a:solidFill>
              <a:srgbClr val="B71C1C"/>
            </a:solidFill>
            <a:prstDash val="solid"/>
          </a:ln>
        </p:spPr>
      </p:sp>
      <p:sp>
        <p:nvSpPr>
          <p:cNvPr id="22" name="Shape 20"/>
          <p:cNvSpPr/>
          <p:nvPr/>
        </p:nvSpPr>
        <p:spPr>
          <a:xfrm>
            <a:off x="274320" y="4069080"/>
            <a:ext cx="457200" cy="749808"/>
          </a:xfrm>
          <a:prstGeom prst="rect">
            <a:avLst/>
          </a:prstGeom>
          <a:solidFill>
            <a:srgbClr val="B71C1C"/>
          </a:solidFill>
          <a:ln w="12700">
            <a:solidFill>
              <a:srgbClr val="B71C1C"/>
            </a:solidFill>
            <a:prstDash val="solid"/>
          </a:ln>
        </p:spPr>
      </p:sp>
      <p:sp>
        <p:nvSpPr>
          <p:cNvPr id="23" name="Text 21"/>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4" name="Text 22"/>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水道本管から供給される水を加圧装置や受水槽を使わずに直接建物内に分配する給水方式のこと。水道本管の圧力だけで建物内の給水をまかなう</a:t>
            </a:r>
            <a:endParaRPr lang="en-US" sz="1200" dirty="0"/>
          </a:p>
        </p:txBody>
      </p:sp>
      <p:sp>
        <p:nvSpPr>
          <p:cNvPr id="25" name="Shape 23"/>
          <p:cNvSpPr/>
          <p:nvPr/>
        </p:nvSpPr>
        <p:spPr>
          <a:xfrm>
            <a:off x="0" y="4983480"/>
            <a:ext cx="9144000" cy="160020"/>
          </a:xfrm>
          <a:prstGeom prst="rect">
            <a:avLst/>
          </a:prstGeom>
          <a:solidFill>
            <a:srgbClr val="2C2C2C"/>
          </a:solidFill>
          <a:ln w="12700">
            <a:solidFill>
              <a:srgbClr val="2C2C2C"/>
            </a:solidFill>
            <a:prstDash val="solid"/>
          </a:ln>
        </p:spPr>
      </p:sp>
      <p:sp>
        <p:nvSpPr>
          <p:cNvPr id="26" name="Text 24"/>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Q42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42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排気ファン</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排気ファン（はいきふぁん）</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建物内の汚れた空気・臭気・有害ガスなどを屋外へ排出するためのファン。トイレ・厨房・駐車場などに設置される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Q43</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43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気密・水密・防振・防音などを目的として使われる漏れ防止や性能維持に使用される材料。コーキング・ガスケット・Oリングなどが含まれる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風量計測</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チラー</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シール材</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排水槽</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Q43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43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C  シール材</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シール材（しーるざい）</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気密・水密・防振・防音などを目的として使われる漏れ防止や性能維持に使用される材料。コーキング・ガスケット・Oリングなどが含まれる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Q44</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44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水道本管から供給される水を加圧装置や受水槽を使わずに直接建物内に分配する給水方式のこと。水道本管の圧力だけで建物内の給水をまかなう</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直結給水方式</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結露</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送風機</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風量計測</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Q44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44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直結給水方式</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直結給水方式（ちょっけつきゅうすいほうしき）</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水道本管から供給される水を加圧装置や受水槽を使わずに直接建物内に分配する給水方式のこと。水道本管の圧力だけで建物内の給水をまかなう</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Q45</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45 / 50</a:t>
            </a:r>
            <a:endParaRPr lang="en-US" sz="1400" dirty="0"/>
          </a:p>
        </p:txBody>
      </p:sp>
      <p:sp>
        <p:nvSpPr>
          <p:cNvPr id="8" name="Text 6"/>
          <p:cNvSpPr/>
          <p:nvPr/>
        </p:nvSpPr>
        <p:spPr>
          <a:xfrm>
            <a:off x="182880" y="804672"/>
            <a:ext cx="877824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「高圧洗浄機」の説明として正しいのはどれでしょうか？</a:t>
            </a:r>
            <a:endParaRPr lang="en-US" sz="1700" dirty="0"/>
          </a:p>
        </p:txBody>
      </p:sp>
      <p:sp>
        <p:nvSpPr>
          <p:cNvPr id="9" name="Shape 7"/>
          <p:cNvSpPr/>
          <p:nvPr/>
        </p:nvSpPr>
        <p:spPr>
          <a:xfrm>
            <a:off x="274320" y="1463040"/>
            <a:ext cx="6675120" cy="749808"/>
          </a:xfrm>
          <a:prstGeom prst="rect">
            <a:avLst/>
          </a:prstGeom>
          <a:solidFill>
            <a:srgbClr val="E3F2FD"/>
          </a:solidFill>
          <a:ln w="19050">
            <a:solidFill>
              <a:srgbClr val="1565C0"/>
            </a:solidFill>
            <a:prstDash val="solid"/>
          </a:ln>
        </p:spPr>
      </p:sp>
      <p:sp>
        <p:nvSpPr>
          <p:cNvPr id="10" name="Shape 8"/>
          <p:cNvSpPr/>
          <p:nvPr/>
        </p:nvSpPr>
        <p:spPr>
          <a:xfrm>
            <a:off x="274320" y="1463040"/>
            <a:ext cx="457200" cy="749808"/>
          </a:xfrm>
          <a:prstGeom prst="rect">
            <a:avLst/>
          </a:prstGeom>
          <a:solidFill>
            <a:srgbClr val="1565C0"/>
          </a:solidFill>
          <a:ln w="12700">
            <a:solidFill>
              <a:srgbClr val="1565C0"/>
            </a:solidFill>
            <a:prstDash val="solid"/>
          </a:ln>
        </p:spPr>
      </p:sp>
      <p:sp>
        <p:nvSpPr>
          <p:cNvPr id="11" name="Text 9"/>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2" name="Text 10"/>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水を高圧で噴射することで付着した汚れやスケール・詰まりを除去する装置。配管・排水設備や空調機器の洗浄・メンテナンスに使用される清掃用機器</a:t>
            </a:r>
            <a:endParaRPr lang="en-US" sz="1200" dirty="0"/>
          </a:p>
        </p:txBody>
      </p:sp>
      <p:sp>
        <p:nvSpPr>
          <p:cNvPr id="13" name="Shape 11"/>
          <p:cNvSpPr/>
          <p:nvPr/>
        </p:nvSpPr>
        <p:spPr>
          <a:xfrm>
            <a:off x="274320" y="2331720"/>
            <a:ext cx="6675120" cy="749808"/>
          </a:xfrm>
          <a:prstGeom prst="rect">
            <a:avLst/>
          </a:prstGeom>
          <a:solidFill>
            <a:srgbClr val="F3E5F5"/>
          </a:solidFill>
          <a:ln w="19050">
            <a:solidFill>
              <a:srgbClr val="6A1B9A"/>
            </a:solidFill>
            <a:prstDash val="solid"/>
          </a:ln>
        </p:spPr>
      </p:sp>
      <p:sp>
        <p:nvSpPr>
          <p:cNvPr id="14" name="Shape 12"/>
          <p:cNvSpPr/>
          <p:nvPr/>
        </p:nvSpPr>
        <p:spPr>
          <a:xfrm>
            <a:off x="274320" y="2331720"/>
            <a:ext cx="457200" cy="749808"/>
          </a:xfrm>
          <a:prstGeom prst="rect">
            <a:avLst/>
          </a:prstGeom>
          <a:solidFill>
            <a:srgbClr val="6A1B9A"/>
          </a:solidFill>
          <a:ln w="12700">
            <a:solidFill>
              <a:srgbClr val="6A1B9A"/>
            </a:solidFill>
            <a:prstDash val="solid"/>
          </a:ln>
        </p:spPr>
      </p:sp>
      <p:sp>
        <p:nvSpPr>
          <p:cNvPr id="15" name="Text 13"/>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6" name="Text 14"/>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冷房用と暖房用のダクトを別々に設け、季節やゾーンごとに必要な空気（冷風・温風）を供給できる方式のこと</a:t>
            </a:r>
            <a:endParaRPr lang="en-US" sz="1200" dirty="0"/>
          </a:p>
        </p:txBody>
      </p:sp>
      <p:sp>
        <p:nvSpPr>
          <p:cNvPr id="17" name="Shape 15"/>
          <p:cNvSpPr/>
          <p:nvPr/>
        </p:nvSpPr>
        <p:spPr>
          <a:xfrm>
            <a:off x="274320" y="3200400"/>
            <a:ext cx="6675120" cy="749808"/>
          </a:xfrm>
          <a:prstGeom prst="rect">
            <a:avLst/>
          </a:prstGeom>
          <a:solidFill>
            <a:srgbClr val="E8F5E9"/>
          </a:solidFill>
          <a:ln w="19050">
            <a:solidFill>
              <a:srgbClr val="1B5E20"/>
            </a:solidFill>
            <a:prstDash val="solid"/>
          </a:ln>
        </p:spPr>
      </p:sp>
      <p:sp>
        <p:nvSpPr>
          <p:cNvPr id="18" name="Shape 16"/>
          <p:cNvSpPr/>
          <p:nvPr/>
        </p:nvSpPr>
        <p:spPr>
          <a:xfrm>
            <a:off x="274320" y="3200400"/>
            <a:ext cx="457200" cy="749808"/>
          </a:xfrm>
          <a:prstGeom prst="rect">
            <a:avLst/>
          </a:prstGeom>
          <a:solidFill>
            <a:srgbClr val="1B5E20"/>
          </a:solidFill>
          <a:ln w="12700">
            <a:solidFill>
              <a:srgbClr val="1B5E20"/>
            </a:solidFill>
            <a:prstDash val="solid"/>
          </a:ln>
        </p:spPr>
      </p:sp>
      <p:sp>
        <p:nvSpPr>
          <p:cNvPr id="19" name="Text 17"/>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0" name="Text 18"/>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天井に設置される扇風機（ファン）。空気の循環や換気を補助する装置として用いられる</a:t>
            </a:r>
            <a:endParaRPr lang="en-US" sz="1200" dirty="0"/>
          </a:p>
        </p:txBody>
      </p:sp>
      <p:sp>
        <p:nvSpPr>
          <p:cNvPr id="21" name="Shape 19"/>
          <p:cNvSpPr/>
          <p:nvPr/>
        </p:nvSpPr>
        <p:spPr>
          <a:xfrm>
            <a:off x="274320" y="4069080"/>
            <a:ext cx="6675120" cy="749808"/>
          </a:xfrm>
          <a:prstGeom prst="rect">
            <a:avLst/>
          </a:prstGeom>
          <a:solidFill>
            <a:srgbClr val="FFEBEE"/>
          </a:solidFill>
          <a:ln w="19050">
            <a:solidFill>
              <a:srgbClr val="B71C1C"/>
            </a:solidFill>
            <a:prstDash val="solid"/>
          </a:ln>
        </p:spPr>
      </p:sp>
      <p:sp>
        <p:nvSpPr>
          <p:cNvPr id="22" name="Shape 20"/>
          <p:cNvSpPr/>
          <p:nvPr/>
        </p:nvSpPr>
        <p:spPr>
          <a:xfrm>
            <a:off x="274320" y="4069080"/>
            <a:ext cx="457200" cy="749808"/>
          </a:xfrm>
          <a:prstGeom prst="rect">
            <a:avLst/>
          </a:prstGeom>
          <a:solidFill>
            <a:srgbClr val="B71C1C"/>
          </a:solidFill>
          <a:ln w="12700">
            <a:solidFill>
              <a:srgbClr val="B71C1C"/>
            </a:solidFill>
            <a:prstDash val="solid"/>
          </a:ln>
        </p:spPr>
      </p:sp>
      <p:sp>
        <p:nvSpPr>
          <p:cNvPr id="23" name="Text 21"/>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4" name="Text 22"/>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空調機や送風機・換気設備などから供給・排出される空気の量（風量）を測定する作業。設備の性能確認や省エネ管理に使われる</a:t>
            </a:r>
            <a:endParaRPr lang="en-US" sz="1200" dirty="0"/>
          </a:p>
        </p:txBody>
      </p:sp>
      <p:sp>
        <p:nvSpPr>
          <p:cNvPr id="25" name="Shape 23"/>
          <p:cNvSpPr/>
          <p:nvPr/>
        </p:nvSpPr>
        <p:spPr>
          <a:xfrm>
            <a:off x="0" y="4983480"/>
            <a:ext cx="9144000" cy="160020"/>
          </a:xfrm>
          <a:prstGeom prst="rect">
            <a:avLst/>
          </a:prstGeom>
          <a:solidFill>
            <a:srgbClr val="2C2C2C"/>
          </a:solidFill>
          <a:ln w="12700">
            <a:solidFill>
              <a:srgbClr val="2C2C2C"/>
            </a:solidFill>
            <a:prstDash val="solid"/>
          </a:ln>
        </p:spPr>
      </p:sp>
      <p:sp>
        <p:nvSpPr>
          <p:cNvPr id="26" name="Text 24"/>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Q45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45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A  高圧洗浄機</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高圧洗浄機（こうあつせんじょうき）</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水を高圧で噴射することで付着した汚れやスケール・詰まりを除去する装置。配管・排水設備や空調機器の洗浄・メンテナンスに使用される清掃用機器</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Q46</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46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水道水の供給が一時的に停止すること。工事・事故・災害などにより発生し、建物内の給水が途絶える状態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二重ダクト方式</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ダクト</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断水</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排水</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Q46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46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C  断水</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断水（だんすい）</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水道水の供給が一時的に停止すること。工事・事故・災害などにより発生し、建物内の給水が途絶える状態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Q47</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47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排水管内の気圧を調整し、排水の流れをスムーズにするための通気管を設ける仕組み。臭気の逆流防止や排水音の低減にも役立つ</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インバーター</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二重ダクト方式</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排水通気</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ダクト</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Q47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47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C  排水通気</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排水通気（はいすいつうき）</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排水管内の気圧を調整し、排水の流れをスムーズにするための通気管を設ける仕組み。臭気の逆流防止や排水音の低減にも役立つ</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Q48</a:t>
            </a:r>
            <a:endParaRPr lang="en-US" sz="2200" dirty="0"/>
          </a:p>
        </p:txBody>
      </p:sp>
      <p:sp>
        <p:nvSpPr>
          <p:cNvPr id="5" name="Shape 3"/>
          <p:cNvSpPr/>
          <p:nvPr/>
        </p:nvSpPr>
        <p:spPr>
          <a:xfrm>
            <a:off x="1005840" y="118872"/>
            <a:ext cx="1828800" cy="420624"/>
          </a:xfrm>
          <a:prstGeom prst="roundRect">
            <a:avLst>
              <a:gd name="adj" fmla="val 17391"/>
            </a:avLst>
          </a:prstGeom>
          <a:solidFill>
            <a:srgbClr val="2E7D32"/>
          </a:solidFill>
          <a:ln w="12700">
            <a:solidFill>
              <a:srgbClr val="2E7D32"/>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用語名問題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48 / 50</a:t>
            </a:r>
            <a:endParaRPr lang="en-US" sz="1400" dirty="0"/>
          </a:p>
        </p:txBody>
      </p:sp>
      <p:sp>
        <p:nvSpPr>
          <p:cNvPr id="8" name="Text 6"/>
          <p:cNvSpPr/>
          <p:nvPr/>
        </p:nvSpPr>
        <p:spPr>
          <a:xfrm>
            <a:off x="182880" y="804672"/>
            <a:ext cx="8778240" cy="548640"/>
          </a:xfrm>
          <a:prstGeom prst="rect">
            <a:avLst/>
          </a:prstGeom>
          <a:noFill/>
          <a:ln/>
        </p:spPr>
        <p:txBody>
          <a:bodyPr wrap="square" rtlCol="0" anchor="ctr"/>
          <a:lstStyle/>
          <a:p>
            <a:pPr algn="l" indent="0" marL="0">
              <a:buNone/>
            </a:pPr>
            <a:r>
              <a:rPr lang="en-US" sz="1700" b="1" dirty="0">
                <a:solidFill>
                  <a:srgbClr val="2C2C2C"/>
                </a:solidFill>
                <a:latin typeface="メイリオ" pitchFamily="34" charset="0"/>
                <a:ea typeface="メイリオ" pitchFamily="34" charset="-122"/>
                <a:cs typeface="メイリオ" pitchFamily="34" charset="-120"/>
              </a:rPr>
              <a:t>「排水槽」の説明として正しいのはどれでしょうか？</a:t>
            </a:r>
            <a:endParaRPr lang="en-US" sz="1700" dirty="0"/>
          </a:p>
        </p:txBody>
      </p:sp>
      <p:sp>
        <p:nvSpPr>
          <p:cNvPr id="9" name="Shape 7"/>
          <p:cNvSpPr/>
          <p:nvPr/>
        </p:nvSpPr>
        <p:spPr>
          <a:xfrm>
            <a:off x="274320" y="1463040"/>
            <a:ext cx="6675120" cy="749808"/>
          </a:xfrm>
          <a:prstGeom prst="rect">
            <a:avLst/>
          </a:prstGeom>
          <a:solidFill>
            <a:srgbClr val="E3F2FD"/>
          </a:solidFill>
          <a:ln w="19050">
            <a:solidFill>
              <a:srgbClr val="1565C0"/>
            </a:solidFill>
            <a:prstDash val="solid"/>
          </a:ln>
        </p:spPr>
      </p:sp>
      <p:sp>
        <p:nvSpPr>
          <p:cNvPr id="10" name="Shape 8"/>
          <p:cNvSpPr/>
          <p:nvPr/>
        </p:nvSpPr>
        <p:spPr>
          <a:xfrm>
            <a:off x="274320" y="1463040"/>
            <a:ext cx="457200" cy="749808"/>
          </a:xfrm>
          <a:prstGeom prst="rect">
            <a:avLst/>
          </a:prstGeom>
          <a:solidFill>
            <a:srgbClr val="1565C0"/>
          </a:solidFill>
          <a:ln w="12700">
            <a:solidFill>
              <a:srgbClr val="1565C0"/>
            </a:solidFill>
            <a:prstDash val="solid"/>
          </a:ln>
        </p:spPr>
      </p:sp>
      <p:sp>
        <p:nvSpPr>
          <p:cNvPr id="11" name="Text 9"/>
          <p:cNvSpPr/>
          <p:nvPr/>
        </p:nvSpPr>
        <p:spPr>
          <a:xfrm>
            <a:off x="274320" y="146304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A</a:t>
            </a:r>
            <a:endParaRPr lang="en-US" sz="1400" dirty="0"/>
          </a:p>
        </p:txBody>
      </p:sp>
      <p:sp>
        <p:nvSpPr>
          <p:cNvPr id="12" name="Text 10"/>
          <p:cNvSpPr/>
          <p:nvPr/>
        </p:nvSpPr>
        <p:spPr>
          <a:xfrm>
            <a:off x="822960" y="1481328"/>
            <a:ext cx="6035040" cy="713232"/>
          </a:xfrm>
          <a:prstGeom prst="rect">
            <a:avLst/>
          </a:prstGeom>
          <a:noFill/>
          <a:ln/>
        </p:spPr>
        <p:txBody>
          <a:bodyPr wrap="square" rtlCol="0" anchor="ctr"/>
          <a:lstStyle/>
          <a:p>
            <a:pPr algn="l" indent="0" marL="0">
              <a:buNone/>
            </a:pPr>
            <a:r>
              <a:rPr lang="en-US" sz="1200" dirty="0">
                <a:solidFill>
                  <a:srgbClr val="1565C0"/>
                </a:solidFill>
                <a:latin typeface="メイリオ" pitchFamily="34" charset="0"/>
                <a:ea typeface="メイリオ" pitchFamily="34" charset="-122"/>
                <a:cs typeface="メイリオ" pitchFamily="34" charset="-120"/>
              </a:rPr>
              <a:t>空調や換気システムにおいて使用される用語。給気は新鮮な外気を室内に送り込むこと、排気は室内の汚れた空気を外部に排出することを指す</a:t>
            </a:r>
            <a:endParaRPr lang="en-US" sz="1200" dirty="0"/>
          </a:p>
        </p:txBody>
      </p:sp>
      <p:sp>
        <p:nvSpPr>
          <p:cNvPr id="13" name="Shape 11"/>
          <p:cNvSpPr/>
          <p:nvPr/>
        </p:nvSpPr>
        <p:spPr>
          <a:xfrm>
            <a:off x="274320" y="2331720"/>
            <a:ext cx="6675120" cy="749808"/>
          </a:xfrm>
          <a:prstGeom prst="rect">
            <a:avLst/>
          </a:prstGeom>
          <a:solidFill>
            <a:srgbClr val="F3E5F5"/>
          </a:solidFill>
          <a:ln w="19050">
            <a:solidFill>
              <a:srgbClr val="6A1B9A"/>
            </a:solidFill>
            <a:prstDash val="solid"/>
          </a:ln>
        </p:spPr>
      </p:sp>
      <p:sp>
        <p:nvSpPr>
          <p:cNvPr id="14" name="Shape 12"/>
          <p:cNvSpPr/>
          <p:nvPr/>
        </p:nvSpPr>
        <p:spPr>
          <a:xfrm>
            <a:off x="274320" y="2331720"/>
            <a:ext cx="457200" cy="749808"/>
          </a:xfrm>
          <a:prstGeom prst="rect">
            <a:avLst/>
          </a:prstGeom>
          <a:solidFill>
            <a:srgbClr val="6A1B9A"/>
          </a:solidFill>
          <a:ln w="12700">
            <a:solidFill>
              <a:srgbClr val="6A1B9A"/>
            </a:solidFill>
            <a:prstDash val="solid"/>
          </a:ln>
        </p:spPr>
      </p:sp>
      <p:sp>
        <p:nvSpPr>
          <p:cNvPr id="15" name="Text 13"/>
          <p:cNvSpPr/>
          <p:nvPr/>
        </p:nvSpPr>
        <p:spPr>
          <a:xfrm>
            <a:off x="274320" y="233172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B</a:t>
            </a:r>
            <a:endParaRPr lang="en-US" sz="1400" dirty="0"/>
          </a:p>
        </p:txBody>
      </p:sp>
      <p:sp>
        <p:nvSpPr>
          <p:cNvPr id="16" name="Text 14"/>
          <p:cNvSpPr/>
          <p:nvPr/>
        </p:nvSpPr>
        <p:spPr>
          <a:xfrm>
            <a:off x="822960" y="2350008"/>
            <a:ext cx="6035040" cy="713232"/>
          </a:xfrm>
          <a:prstGeom prst="rect">
            <a:avLst/>
          </a:prstGeom>
          <a:noFill/>
          <a:ln/>
        </p:spPr>
        <p:txBody>
          <a:bodyPr wrap="square" rtlCol="0" anchor="ctr"/>
          <a:lstStyle/>
          <a:p>
            <a:pPr algn="l" indent="0" marL="0">
              <a:buNone/>
            </a:pPr>
            <a:r>
              <a:rPr lang="en-US" sz="1200" dirty="0">
                <a:solidFill>
                  <a:srgbClr val="6A1B9A"/>
                </a:solidFill>
                <a:latin typeface="メイリオ" pitchFamily="34" charset="0"/>
                <a:ea typeface="メイリオ" pitchFamily="34" charset="-122"/>
                <a:cs typeface="メイリオ" pitchFamily="34" charset="-120"/>
              </a:rPr>
              <a:t>エアコンの室外に設置するユニット。圧縮機・熱交換器・ファンなどが内蔵されており、室内機と冷媒配管でつながれている</a:t>
            </a:r>
            <a:endParaRPr lang="en-US" sz="1200" dirty="0"/>
          </a:p>
        </p:txBody>
      </p:sp>
      <p:sp>
        <p:nvSpPr>
          <p:cNvPr id="17" name="Shape 15"/>
          <p:cNvSpPr/>
          <p:nvPr/>
        </p:nvSpPr>
        <p:spPr>
          <a:xfrm>
            <a:off x="274320" y="3200400"/>
            <a:ext cx="6675120" cy="749808"/>
          </a:xfrm>
          <a:prstGeom prst="rect">
            <a:avLst/>
          </a:prstGeom>
          <a:solidFill>
            <a:srgbClr val="E8F5E9"/>
          </a:solidFill>
          <a:ln w="19050">
            <a:solidFill>
              <a:srgbClr val="1B5E20"/>
            </a:solidFill>
            <a:prstDash val="solid"/>
          </a:ln>
        </p:spPr>
      </p:sp>
      <p:sp>
        <p:nvSpPr>
          <p:cNvPr id="18" name="Shape 16"/>
          <p:cNvSpPr/>
          <p:nvPr/>
        </p:nvSpPr>
        <p:spPr>
          <a:xfrm>
            <a:off x="274320" y="3200400"/>
            <a:ext cx="457200" cy="749808"/>
          </a:xfrm>
          <a:prstGeom prst="rect">
            <a:avLst/>
          </a:prstGeom>
          <a:solidFill>
            <a:srgbClr val="1B5E20"/>
          </a:solidFill>
          <a:ln w="12700">
            <a:solidFill>
              <a:srgbClr val="1B5E20"/>
            </a:solidFill>
            <a:prstDash val="solid"/>
          </a:ln>
        </p:spPr>
      </p:sp>
      <p:sp>
        <p:nvSpPr>
          <p:cNvPr id="19" name="Text 17"/>
          <p:cNvSpPr/>
          <p:nvPr/>
        </p:nvSpPr>
        <p:spPr>
          <a:xfrm>
            <a:off x="274320" y="320040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C</a:t>
            </a:r>
            <a:endParaRPr lang="en-US" sz="1400" dirty="0"/>
          </a:p>
        </p:txBody>
      </p:sp>
      <p:sp>
        <p:nvSpPr>
          <p:cNvPr id="20" name="Text 18"/>
          <p:cNvSpPr/>
          <p:nvPr/>
        </p:nvSpPr>
        <p:spPr>
          <a:xfrm>
            <a:off x="822960" y="3218688"/>
            <a:ext cx="6035040" cy="713232"/>
          </a:xfrm>
          <a:prstGeom prst="rect">
            <a:avLst/>
          </a:prstGeom>
          <a:noFill/>
          <a:ln/>
        </p:spPr>
        <p:txBody>
          <a:bodyPr wrap="square" rtlCol="0" anchor="ctr"/>
          <a:lstStyle/>
          <a:p>
            <a:pPr algn="l" indent="0" marL="0">
              <a:buNone/>
            </a:pPr>
            <a:r>
              <a:rPr lang="en-US" sz="1200" dirty="0">
                <a:solidFill>
                  <a:srgbClr val="1B5E20"/>
                </a:solidFill>
                <a:latin typeface="メイリオ" pitchFamily="34" charset="0"/>
                <a:ea typeface="メイリオ" pitchFamily="34" charset="-122"/>
                <a:cs typeface="メイリオ" pitchFamily="34" charset="-120"/>
              </a:rPr>
              <a:t>排水を一時的に貯留・排出する設備。マンション・商業施設・地下設備などで広く使われ、排水の円滑な処理とポンプによる排出に重要な役割を果たす</a:t>
            </a:r>
            <a:endParaRPr lang="en-US" sz="1200" dirty="0"/>
          </a:p>
        </p:txBody>
      </p:sp>
      <p:sp>
        <p:nvSpPr>
          <p:cNvPr id="21" name="Shape 19"/>
          <p:cNvSpPr/>
          <p:nvPr/>
        </p:nvSpPr>
        <p:spPr>
          <a:xfrm>
            <a:off x="274320" y="4069080"/>
            <a:ext cx="6675120" cy="749808"/>
          </a:xfrm>
          <a:prstGeom prst="rect">
            <a:avLst/>
          </a:prstGeom>
          <a:solidFill>
            <a:srgbClr val="FFEBEE"/>
          </a:solidFill>
          <a:ln w="19050">
            <a:solidFill>
              <a:srgbClr val="B71C1C"/>
            </a:solidFill>
            <a:prstDash val="solid"/>
          </a:ln>
        </p:spPr>
      </p:sp>
      <p:sp>
        <p:nvSpPr>
          <p:cNvPr id="22" name="Shape 20"/>
          <p:cNvSpPr/>
          <p:nvPr/>
        </p:nvSpPr>
        <p:spPr>
          <a:xfrm>
            <a:off x="274320" y="4069080"/>
            <a:ext cx="457200" cy="749808"/>
          </a:xfrm>
          <a:prstGeom prst="rect">
            <a:avLst/>
          </a:prstGeom>
          <a:solidFill>
            <a:srgbClr val="B71C1C"/>
          </a:solidFill>
          <a:ln w="12700">
            <a:solidFill>
              <a:srgbClr val="B71C1C"/>
            </a:solidFill>
            <a:prstDash val="solid"/>
          </a:ln>
        </p:spPr>
      </p:sp>
      <p:sp>
        <p:nvSpPr>
          <p:cNvPr id="23" name="Text 21"/>
          <p:cNvSpPr/>
          <p:nvPr/>
        </p:nvSpPr>
        <p:spPr>
          <a:xfrm>
            <a:off x="274320" y="4069080"/>
            <a:ext cx="457200" cy="749808"/>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D</a:t>
            </a:r>
            <a:endParaRPr lang="en-US" sz="1400" dirty="0"/>
          </a:p>
        </p:txBody>
      </p:sp>
      <p:sp>
        <p:nvSpPr>
          <p:cNvPr id="24" name="Text 22"/>
          <p:cNvSpPr/>
          <p:nvPr/>
        </p:nvSpPr>
        <p:spPr>
          <a:xfrm>
            <a:off x="822960" y="4087368"/>
            <a:ext cx="6035040" cy="713232"/>
          </a:xfrm>
          <a:prstGeom prst="rect">
            <a:avLst/>
          </a:prstGeom>
          <a:noFill/>
          <a:ln/>
        </p:spPr>
        <p:txBody>
          <a:bodyPr wrap="square" rtlCol="0" anchor="ctr"/>
          <a:lstStyle/>
          <a:p>
            <a:pPr algn="l" indent="0" marL="0">
              <a:buNone/>
            </a:pPr>
            <a:r>
              <a:rPr lang="en-US" sz="1200" dirty="0">
                <a:solidFill>
                  <a:srgbClr val="B71C1C"/>
                </a:solidFill>
                <a:latin typeface="メイリオ" pitchFamily="34" charset="0"/>
                <a:ea typeface="メイリオ" pitchFamily="34" charset="-122"/>
                <a:cs typeface="メイリオ" pitchFamily="34" charset="-120"/>
              </a:rPr>
              <a:t>下水道が整備されていない地域で家庭や施設の汚水を処理するための設備。微生物の力を使って汚水を浄化し、放流水の水質を保つ</a:t>
            </a:r>
            <a:endParaRPr lang="en-US" sz="1200" dirty="0"/>
          </a:p>
        </p:txBody>
      </p:sp>
      <p:sp>
        <p:nvSpPr>
          <p:cNvPr id="25" name="Shape 23"/>
          <p:cNvSpPr/>
          <p:nvPr/>
        </p:nvSpPr>
        <p:spPr>
          <a:xfrm>
            <a:off x="0" y="4983480"/>
            <a:ext cx="9144000" cy="160020"/>
          </a:xfrm>
          <a:prstGeom prst="rect">
            <a:avLst/>
          </a:prstGeom>
          <a:solidFill>
            <a:srgbClr val="2C2C2C"/>
          </a:solidFill>
          <a:ln w="12700">
            <a:solidFill>
              <a:srgbClr val="2C2C2C"/>
            </a:solidFill>
            <a:prstDash val="solid"/>
          </a:ln>
        </p:spPr>
      </p:sp>
      <p:sp>
        <p:nvSpPr>
          <p:cNvPr id="26" name="Text 24"/>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Q48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48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C  排水槽</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排水槽（はいすいそう）</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排水を一時的に貯留・排出する設備。マンション・商業施設・地下設備などで広く使われ、排水の円滑な処理とポンプによる排出に重要な役割を果たす</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Q49</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49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貯水槽や便器タンク・冷却塔などの空調衛生設備において水位を自動的に制御するための機構。水位が一定以上になると自動で給水を止める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断水</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局所換気</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ダンパー</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ボールタップ</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Q49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49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D  ボールタップ</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ボールタップ（ぼーるたっぷ）</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貯水槽や便器タンク・冷却塔などの空調衛生設備において水位を自動的に制御するための機構。水位が一定以上になると自動で給水を止める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8F4E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2C2C"/>
          </a:solidFill>
          <a:ln w="12700">
            <a:solidFill>
              <a:srgbClr val="2C2C2C"/>
            </a:solidFill>
            <a:prstDash val="solid"/>
          </a:ln>
        </p:spPr>
      </p:sp>
      <p:sp>
        <p:nvSpPr>
          <p:cNvPr id="3" name="Shape 1"/>
          <p:cNvSpPr/>
          <p:nvPr/>
        </p:nvSpPr>
        <p:spPr>
          <a:xfrm>
            <a:off x="0" y="685800"/>
            <a:ext cx="9144000" cy="45720"/>
          </a:xfrm>
          <a:prstGeom prst="rect">
            <a:avLst/>
          </a:prstGeom>
          <a:solidFill>
            <a:srgbClr val="E8611A"/>
          </a:solidFill>
          <a:ln w="12700">
            <a:solidFill>
              <a:srgbClr val="E8611A"/>
            </a:solidFill>
            <a:prstDash val="solid"/>
          </a:ln>
        </p:spPr>
      </p:sp>
      <p:sp>
        <p:nvSpPr>
          <p:cNvPr id="4" name="Text 2"/>
          <p:cNvSpPr/>
          <p:nvPr/>
        </p:nvSpPr>
        <p:spPr>
          <a:xfrm>
            <a:off x="182880" y="0"/>
            <a:ext cx="731520" cy="685800"/>
          </a:xfrm>
          <a:prstGeom prst="rect">
            <a:avLst/>
          </a:prstGeom>
          <a:noFill/>
          <a:ln/>
        </p:spPr>
        <p:txBody>
          <a:bodyPr wrap="square" rtlCol="0" anchor="ctr"/>
          <a:lstStyle/>
          <a:p>
            <a:pPr algn="ctr" indent="0" marL="0">
              <a:buNone/>
            </a:pPr>
            <a:r>
              <a:rPr lang="en-US" sz="2200" b="1" dirty="0">
                <a:solidFill>
                  <a:srgbClr val="E8611A"/>
                </a:solidFill>
                <a:latin typeface="メイリオ" pitchFamily="34" charset="0"/>
                <a:ea typeface="メイリオ" pitchFamily="34" charset="-122"/>
                <a:cs typeface="メイリオ" pitchFamily="34" charset="-120"/>
              </a:rPr>
              <a:t>Q50</a:t>
            </a:r>
            <a:endParaRPr lang="en-US" sz="2200" dirty="0"/>
          </a:p>
        </p:txBody>
      </p:sp>
      <p:sp>
        <p:nvSpPr>
          <p:cNvPr id="5" name="Shape 3"/>
          <p:cNvSpPr/>
          <p:nvPr/>
        </p:nvSpPr>
        <p:spPr>
          <a:xfrm>
            <a:off x="1005840" y="118872"/>
            <a:ext cx="1828800" cy="420624"/>
          </a:xfrm>
          <a:prstGeom prst="roundRect">
            <a:avLst>
              <a:gd name="adj" fmla="val 17391"/>
            </a:avLst>
          </a:prstGeom>
          <a:solidFill>
            <a:srgbClr val="6A1B9A"/>
          </a:solidFill>
          <a:ln w="12700">
            <a:solidFill>
              <a:srgbClr val="6A1B9A"/>
            </a:solidFill>
            <a:prstDash val="solid"/>
          </a:ln>
        </p:spPr>
      </p:sp>
      <p:sp>
        <p:nvSpPr>
          <p:cNvPr id="6" name="Text 4"/>
          <p:cNvSpPr/>
          <p:nvPr/>
        </p:nvSpPr>
        <p:spPr>
          <a:xfrm>
            <a:off x="1005840" y="118872"/>
            <a:ext cx="1828800" cy="420624"/>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 解説文問題</a:t>
            </a:r>
            <a:endParaRPr lang="en-US" sz="1300" dirty="0"/>
          </a:p>
        </p:txBody>
      </p:sp>
      <p:sp>
        <p:nvSpPr>
          <p:cNvPr id="7" name="Text 5"/>
          <p:cNvSpPr/>
          <p:nvPr/>
        </p:nvSpPr>
        <p:spPr>
          <a:xfrm>
            <a:off x="7772400" y="91440"/>
            <a:ext cx="1188720" cy="502920"/>
          </a:xfrm>
          <a:prstGeom prst="rect">
            <a:avLst/>
          </a:prstGeom>
          <a:noFill/>
          <a:ln/>
        </p:spPr>
        <p:txBody>
          <a:bodyPr wrap="square" rtlCol="0" anchor="ctr"/>
          <a:lstStyle/>
          <a:p>
            <a:pPr algn="r" indent="0" marL="0">
              <a:buNone/>
            </a:pPr>
            <a:r>
              <a:rPr lang="en-US" sz="1400" dirty="0">
                <a:solidFill>
                  <a:srgbClr val="BBBBBB"/>
                </a:solidFill>
                <a:latin typeface="メイリオ" pitchFamily="34" charset="0"/>
                <a:ea typeface="メイリオ" pitchFamily="34" charset="-122"/>
                <a:cs typeface="メイリオ" pitchFamily="34" charset="-120"/>
              </a:rPr>
              <a:t>50 / 50</a:t>
            </a:r>
            <a:endParaRPr lang="en-US" sz="1400" dirty="0"/>
          </a:p>
        </p:txBody>
      </p:sp>
      <p:sp>
        <p:nvSpPr>
          <p:cNvPr id="8" name="Text 6"/>
          <p:cNvSpPr/>
          <p:nvPr/>
        </p:nvSpPr>
        <p:spPr>
          <a:xfrm>
            <a:off x="182880" y="822960"/>
            <a:ext cx="8778240" cy="411480"/>
          </a:xfrm>
          <a:prstGeom prst="rect">
            <a:avLst/>
          </a:prstGeom>
          <a:noFill/>
          <a:ln/>
        </p:spPr>
        <p:txBody>
          <a:bodyPr wrap="square" rtlCol="0" anchor="ctr"/>
          <a:lstStyle/>
          <a:p>
            <a:pPr algn="l" indent="0" marL="0">
              <a:buNone/>
            </a:pPr>
            <a:r>
              <a:rPr lang="en-US" sz="1800" b="1" dirty="0">
                <a:solidFill>
                  <a:srgbClr val="2C2C2C"/>
                </a:solidFill>
                <a:latin typeface="メイリオ" pitchFamily="34" charset="0"/>
                <a:ea typeface="メイリオ" pitchFamily="34" charset="-122"/>
                <a:cs typeface="メイリオ" pitchFamily="34" charset="-120"/>
              </a:rPr>
              <a:t>次の説明はどの用語のことでしょうか？</a:t>
            </a:r>
            <a:endParaRPr lang="en-US" sz="1800" dirty="0"/>
          </a:p>
        </p:txBody>
      </p:sp>
      <p:sp>
        <p:nvSpPr>
          <p:cNvPr id="9" name="Shape 7"/>
          <p:cNvSpPr/>
          <p:nvPr/>
        </p:nvSpPr>
        <p:spPr>
          <a:xfrm>
            <a:off x="274320" y="1280160"/>
            <a:ext cx="8595360" cy="1371600"/>
          </a:xfrm>
          <a:prstGeom prst="rect">
            <a:avLst/>
          </a:prstGeom>
          <a:solidFill>
            <a:srgbClr val="FFFFFF"/>
          </a:solidFill>
          <a:ln w="25400">
            <a:solidFill>
              <a:srgbClr val="E8611A"/>
            </a:solidFill>
            <a:prstDash val="solid"/>
          </a:ln>
        </p:spPr>
      </p:sp>
      <p:sp>
        <p:nvSpPr>
          <p:cNvPr id="10" name="Shape 8"/>
          <p:cNvSpPr/>
          <p:nvPr/>
        </p:nvSpPr>
        <p:spPr>
          <a:xfrm>
            <a:off x="274320" y="1280160"/>
            <a:ext cx="137160" cy="1371600"/>
          </a:xfrm>
          <a:prstGeom prst="rect">
            <a:avLst/>
          </a:prstGeom>
          <a:solidFill>
            <a:srgbClr val="E8611A"/>
          </a:solidFill>
          <a:ln w="12700">
            <a:solidFill>
              <a:srgbClr val="E8611A"/>
            </a:solidFill>
            <a:prstDash val="solid"/>
          </a:ln>
        </p:spPr>
      </p:sp>
      <p:sp>
        <p:nvSpPr>
          <p:cNvPr id="11" name="Text 9"/>
          <p:cNvSpPr/>
          <p:nvPr/>
        </p:nvSpPr>
        <p:spPr>
          <a:xfrm>
            <a:off x="548640" y="1325880"/>
            <a:ext cx="8138160" cy="1280160"/>
          </a:xfrm>
          <a:prstGeom prst="rect">
            <a:avLst/>
          </a:prstGeom>
          <a:noFill/>
          <a:ln/>
        </p:spPr>
        <p:txBody>
          <a:bodyPr wrap="square" rtlCol="0" anchor="ctr"/>
          <a:lstStyle/>
          <a:p>
            <a:pPr algn="l" indent="0" marL="0">
              <a:buNone/>
            </a:pPr>
            <a:r>
              <a:rPr lang="en-US" sz="1400" dirty="0">
                <a:solidFill>
                  <a:srgbClr val="2C2C2C"/>
                </a:solidFill>
                <a:latin typeface="メイリオ" pitchFamily="34" charset="0"/>
                <a:ea typeface="メイリオ" pitchFamily="34" charset="-122"/>
                <a:cs typeface="メイリオ" pitchFamily="34" charset="-120"/>
              </a:rPr>
              <a:t>床や側溝などに設置される格子状の蓋（ふた）のこと。排水や通気を確保しつつ歩行や荷重に耐えるよう設計されている</a:t>
            </a:r>
            <a:endParaRPr lang="en-US" sz="1400" dirty="0"/>
          </a:p>
        </p:txBody>
      </p:sp>
      <p:sp>
        <p:nvSpPr>
          <p:cNvPr id="12" name="Shape 10"/>
          <p:cNvSpPr/>
          <p:nvPr/>
        </p:nvSpPr>
        <p:spPr>
          <a:xfrm>
            <a:off x="274320" y="2834640"/>
            <a:ext cx="4206240" cy="822960"/>
          </a:xfrm>
          <a:prstGeom prst="rect">
            <a:avLst/>
          </a:prstGeom>
          <a:solidFill>
            <a:srgbClr val="E3F2FD"/>
          </a:solidFill>
          <a:ln w="19050">
            <a:solidFill>
              <a:srgbClr val="1565C0"/>
            </a:solidFill>
            <a:prstDash val="solid"/>
          </a:ln>
        </p:spPr>
      </p:sp>
      <p:sp>
        <p:nvSpPr>
          <p:cNvPr id="13" name="Text 11"/>
          <p:cNvSpPr/>
          <p:nvPr/>
        </p:nvSpPr>
        <p:spPr>
          <a:xfrm>
            <a:off x="411480" y="2834640"/>
            <a:ext cx="3931920" cy="822960"/>
          </a:xfrm>
          <a:prstGeom prst="rect">
            <a:avLst/>
          </a:prstGeom>
          <a:noFill/>
          <a:ln/>
        </p:spPr>
        <p:txBody>
          <a:bodyPr wrap="square" rtlCol="0" anchor="ctr"/>
          <a:lstStyle/>
          <a:p>
            <a:pPr algn="l" indent="0" marL="0">
              <a:buNone/>
            </a:pPr>
            <a:r>
              <a:rPr lang="en-US" sz="1400" dirty="0">
                <a:solidFill>
                  <a:srgbClr val="1565C0"/>
                </a:solidFill>
                <a:latin typeface="メイリオ" pitchFamily="34" charset="0"/>
                <a:ea typeface="メイリオ" pitchFamily="34" charset="-122"/>
                <a:cs typeface="メイリオ" pitchFamily="34" charset="-120"/>
              </a:rPr>
              <a:t>A  配管</a:t>
            </a:r>
            <a:endParaRPr lang="en-US" sz="1400" dirty="0"/>
          </a:p>
        </p:txBody>
      </p:sp>
      <p:sp>
        <p:nvSpPr>
          <p:cNvPr id="14" name="Shape 12"/>
          <p:cNvSpPr/>
          <p:nvPr/>
        </p:nvSpPr>
        <p:spPr>
          <a:xfrm>
            <a:off x="4754880" y="2834640"/>
            <a:ext cx="4206240" cy="822960"/>
          </a:xfrm>
          <a:prstGeom prst="rect">
            <a:avLst/>
          </a:prstGeom>
          <a:solidFill>
            <a:srgbClr val="F3E5F5"/>
          </a:solidFill>
          <a:ln w="19050">
            <a:solidFill>
              <a:srgbClr val="6A1B9A"/>
            </a:solidFill>
            <a:prstDash val="solid"/>
          </a:ln>
        </p:spPr>
      </p:sp>
      <p:sp>
        <p:nvSpPr>
          <p:cNvPr id="15" name="Text 13"/>
          <p:cNvSpPr/>
          <p:nvPr/>
        </p:nvSpPr>
        <p:spPr>
          <a:xfrm>
            <a:off x="4892040" y="2834640"/>
            <a:ext cx="3931920" cy="822960"/>
          </a:xfrm>
          <a:prstGeom prst="rect">
            <a:avLst/>
          </a:prstGeom>
          <a:noFill/>
          <a:ln/>
        </p:spPr>
        <p:txBody>
          <a:bodyPr wrap="square" rtlCol="0" anchor="ctr"/>
          <a:lstStyle/>
          <a:p>
            <a:pPr algn="l" indent="0" marL="0">
              <a:buNone/>
            </a:pPr>
            <a:r>
              <a:rPr lang="en-US" sz="1400" dirty="0">
                <a:solidFill>
                  <a:srgbClr val="6A1B9A"/>
                </a:solidFill>
                <a:latin typeface="メイリオ" pitchFamily="34" charset="0"/>
                <a:ea typeface="メイリオ" pitchFamily="34" charset="-122"/>
                <a:cs typeface="メイリオ" pitchFamily="34" charset="-120"/>
              </a:rPr>
              <a:t>B  エアフィルター</a:t>
            </a:r>
            <a:endParaRPr lang="en-US" sz="1400" dirty="0"/>
          </a:p>
        </p:txBody>
      </p:sp>
      <p:sp>
        <p:nvSpPr>
          <p:cNvPr id="16" name="Shape 14"/>
          <p:cNvSpPr/>
          <p:nvPr/>
        </p:nvSpPr>
        <p:spPr>
          <a:xfrm>
            <a:off x="274320" y="3840480"/>
            <a:ext cx="4206240" cy="822960"/>
          </a:xfrm>
          <a:prstGeom prst="rect">
            <a:avLst/>
          </a:prstGeom>
          <a:solidFill>
            <a:srgbClr val="E8F5E9"/>
          </a:solidFill>
          <a:ln w="19050">
            <a:solidFill>
              <a:srgbClr val="1B5E20"/>
            </a:solidFill>
            <a:prstDash val="solid"/>
          </a:ln>
        </p:spPr>
      </p:sp>
      <p:sp>
        <p:nvSpPr>
          <p:cNvPr id="17" name="Text 15"/>
          <p:cNvSpPr/>
          <p:nvPr/>
        </p:nvSpPr>
        <p:spPr>
          <a:xfrm>
            <a:off x="411480" y="3840480"/>
            <a:ext cx="3931920" cy="822960"/>
          </a:xfrm>
          <a:prstGeom prst="rect">
            <a:avLst/>
          </a:prstGeom>
          <a:noFill/>
          <a:ln/>
        </p:spPr>
        <p:txBody>
          <a:bodyPr wrap="square" rtlCol="0" anchor="ctr"/>
          <a:lstStyle/>
          <a:p>
            <a:pPr algn="l" indent="0" marL="0">
              <a:buNone/>
            </a:pPr>
            <a:r>
              <a:rPr lang="en-US" sz="1400" dirty="0">
                <a:solidFill>
                  <a:srgbClr val="1B5E20"/>
                </a:solidFill>
                <a:latin typeface="メイリオ" pitchFamily="34" charset="0"/>
                <a:ea typeface="メイリオ" pitchFamily="34" charset="-122"/>
                <a:cs typeface="メイリオ" pitchFamily="34" charset="-120"/>
              </a:rPr>
              <a:t>C  冷却塔</a:t>
            </a:r>
            <a:endParaRPr lang="en-US" sz="1400" dirty="0"/>
          </a:p>
        </p:txBody>
      </p:sp>
      <p:sp>
        <p:nvSpPr>
          <p:cNvPr id="18" name="Shape 16"/>
          <p:cNvSpPr/>
          <p:nvPr/>
        </p:nvSpPr>
        <p:spPr>
          <a:xfrm>
            <a:off x="4754880" y="3840480"/>
            <a:ext cx="4206240" cy="822960"/>
          </a:xfrm>
          <a:prstGeom prst="rect">
            <a:avLst/>
          </a:prstGeom>
          <a:solidFill>
            <a:srgbClr val="FFEBEE"/>
          </a:solidFill>
          <a:ln w="19050">
            <a:solidFill>
              <a:srgbClr val="B71C1C"/>
            </a:solidFill>
            <a:prstDash val="solid"/>
          </a:ln>
        </p:spPr>
      </p:sp>
      <p:sp>
        <p:nvSpPr>
          <p:cNvPr id="19" name="Text 17"/>
          <p:cNvSpPr/>
          <p:nvPr/>
        </p:nvSpPr>
        <p:spPr>
          <a:xfrm>
            <a:off x="4892040" y="3840480"/>
            <a:ext cx="3931920" cy="822960"/>
          </a:xfrm>
          <a:prstGeom prst="rect">
            <a:avLst/>
          </a:prstGeom>
          <a:noFill/>
          <a:ln/>
        </p:spPr>
        <p:txBody>
          <a:bodyPr wrap="square" rtlCol="0" anchor="ctr"/>
          <a:lstStyle/>
          <a:p>
            <a:pPr algn="l" indent="0" marL="0">
              <a:buNone/>
            </a:pPr>
            <a:r>
              <a:rPr lang="en-US" sz="1400" dirty="0">
                <a:solidFill>
                  <a:srgbClr val="B71C1C"/>
                </a:solidFill>
                <a:latin typeface="メイリオ" pitchFamily="34" charset="0"/>
                <a:ea typeface="メイリオ" pitchFamily="34" charset="-122"/>
                <a:cs typeface="メイリオ" pitchFamily="34" charset="-120"/>
              </a:rPr>
              <a:t>D  グレーチング</a:t>
            </a:r>
            <a:endParaRPr lang="en-US" sz="1400" dirty="0"/>
          </a:p>
        </p:txBody>
      </p:sp>
      <p:sp>
        <p:nvSpPr>
          <p:cNvPr id="20" name="Shape 18"/>
          <p:cNvSpPr/>
          <p:nvPr/>
        </p:nvSpPr>
        <p:spPr>
          <a:xfrm>
            <a:off x="0" y="4983480"/>
            <a:ext cx="9144000" cy="160020"/>
          </a:xfrm>
          <a:prstGeom prst="rect">
            <a:avLst/>
          </a:prstGeom>
          <a:solidFill>
            <a:srgbClr val="2C2C2C"/>
          </a:solidFill>
          <a:ln w="12700">
            <a:solidFill>
              <a:srgbClr val="2C2C2C"/>
            </a:solidFill>
            <a:prstDash val="solid"/>
          </a:ln>
        </p:spPr>
      </p:sp>
      <p:sp>
        <p:nvSpPr>
          <p:cNvPr id="21" name="Text 19"/>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888888"/>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685800"/>
            <a:ext cx="9144000" cy="45720"/>
          </a:xfrm>
          <a:prstGeom prst="rect">
            <a:avLst/>
          </a:prstGeom>
          <a:solidFill>
            <a:srgbClr val="E8611A"/>
          </a:solidFill>
          <a:ln w="12700">
            <a:solidFill>
              <a:srgbClr val="E8611A"/>
            </a:solidFill>
            <a:prstDash val="solid"/>
          </a:ln>
        </p:spPr>
      </p:sp>
      <p:sp>
        <p:nvSpPr>
          <p:cNvPr id="3" name="Text 1"/>
          <p:cNvSpPr/>
          <p:nvPr/>
        </p:nvSpPr>
        <p:spPr>
          <a:xfrm>
            <a:off x="274320" y="0"/>
            <a:ext cx="8229600" cy="685800"/>
          </a:xfrm>
          <a:prstGeom prst="rect">
            <a:avLst/>
          </a:prstGeom>
          <a:noFill/>
          <a:ln/>
        </p:spPr>
        <p:txBody>
          <a:bodyPr wrap="square" rtlCol="0" anchor="ctr"/>
          <a:lstStyle/>
          <a:p>
            <a:pPr algn="l" indent="0" marL="0">
              <a:buNone/>
            </a:pPr>
            <a:r>
              <a:rPr lang="en-US" sz="2000" b="1" dirty="0">
                <a:solidFill>
                  <a:srgbClr val="FFFFFF"/>
                </a:solidFill>
                <a:latin typeface="メイリオ" pitchFamily="34" charset="0"/>
                <a:ea typeface="メイリオ" pitchFamily="34" charset="-122"/>
                <a:cs typeface="メイリオ" pitchFamily="34" charset="-120"/>
              </a:rPr>
              <a:t>Q50　正解・解説</a:t>
            </a:r>
            <a:endParaRPr lang="en-US" sz="2000" dirty="0"/>
          </a:p>
        </p:txBody>
      </p:sp>
      <p:sp>
        <p:nvSpPr>
          <p:cNvPr id="4" name="Text 2"/>
          <p:cNvSpPr/>
          <p:nvPr/>
        </p:nvSpPr>
        <p:spPr>
          <a:xfrm>
            <a:off x="7772400" y="0"/>
            <a:ext cx="1188720" cy="685800"/>
          </a:xfrm>
          <a:prstGeom prst="rect">
            <a:avLst/>
          </a:prstGeom>
          <a:noFill/>
          <a:ln/>
        </p:spPr>
        <p:txBody>
          <a:bodyPr wrap="square" rtlCol="0" anchor="ctr"/>
          <a:lstStyle/>
          <a:p>
            <a:pPr algn="r" indent="0" marL="0">
              <a:buNone/>
            </a:pPr>
            <a:r>
              <a:rPr lang="en-US" sz="1400" dirty="0">
                <a:solidFill>
                  <a:srgbClr val="AAAAAA"/>
                </a:solidFill>
                <a:latin typeface="メイリオ" pitchFamily="34" charset="0"/>
                <a:ea typeface="メイリオ" pitchFamily="34" charset="-122"/>
                <a:cs typeface="メイリオ" pitchFamily="34" charset="-120"/>
              </a:rPr>
              <a:t>50 / 50</a:t>
            </a:r>
            <a:endParaRPr lang="en-US" sz="1400" dirty="0"/>
          </a:p>
        </p:txBody>
      </p:sp>
      <p:sp>
        <p:nvSpPr>
          <p:cNvPr id="5" name="Shape 3"/>
          <p:cNvSpPr/>
          <p:nvPr/>
        </p:nvSpPr>
        <p:spPr>
          <a:xfrm>
            <a:off x="274320" y="868680"/>
            <a:ext cx="8595360" cy="1005840"/>
          </a:xfrm>
          <a:prstGeom prst="rect">
            <a:avLst/>
          </a:prstGeom>
          <a:solidFill>
            <a:srgbClr val="2E7D32"/>
          </a:solidFill>
          <a:ln w="12700">
            <a:solidFill>
              <a:srgbClr val="2E7D32"/>
            </a:solidFill>
            <a:prstDash val="solid"/>
          </a:ln>
        </p:spPr>
      </p:sp>
      <p:sp>
        <p:nvSpPr>
          <p:cNvPr id="6" name="Shape 4"/>
          <p:cNvSpPr/>
          <p:nvPr/>
        </p:nvSpPr>
        <p:spPr>
          <a:xfrm>
            <a:off x="274320" y="868680"/>
            <a:ext cx="1097280" cy="1005840"/>
          </a:xfrm>
          <a:prstGeom prst="rect">
            <a:avLst/>
          </a:prstGeom>
          <a:solidFill>
            <a:srgbClr val="1B5E20"/>
          </a:solidFill>
          <a:ln w="12700">
            <a:solidFill>
              <a:srgbClr val="1B5E20"/>
            </a:solidFill>
            <a:prstDash val="solid"/>
          </a:ln>
        </p:spPr>
      </p:sp>
      <p:sp>
        <p:nvSpPr>
          <p:cNvPr id="7" name="Text 5"/>
          <p:cNvSpPr/>
          <p:nvPr/>
        </p:nvSpPr>
        <p:spPr>
          <a:xfrm>
            <a:off x="274320" y="868680"/>
            <a:ext cx="1097280" cy="1005840"/>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正解</a:t>
            </a:r>
            <a:endParaRPr lang="en-US" sz="1400" dirty="0"/>
          </a:p>
        </p:txBody>
      </p:sp>
      <p:sp>
        <p:nvSpPr>
          <p:cNvPr id="8" name="Text 6"/>
          <p:cNvSpPr/>
          <p:nvPr/>
        </p:nvSpPr>
        <p:spPr>
          <a:xfrm>
            <a:off x="1463040" y="868680"/>
            <a:ext cx="7223760" cy="1005840"/>
          </a:xfrm>
          <a:prstGeom prst="rect">
            <a:avLst/>
          </a:prstGeom>
          <a:noFill/>
          <a:ln/>
        </p:spPr>
        <p:txBody>
          <a:bodyPr wrap="square" rtlCol="0" anchor="ctr"/>
          <a:lstStyle/>
          <a:p>
            <a:pPr algn="l" indent="0" marL="0">
              <a:buNone/>
            </a:pPr>
            <a:r>
              <a:rPr lang="en-US" sz="2200" b="1" dirty="0">
                <a:solidFill>
                  <a:srgbClr val="FFFFFF"/>
                </a:solidFill>
                <a:latin typeface="メイリオ" pitchFamily="34" charset="0"/>
                <a:ea typeface="メイリオ" pitchFamily="34" charset="-122"/>
                <a:cs typeface="メイリオ" pitchFamily="34" charset="-120"/>
              </a:rPr>
              <a:t>D  グレーチング</a:t>
            </a:r>
            <a:endParaRPr lang="en-US" sz="2200" dirty="0"/>
          </a:p>
        </p:txBody>
      </p:sp>
      <p:sp>
        <p:nvSpPr>
          <p:cNvPr id="9" name="Shape 7"/>
          <p:cNvSpPr/>
          <p:nvPr/>
        </p:nvSpPr>
        <p:spPr>
          <a:xfrm>
            <a:off x="274320" y="1965960"/>
            <a:ext cx="6126480" cy="457200"/>
          </a:xfrm>
          <a:prstGeom prst="rect">
            <a:avLst/>
          </a:prstGeom>
          <a:solidFill>
            <a:srgbClr val="E8611A"/>
          </a:solidFill>
          <a:ln w="12700">
            <a:solidFill>
              <a:srgbClr val="E8611A"/>
            </a:solidFill>
            <a:prstDash val="solid"/>
          </a:ln>
        </p:spPr>
      </p:sp>
      <p:sp>
        <p:nvSpPr>
          <p:cNvPr id="10" name="Text 8"/>
          <p:cNvSpPr/>
          <p:nvPr/>
        </p:nvSpPr>
        <p:spPr>
          <a:xfrm>
            <a:off x="274320" y="1965960"/>
            <a:ext cx="6126480" cy="457200"/>
          </a:xfrm>
          <a:prstGeom prst="rect">
            <a:avLst/>
          </a:prstGeom>
          <a:noFill/>
          <a:ln/>
        </p:spPr>
        <p:txBody>
          <a:bodyPr wrap="square" lIns="0" tIns="152400" rIns="0" bIns="0" rtlCol="0" anchor="ctr"/>
          <a:lstStyle/>
          <a:p>
            <a:pPr algn="l" indent="0" marL="0">
              <a:buNone/>
            </a:pPr>
            <a:r>
              <a:rPr lang="en-US" sz="1400" b="1" dirty="0">
                <a:solidFill>
                  <a:srgbClr val="FFFFFF"/>
                </a:solidFill>
                <a:latin typeface="メイリオ" pitchFamily="34" charset="0"/>
                <a:ea typeface="メイリオ" pitchFamily="34" charset="-122"/>
                <a:cs typeface="メイリオ" pitchFamily="34" charset="-120"/>
              </a:rPr>
              <a:t>📋 解説</a:t>
            </a:r>
            <a:endParaRPr lang="en-US" sz="1400" dirty="0"/>
          </a:p>
        </p:txBody>
      </p:sp>
      <p:sp>
        <p:nvSpPr>
          <p:cNvPr id="11" name="Text 9"/>
          <p:cNvSpPr/>
          <p:nvPr/>
        </p:nvSpPr>
        <p:spPr>
          <a:xfrm>
            <a:off x="274320" y="2514600"/>
            <a:ext cx="6126480" cy="457200"/>
          </a:xfrm>
          <a:prstGeom prst="rect">
            <a:avLst/>
          </a:prstGeom>
          <a:noFill/>
          <a:ln/>
        </p:spPr>
        <p:txBody>
          <a:bodyPr wrap="square" rtlCol="0" anchor="ctr"/>
          <a:lstStyle/>
          <a:p>
            <a:pPr algn="l" indent="0" marL="0">
              <a:buNone/>
            </a:pPr>
            <a:r>
              <a:rPr lang="en-US" sz="1600" b="1" dirty="0">
                <a:solidFill>
                  <a:srgbClr val="E8611A"/>
                </a:solidFill>
                <a:latin typeface="メイリオ" pitchFamily="34" charset="0"/>
                <a:ea typeface="メイリオ" pitchFamily="34" charset="-122"/>
                <a:cs typeface="メイリオ" pitchFamily="34" charset="-120"/>
              </a:rPr>
              <a:t>グレーチング（ぐれーちんぐ）</a:t>
            </a:r>
            <a:endParaRPr lang="en-US" sz="1600" dirty="0"/>
          </a:p>
        </p:txBody>
      </p:sp>
      <p:sp>
        <p:nvSpPr>
          <p:cNvPr id="12" name="Text 10"/>
          <p:cNvSpPr/>
          <p:nvPr/>
        </p:nvSpPr>
        <p:spPr>
          <a:xfrm>
            <a:off x="274320" y="3017520"/>
            <a:ext cx="6126480" cy="1554480"/>
          </a:xfrm>
          <a:prstGeom prst="rect">
            <a:avLst/>
          </a:prstGeom>
          <a:noFill/>
          <a:ln/>
        </p:spPr>
        <p:txBody>
          <a:bodyPr wrap="square" rtlCol="0" anchor="t"/>
          <a:lstStyle/>
          <a:p>
            <a:pPr algn="l" indent="0" marL="0">
              <a:buNone/>
            </a:pPr>
            <a:r>
              <a:rPr lang="en-US" sz="1400" dirty="0">
                <a:solidFill>
                  <a:srgbClr val="DDDDDD"/>
                </a:solidFill>
                <a:latin typeface="メイリオ" pitchFamily="34" charset="0"/>
                <a:ea typeface="メイリオ" pitchFamily="34" charset="-122"/>
                <a:cs typeface="メイリオ" pitchFamily="34" charset="-120"/>
              </a:rPr>
              <a:t>床や側溝などに設置される格子状の蓋（ふた）のこと。排水や通気を確保しつつ歩行や荷重に耐えるよう設計されている</a:t>
            </a:r>
            <a:endParaRPr lang="en-US" sz="1400" dirty="0"/>
          </a:p>
        </p:txBody>
      </p:sp>
      <p:sp>
        <p:nvSpPr>
          <p:cNvPr id="13" name="Shape 11"/>
          <p:cNvSpPr/>
          <p:nvPr/>
        </p:nvSpPr>
        <p:spPr>
          <a:xfrm>
            <a:off x="0" y="4983480"/>
            <a:ext cx="9144000" cy="160020"/>
          </a:xfrm>
          <a:prstGeom prst="rect">
            <a:avLst/>
          </a:prstGeom>
          <a:solidFill>
            <a:srgbClr val="111111"/>
          </a:solidFill>
          <a:ln w="12700">
            <a:solidFill>
              <a:srgbClr val="111111"/>
            </a:solidFill>
            <a:prstDash val="solid"/>
          </a:ln>
        </p:spPr>
      </p:sp>
      <p:sp>
        <p:nvSpPr>
          <p:cNvPr id="14" name="Text 12"/>
          <p:cNvSpPr/>
          <p:nvPr/>
        </p:nvSpPr>
        <p:spPr>
          <a:xfrm>
            <a:off x="274320" y="4992624"/>
            <a:ext cx="4572000" cy="137160"/>
          </a:xfrm>
          <a:prstGeom prst="rect">
            <a:avLst/>
          </a:prstGeom>
          <a:noFill/>
          <a:ln/>
        </p:spPr>
        <p:txBody>
          <a:bodyPr wrap="square" rtlCol="0" anchor="ctr"/>
          <a:lstStyle/>
          <a:p>
            <a:pPr indent="0" marL="0">
              <a:buNone/>
            </a:pPr>
            <a:r>
              <a:rPr lang="en-US" sz="900" dirty="0">
                <a:solidFill>
                  <a:srgbClr val="666666"/>
                </a:solidFill>
                <a:latin typeface="メイリオ" pitchFamily="34" charset="0"/>
                <a:ea typeface="メイリオ" pitchFamily="34" charset="-122"/>
                <a:cs typeface="メイリオ" pitchFamily="34" charset="-120"/>
              </a:rPr>
              <a:t>空調・衛生用語クイズ　基本編</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101</Slides>
  <Notes>101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101</vt:i4>
      </vt:variant>
    </vt:vector>
  </HeadingPairs>
  <TitlesOfParts>
    <vt:vector size="10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空調・衛生用語クイズ</dc:title>
  <dc:subject>PptxGenJS Presentation</dc:subject>
  <dc:creator>PptxGenJS</dc:creator>
  <cp:lastModifiedBy>PptxGenJS</cp:lastModifiedBy>
  <cp:revision>1</cp:revision>
  <dcterms:created xsi:type="dcterms:W3CDTF">2026-03-09T14:48:47Z</dcterms:created>
  <dcterms:modified xsi:type="dcterms:W3CDTF">2026-03-09T14:48:47Z</dcterms:modified>
</cp:coreProperties>
</file>