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Lst>
  <p:notesMasterIdLst>
    <p:notesMasterId r:id="rId1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notesMaster" Target="notesMasters/notesMaster1.xml"/><Relationship Id="rId112" Type="http://schemas.openxmlformats.org/officeDocument/2006/relationships/presProps" Target="presProps.xml"/><Relationship Id="rId113" Type="http://schemas.openxmlformats.org/officeDocument/2006/relationships/viewProps" Target="viewProps.xml"/><Relationship Id="rId114" Type="http://schemas.openxmlformats.org/officeDocument/2006/relationships/theme" Target="theme/theme1.xml"/><Relationship Id="rId1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2C2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611A"/>
          </a:solidFill>
          <a:ln w="12700">
            <a:solidFill>
              <a:srgbClr val="E8611A"/>
            </a:solidFill>
            <a:prstDash val="solid"/>
          </a:ln>
        </p:spPr>
      </p:sp>
      <p:sp>
        <p:nvSpPr>
          <p:cNvPr id="3" name="Shape 1"/>
          <p:cNvSpPr/>
          <p:nvPr/>
        </p:nvSpPr>
        <p:spPr>
          <a:xfrm>
            <a:off x="0" y="5070348"/>
            <a:ext cx="9144000" cy="73152"/>
          </a:xfrm>
          <a:prstGeom prst="rect">
            <a:avLst/>
          </a:prstGeom>
          <a:solidFill>
            <a:srgbClr val="E8611A"/>
          </a:solidFill>
          <a:ln w="12700">
            <a:solidFill>
              <a:srgbClr val="E8611A"/>
            </a:solidFill>
            <a:prstDash val="solid"/>
          </a:ln>
        </p:spPr>
      </p:sp>
      <p:sp>
        <p:nvSpPr>
          <p:cNvPr id="4" name="Text 2"/>
          <p:cNvSpPr/>
          <p:nvPr/>
        </p:nvSpPr>
        <p:spPr>
          <a:xfrm>
            <a:off x="0" y="1280160"/>
            <a:ext cx="9144000" cy="1188720"/>
          </a:xfrm>
          <a:prstGeom prst="rect">
            <a:avLst/>
          </a:prstGeom>
          <a:noFill/>
          <a:ln/>
        </p:spPr>
        <p:txBody>
          <a:bodyPr wrap="square" rtlCol="0" anchor="ctr"/>
          <a:lstStyle/>
          <a:p>
            <a:pPr algn="ctr" indent="0" marL="0">
              <a:buNone/>
            </a:pPr>
            <a:r>
              <a:rPr lang="en-US" sz="4000" b="1" dirty="0">
                <a:solidFill>
                  <a:srgbClr val="FFFFFF"/>
                </a:solidFill>
                <a:latin typeface="メイリオ" pitchFamily="34" charset="0"/>
                <a:ea typeface="メイリオ" pitchFamily="34" charset="-122"/>
                <a:cs typeface="メイリオ" pitchFamily="34" charset="-120"/>
              </a:rPr>
              <a:t>電気用語クイズ</a:t>
            </a:r>
            <a:endParaRPr lang="en-US" sz="4000" dirty="0"/>
          </a:p>
        </p:txBody>
      </p:sp>
      <p:sp>
        <p:nvSpPr>
          <p:cNvPr id="5" name="Text 3"/>
          <p:cNvSpPr/>
          <p:nvPr/>
        </p:nvSpPr>
        <p:spPr>
          <a:xfrm>
            <a:off x="0" y="2606040"/>
            <a:ext cx="9144000" cy="640080"/>
          </a:xfrm>
          <a:prstGeom prst="rect">
            <a:avLst/>
          </a:prstGeom>
          <a:noFill/>
          <a:ln/>
        </p:spPr>
        <p:txBody>
          <a:bodyPr wrap="square" rtlCol="0" anchor="ctr"/>
          <a:lstStyle/>
          <a:p>
            <a:pPr algn="ctr" indent="0" marL="0">
              <a:buNone/>
            </a:pPr>
            <a:r>
              <a:rPr lang="en-US" sz="2400" dirty="0">
                <a:solidFill>
                  <a:srgbClr val="E8611A"/>
                </a:solidFill>
                <a:latin typeface="メイリオ" pitchFamily="34" charset="0"/>
                <a:ea typeface="メイリオ" pitchFamily="34" charset="-122"/>
                <a:cs typeface="メイリオ" pitchFamily="34" charset="-120"/>
              </a:rPr>
              <a:t>基本編　全54問</a:t>
            </a:r>
            <a:endParaRPr lang="en-US" sz="2400" dirty="0"/>
          </a:p>
        </p:txBody>
      </p:sp>
      <p:sp>
        <p:nvSpPr>
          <p:cNvPr id="6" name="Text 4"/>
          <p:cNvSpPr/>
          <p:nvPr/>
        </p:nvSpPr>
        <p:spPr>
          <a:xfrm>
            <a:off x="0" y="3429000"/>
            <a:ext cx="9144000" cy="548640"/>
          </a:xfrm>
          <a:prstGeom prst="rect">
            <a:avLst/>
          </a:prstGeom>
          <a:noFill/>
          <a:ln/>
        </p:spPr>
        <p:txBody>
          <a:bodyPr wrap="square" rtlCol="0" anchor="ctr"/>
          <a:lstStyle/>
          <a:p>
            <a:pPr algn="ctr" indent="0" marL="0">
              <a:buNone/>
            </a:pPr>
            <a:r>
              <a:rPr lang="en-US" sz="1500" dirty="0">
                <a:solidFill>
                  <a:srgbClr val="AAAAAA"/>
                </a:solidFill>
                <a:latin typeface="メイリオ" pitchFamily="34" charset="0"/>
                <a:ea typeface="メイリオ" pitchFamily="34" charset="-122"/>
                <a:cs typeface="メイリオ" pitchFamily="34" charset="-120"/>
              </a:rPr>
              <a:t>解説文・用語名・写真 3種類のクイズに挑戦しよう！</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a:t>
            </a:r>
            <a:endParaRPr lang="en-US" sz="2200" dirty="0"/>
          </a:p>
        </p:txBody>
      </p:sp>
      <p:sp>
        <p:nvSpPr>
          <p:cNvPr id="5" name="Shape 3"/>
          <p:cNvSpPr/>
          <p:nvPr/>
        </p:nvSpPr>
        <p:spPr>
          <a:xfrm>
            <a:off x="1005840" y="118872"/>
            <a:ext cx="1828800" cy="420624"/>
          </a:xfrm>
          <a:prstGeom prst="roundRect">
            <a:avLst>
              <a:gd name="adj" fmla="val 17391"/>
            </a:avLst>
          </a:prstGeom>
          <a:solidFill>
            <a:srgbClr val="1565C0"/>
          </a:solidFill>
          <a:ln w="12700">
            <a:solidFill>
              <a:srgbClr val="1565C0"/>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写真問題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 / 54</a:t>
            </a:r>
            <a:endParaRPr lang="en-US" sz="1400" dirty="0"/>
          </a:p>
        </p:txBody>
      </p:sp>
      <p:sp>
        <p:nvSpPr>
          <p:cNvPr id="8" name="Text 6"/>
          <p:cNvSpPr/>
          <p:nvPr/>
        </p:nvSpPr>
        <p:spPr>
          <a:xfrm>
            <a:off x="182880" y="822960"/>
            <a:ext cx="8778240" cy="45720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この写真に関係する用語はどれでしょうか？</a:t>
            </a:r>
            <a:endParaRPr lang="en-US" sz="1800" dirty="0"/>
          </a:p>
        </p:txBody>
      </p:sp>
      <p:sp>
        <p:nvSpPr>
          <p:cNvPr id="9" name="Shape 7"/>
          <p:cNvSpPr/>
          <p:nvPr/>
        </p:nvSpPr>
        <p:spPr>
          <a:xfrm>
            <a:off x="274320" y="1371600"/>
            <a:ext cx="3840480" cy="3200400"/>
          </a:xfrm>
          <a:prstGeom prst="rect">
            <a:avLst/>
          </a:prstGeom>
          <a:solidFill>
            <a:srgbClr val="FFFFFF"/>
          </a:solidFill>
          <a:ln w="12700">
            <a:solidFill>
              <a:srgbClr val="DDDDDD"/>
            </a:solidFill>
            <a:prstDash val="solid"/>
          </a:ln>
        </p:spPr>
      </p:sp>
      <p:pic>
        <p:nvPicPr>
          <p:cNvPr id="10" name="Image 0" descr="/home/claude/unpacked_電気用語集/ppt/media/image2.png">    </p:cNvPr>
          <p:cNvPicPr>
            <a:picLocks noChangeAspect="1"/>
          </p:cNvPicPr>
          <p:nvPr/>
        </p:nvPicPr>
        <p:blipFill>
          <a:blip r:embed="rId1"/>
          <a:srcRect l="0" r="0" t="0" b="0"/>
          <a:stretch/>
        </p:blipFill>
        <p:spPr>
          <a:xfrm>
            <a:off x="365760" y="1463040"/>
            <a:ext cx="3657600" cy="3017520"/>
          </a:xfrm>
          <a:prstGeom prst="rect">
            <a:avLst/>
          </a:prstGeom>
        </p:spPr>
      </p:pic>
      <p:sp>
        <p:nvSpPr>
          <p:cNvPr id="11" name="Shape 8"/>
          <p:cNvSpPr/>
          <p:nvPr/>
        </p:nvSpPr>
        <p:spPr>
          <a:xfrm>
            <a:off x="4572000" y="1371600"/>
            <a:ext cx="2194560" cy="1280160"/>
          </a:xfrm>
          <a:prstGeom prst="rect">
            <a:avLst/>
          </a:prstGeom>
          <a:solidFill>
            <a:srgbClr val="E3F2FD"/>
          </a:solidFill>
          <a:ln w="19050">
            <a:solidFill>
              <a:srgbClr val="1565C0"/>
            </a:solidFill>
            <a:prstDash val="solid"/>
          </a:ln>
        </p:spPr>
      </p:sp>
      <p:sp>
        <p:nvSpPr>
          <p:cNvPr id="12" name="Text 9"/>
          <p:cNvSpPr/>
          <p:nvPr/>
        </p:nvSpPr>
        <p:spPr>
          <a:xfrm>
            <a:off x="4617720" y="1417320"/>
            <a:ext cx="320040" cy="320040"/>
          </a:xfrm>
          <a:prstGeom prst="rect">
            <a:avLst/>
          </a:prstGeom>
          <a:solidFill>
            <a:srgbClr val="1565C0"/>
          </a:solidFill>
          <a:ln/>
        </p:spPr>
        <p:txBody>
          <a:bodyPr wrap="square" rtlCol="0" anchor="ctr"/>
          <a:lstStyle/>
          <a:p>
            <a:pPr algn="ctr" indent="0" marL="0">
              <a:buNone/>
            </a:pPr>
            <a:r>
              <a:rPr lang="en-US" sz="1200" b="1" dirty="0">
                <a:solidFill>
                  <a:srgbClr val="FFFFFF"/>
                </a:solidFill>
                <a:latin typeface="メイリオ" pitchFamily="34" charset="0"/>
                <a:ea typeface="メイリオ" pitchFamily="34" charset="-122"/>
                <a:cs typeface="メイリオ" pitchFamily="34" charset="-120"/>
              </a:rPr>
              <a:t>A</a:t>
            </a:r>
            <a:endParaRPr lang="en-US" sz="1200" dirty="0"/>
          </a:p>
        </p:txBody>
      </p:sp>
      <p:sp>
        <p:nvSpPr>
          <p:cNvPr id="13" name="Text 10"/>
          <p:cNvSpPr/>
          <p:nvPr/>
        </p:nvSpPr>
        <p:spPr>
          <a:xfrm>
            <a:off x="4663440" y="1691640"/>
            <a:ext cx="2011680" cy="822960"/>
          </a:xfrm>
          <a:prstGeom prst="rect">
            <a:avLst/>
          </a:prstGeom>
          <a:noFill/>
          <a:ln/>
        </p:spPr>
        <p:txBody>
          <a:bodyPr wrap="square" rtlCol="0" anchor="ctr"/>
          <a:lstStyle/>
          <a:p>
            <a:pPr algn="ctr" indent="0" marL="0">
              <a:buNone/>
            </a:pPr>
            <a:r>
              <a:rPr lang="en-US" sz="1300" b="1" dirty="0">
                <a:solidFill>
                  <a:srgbClr val="1565C0"/>
                </a:solidFill>
                <a:latin typeface="メイリオ" pitchFamily="34" charset="0"/>
                <a:ea typeface="メイリオ" pitchFamily="34" charset="-122"/>
                <a:cs typeface="メイリオ" pitchFamily="34" charset="-120"/>
              </a:rPr>
              <a:t>火災報知設備</a:t>
            </a:r>
            <a:endParaRPr lang="en-US" sz="1300" dirty="0"/>
          </a:p>
        </p:txBody>
      </p:sp>
      <p:sp>
        <p:nvSpPr>
          <p:cNvPr id="14" name="Shape 11"/>
          <p:cNvSpPr/>
          <p:nvPr/>
        </p:nvSpPr>
        <p:spPr>
          <a:xfrm>
            <a:off x="6949440" y="1371600"/>
            <a:ext cx="2194560" cy="1280160"/>
          </a:xfrm>
          <a:prstGeom prst="rect">
            <a:avLst/>
          </a:prstGeom>
          <a:solidFill>
            <a:srgbClr val="F3E5F5"/>
          </a:solidFill>
          <a:ln w="19050">
            <a:solidFill>
              <a:srgbClr val="6A1B9A"/>
            </a:solidFill>
            <a:prstDash val="solid"/>
          </a:ln>
        </p:spPr>
      </p:sp>
      <p:sp>
        <p:nvSpPr>
          <p:cNvPr id="15" name="Text 12"/>
          <p:cNvSpPr/>
          <p:nvPr/>
        </p:nvSpPr>
        <p:spPr>
          <a:xfrm>
            <a:off x="6995160" y="1417320"/>
            <a:ext cx="320040" cy="320040"/>
          </a:xfrm>
          <a:prstGeom prst="rect">
            <a:avLst/>
          </a:prstGeom>
          <a:solidFill>
            <a:srgbClr val="6A1B9A"/>
          </a:solidFill>
          <a:ln/>
        </p:spPr>
        <p:txBody>
          <a:bodyPr wrap="square" rtlCol="0" anchor="ctr"/>
          <a:lstStyle/>
          <a:p>
            <a:pPr algn="ctr" indent="0" marL="0">
              <a:buNone/>
            </a:pPr>
            <a:r>
              <a:rPr lang="en-US" sz="1200" b="1" dirty="0">
                <a:solidFill>
                  <a:srgbClr val="FFFFFF"/>
                </a:solidFill>
                <a:latin typeface="メイリオ" pitchFamily="34" charset="0"/>
                <a:ea typeface="メイリオ" pitchFamily="34" charset="-122"/>
                <a:cs typeface="メイリオ" pitchFamily="34" charset="-120"/>
              </a:rPr>
              <a:t>B</a:t>
            </a:r>
            <a:endParaRPr lang="en-US" sz="1200" dirty="0"/>
          </a:p>
        </p:txBody>
      </p:sp>
      <p:sp>
        <p:nvSpPr>
          <p:cNvPr id="16" name="Text 13"/>
          <p:cNvSpPr/>
          <p:nvPr/>
        </p:nvSpPr>
        <p:spPr>
          <a:xfrm>
            <a:off x="7040880" y="1691640"/>
            <a:ext cx="2011680" cy="822960"/>
          </a:xfrm>
          <a:prstGeom prst="rect">
            <a:avLst/>
          </a:prstGeom>
          <a:noFill/>
          <a:ln/>
        </p:spPr>
        <p:txBody>
          <a:bodyPr wrap="square" rtlCol="0" anchor="ctr"/>
          <a:lstStyle/>
          <a:p>
            <a:pPr algn="ctr" indent="0" marL="0">
              <a:buNone/>
            </a:pPr>
            <a:r>
              <a:rPr lang="en-US" sz="1300" b="1" dirty="0">
                <a:solidFill>
                  <a:srgbClr val="6A1B9A"/>
                </a:solidFill>
                <a:latin typeface="メイリオ" pitchFamily="34" charset="0"/>
                <a:ea typeface="メイリオ" pitchFamily="34" charset="-122"/>
                <a:cs typeface="メイリオ" pitchFamily="34" charset="-120"/>
              </a:rPr>
              <a:t>VVFケーブル</a:t>
            </a:r>
            <a:endParaRPr lang="en-US" sz="1300" dirty="0"/>
          </a:p>
        </p:txBody>
      </p:sp>
      <p:sp>
        <p:nvSpPr>
          <p:cNvPr id="17" name="Shape 14"/>
          <p:cNvSpPr/>
          <p:nvPr/>
        </p:nvSpPr>
        <p:spPr>
          <a:xfrm>
            <a:off x="4572000" y="2834640"/>
            <a:ext cx="2194560" cy="1280160"/>
          </a:xfrm>
          <a:prstGeom prst="rect">
            <a:avLst/>
          </a:prstGeom>
          <a:solidFill>
            <a:srgbClr val="E8F5E9"/>
          </a:solidFill>
          <a:ln w="19050">
            <a:solidFill>
              <a:srgbClr val="1B5E20"/>
            </a:solidFill>
            <a:prstDash val="solid"/>
          </a:ln>
        </p:spPr>
      </p:sp>
      <p:sp>
        <p:nvSpPr>
          <p:cNvPr id="18" name="Text 15"/>
          <p:cNvSpPr/>
          <p:nvPr/>
        </p:nvSpPr>
        <p:spPr>
          <a:xfrm>
            <a:off x="4617720" y="2880360"/>
            <a:ext cx="320040" cy="320040"/>
          </a:xfrm>
          <a:prstGeom prst="rect">
            <a:avLst/>
          </a:prstGeom>
          <a:solidFill>
            <a:srgbClr val="1B5E20"/>
          </a:solidFill>
          <a:ln/>
        </p:spPr>
        <p:txBody>
          <a:bodyPr wrap="square" rtlCol="0" anchor="ctr"/>
          <a:lstStyle/>
          <a:p>
            <a:pPr algn="ctr" indent="0" marL="0">
              <a:buNone/>
            </a:pPr>
            <a:r>
              <a:rPr lang="en-US" sz="1200" b="1" dirty="0">
                <a:solidFill>
                  <a:srgbClr val="FFFFFF"/>
                </a:solidFill>
                <a:latin typeface="メイリオ" pitchFamily="34" charset="0"/>
                <a:ea typeface="メイリオ" pitchFamily="34" charset="-122"/>
                <a:cs typeface="メイリオ" pitchFamily="34" charset="-120"/>
              </a:rPr>
              <a:t>C</a:t>
            </a:r>
            <a:endParaRPr lang="en-US" sz="1200" dirty="0"/>
          </a:p>
        </p:txBody>
      </p:sp>
      <p:sp>
        <p:nvSpPr>
          <p:cNvPr id="19" name="Text 16"/>
          <p:cNvSpPr/>
          <p:nvPr/>
        </p:nvSpPr>
        <p:spPr>
          <a:xfrm>
            <a:off x="4663440" y="3154680"/>
            <a:ext cx="2011680" cy="822960"/>
          </a:xfrm>
          <a:prstGeom prst="rect">
            <a:avLst/>
          </a:prstGeom>
          <a:noFill/>
          <a:ln/>
        </p:spPr>
        <p:txBody>
          <a:bodyPr wrap="square" rtlCol="0" anchor="ctr"/>
          <a:lstStyle/>
          <a:p>
            <a:pPr algn="ctr" indent="0" marL="0">
              <a:buNone/>
            </a:pPr>
            <a:r>
              <a:rPr lang="en-US" sz="1300" b="1" dirty="0">
                <a:solidFill>
                  <a:srgbClr val="1B5E20"/>
                </a:solidFill>
                <a:latin typeface="メイリオ" pitchFamily="34" charset="0"/>
                <a:ea typeface="メイリオ" pitchFamily="34" charset="-122"/>
                <a:cs typeface="メイリオ" pitchFamily="34" charset="-120"/>
              </a:rPr>
              <a:t>電気回路</a:t>
            </a:r>
            <a:endParaRPr lang="en-US" sz="1300" dirty="0"/>
          </a:p>
        </p:txBody>
      </p:sp>
      <p:sp>
        <p:nvSpPr>
          <p:cNvPr id="20" name="Shape 17"/>
          <p:cNvSpPr/>
          <p:nvPr/>
        </p:nvSpPr>
        <p:spPr>
          <a:xfrm>
            <a:off x="6949440" y="2834640"/>
            <a:ext cx="2194560" cy="1280160"/>
          </a:xfrm>
          <a:prstGeom prst="rect">
            <a:avLst/>
          </a:prstGeom>
          <a:solidFill>
            <a:srgbClr val="FFEBEE"/>
          </a:solidFill>
          <a:ln w="19050">
            <a:solidFill>
              <a:srgbClr val="B71C1C"/>
            </a:solidFill>
            <a:prstDash val="solid"/>
          </a:ln>
        </p:spPr>
      </p:sp>
      <p:sp>
        <p:nvSpPr>
          <p:cNvPr id="21" name="Text 18"/>
          <p:cNvSpPr/>
          <p:nvPr/>
        </p:nvSpPr>
        <p:spPr>
          <a:xfrm>
            <a:off x="6995160" y="2880360"/>
            <a:ext cx="320040" cy="320040"/>
          </a:xfrm>
          <a:prstGeom prst="rect">
            <a:avLst/>
          </a:prstGeom>
          <a:solidFill>
            <a:srgbClr val="B71C1C"/>
          </a:solidFill>
          <a:ln/>
        </p:spPr>
        <p:txBody>
          <a:bodyPr wrap="square" rtlCol="0" anchor="ctr"/>
          <a:lstStyle/>
          <a:p>
            <a:pPr algn="ctr" indent="0" marL="0">
              <a:buNone/>
            </a:pPr>
            <a:r>
              <a:rPr lang="en-US" sz="1200" b="1" dirty="0">
                <a:solidFill>
                  <a:srgbClr val="FFFFFF"/>
                </a:solidFill>
                <a:latin typeface="メイリオ" pitchFamily="34" charset="0"/>
                <a:ea typeface="メイリオ" pitchFamily="34" charset="-122"/>
                <a:cs typeface="メイリオ" pitchFamily="34" charset="-120"/>
              </a:rPr>
              <a:t>D</a:t>
            </a:r>
            <a:endParaRPr lang="en-US" sz="1200" dirty="0"/>
          </a:p>
        </p:txBody>
      </p:sp>
      <p:sp>
        <p:nvSpPr>
          <p:cNvPr id="22" name="Text 19"/>
          <p:cNvSpPr/>
          <p:nvPr/>
        </p:nvSpPr>
        <p:spPr>
          <a:xfrm>
            <a:off x="7040880" y="3154680"/>
            <a:ext cx="2011680" cy="822960"/>
          </a:xfrm>
          <a:prstGeom prst="rect">
            <a:avLst/>
          </a:prstGeom>
          <a:noFill/>
          <a:ln/>
        </p:spPr>
        <p:txBody>
          <a:bodyPr wrap="square" rtlCol="0" anchor="ctr"/>
          <a:lstStyle/>
          <a:p>
            <a:pPr algn="ctr" indent="0" marL="0">
              <a:buNone/>
            </a:pPr>
            <a:r>
              <a:rPr lang="en-US" sz="1300" b="1" dirty="0">
                <a:solidFill>
                  <a:srgbClr val="B71C1C"/>
                </a:solidFill>
                <a:latin typeface="メイリオ" pitchFamily="34" charset="0"/>
                <a:ea typeface="メイリオ" pitchFamily="34" charset="-122"/>
                <a:cs typeface="メイリオ" pitchFamily="34" charset="-120"/>
              </a:rPr>
              <a:t>アース</a:t>
            </a:r>
            <a:endParaRPr lang="en-US" sz="1300" dirty="0"/>
          </a:p>
        </p:txBody>
      </p:sp>
      <p:sp>
        <p:nvSpPr>
          <p:cNvPr id="23" name="Text 20"/>
          <p:cNvSpPr/>
          <p:nvPr/>
        </p:nvSpPr>
        <p:spPr>
          <a:xfrm>
            <a:off x="4572000" y="4297680"/>
            <a:ext cx="4389120" cy="365760"/>
          </a:xfrm>
          <a:prstGeom prst="rect">
            <a:avLst/>
          </a:prstGeom>
          <a:noFill/>
          <a:ln/>
        </p:spPr>
        <p:txBody>
          <a:bodyPr wrap="square" rtlCol="0" anchor="ctr"/>
          <a:lstStyle/>
          <a:p>
            <a:pPr algn="l" indent="0" marL="0">
              <a:buNone/>
            </a:pPr>
            <a:r>
              <a:rPr lang="en-US" sz="1200" i="1" dirty="0">
                <a:solidFill>
                  <a:srgbClr val="666666"/>
                </a:solidFill>
                <a:latin typeface="メイリオ" pitchFamily="34" charset="0"/>
                <a:ea typeface="メイリオ" pitchFamily="34" charset="-122"/>
                <a:cs typeface="メイリオ" pitchFamily="34" charset="-120"/>
              </a:rPr>
              <a:t>ヒント: よみ → （でんきかいろ）</a:t>
            </a:r>
            <a:endParaRPr lang="en-US" sz="1200" dirty="0"/>
          </a:p>
        </p:txBody>
      </p:sp>
      <p:sp>
        <p:nvSpPr>
          <p:cNvPr id="24" name="Shape 21"/>
          <p:cNvSpPr/>
          <p:nvPr/>
        </p:nvSpPr>
        <p:spPr>
          <a:xfrm>
            <a:off x="0" y="4983480"/>
            <a:ext cx="9144000" cy="160020"/>
          </a:xfrm>
          <a:prstGeom prst="rect">
            <a:avLst/>
          </a:prstGeom>
          <a:solidFill>
            <a:srgbClr val="2C2C2C"/>
          </a:solidFill>
          <a:ln w="12700">
            <a:solidFill>
              <a:srgbClr val="2C2C2C"/>
            </a:solidFill>
            <a:prstDash val="solid"/>
          </a:ln>
        </p:spPr>
      </p:sp>
      <p:sp>
        <p:nvSpPr>
          <p:cNvPr id="25" name="Text 2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電気回路</a:t>
            </a:r>
            <a:endParaRPr lang="en-US" sz="2200" dirty="0"/>
          </a:p>
        </p:txBody>
      </p:sp>
      <p:sp>
        <p:nvSpPr>
          <p:cNvPr id="9" name="Shape 7"/>
          <p:cNvSpPr/>
          <p:nvPr/>
        </p:nvSpPr>
        <p:spPr>
          <a:xfrm>
            <a:off x="6583680" y="2011680"/>
            <a:ext cx="2286000" cy="2286000"/>
          </a:xfrm>
          <a:prstGeom prst="rect">
            <a:avLst/>
          </a:prstGeom>
          <a:solidFill>
            <a:srgbClr val="FFFFFF"/>
          </a:solidFill>
          <a:ln w="12700">
            <a:solidFill>
              <a:srgbClr val="444444"/>
            </a:solidFill>
            <a:prstDash val="solid"/>
          </a:ln>
        </p:spPr>
      </p:sp>
      <p:pic>
        <p:nvPicPr>
          <p:cNvPr id="10" name="Image 0" descr="/home/claude/unpacked_電気用語集/ppt/media/image2.png">    </p:cNvPr>
          <p:cNvPicPr>
            <a:picLocks noChangeAspect="1"/>
          </p:cNvPicPr>
          <p:nvPr/>
        </p:nvPicPr>
        <p:blipFill>
          <a:blip r:embed="rId1"/>
          <a:srcRect l="0" r="0" t="0" b="0"/>
          <a:stretch/>
        </p:blipFill>
        <p:spPr>
          <a:xfrm>
            <a:off x="6675120" y="2103120"/>
            <a:ext cx="2103120" cy="2103120"/>
          </a:xfrm>
          <a:prstGeom prst="rect">
            <a:avLst/>
          </a:prstGeom>
        </p:spPr>
      </p:pic>
      <p:sp>
        <p:nvSpPr>
          <p:cNvPr id="11" name="Shape 8"/>
          <p:cNvSpPr/>
          <p:nvPr/>
        </p:nvSpPr>
        <p:spPr>
          <a:xfrm>
            <a:off x="274320" y="1965960"/>
            <a:ext cx="6126480" cy="457200"/>
          </a:xfrm>
          <a:prstGeom prst="rect">
            <a:avLst/>
          </a:prstGeom>
          <a:solidFill>
            <a:srgbClr val="E8611A"/>
          </a:solidFill>
          <a:ln w="12700">
            <a:solidFill>
              <a:srgbClr val="E8611A"/>
            </a:solidFill>
            <a:prstDash val="solid"/>
          </a:ln>
        </p:spPr>
      </p:sp>
      <p:sp>
        <p:nvSpPr>
          <p:cNvPr id="12" name="Text 9"/>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3" name="Text 10"/>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電気回路（でんきかいろ）</a:t>
            </a:r>
            <a:endParaRPr lang="en-US" sz="1600" dirty="0"/>
          </a:p>
        </p:txBody>
      </p:sp>
      <p:sp>
        <p:nvSpPr>
          <p:cNvPr id="14" name="Text 11"/>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電気が流れる道（ルート）のこと。電源・導体・負荷・スイッチなどが組み合わさって構成される電気の経路</a:t>
            </a:r>
            <a:endParaRPr lang="en-US" sz="1400" dirty="0"/>
          </a:p>
        </p:txBody>
      </p:sp>
      <p:sp>
        <p:nvSpPr>
          <p:cNvPr id="15" name="Shape 12"/>
          <p:cNvSpPr/>
          <p:nvPr/>
        </p:nvSpPr>
        <p:spPr>
          <a:xfrm>
            <a:off x="0" y="4983480"/>
            <a:ext cx="9144000" cy="160020"/>
          </a:xfrm>
          <a:prstGeom prst="rect">
            <a:avLst/>
          </a:prstGeom>
          <a:solidFill>
            <a:srgbClr val="111111"/>
          </a:solidFill>
          <a:ln w="12700">
            <a:solidFill>
              <a:srgbClr val="111111"/>
            </a:solidFill>
            <a:prstDash val="solid"/>
          </a:ln>
        </p:spPr>
      </p:sp>
      <p:sp>
        <p:nvSpPr>
          <p:cNvPr id="16" name="Text 13"/>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電気を通すために電線（コード）をつないで電気機器や設備を使えるようにする工事のこと。建物の電気設備工事の基本</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CD管</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配線工事</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LAN設備</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電力量計</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配線工事</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配線工事（はいせんこうじ）</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電気を通すために電線（コード）をつないで電気機器や設備を使えるようにする工事のこと。建物の電気設備工事の基本</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 / 54</a:t>
            </a:r>
            <a:endParaRPr lang="en-US" sz="1400" dirty="0"/>
          </a:p>
        </p:txBody>
      </p:sp>
      <p:sp>
        <p:nvSpPr>
          <p:cNvPr id="8" name="Text 6"/>
          <p:cNvSpPr/>
          <p:nvPr/>
        </p:nvSpPr>
        <p:spPr>
          <a:xfrm>
            <a:off x="182880" y="804672"/>
            <a:ext cx="658368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「分電盤」の説明として正しいのはどれでしょうか？</a:t>
            </a:r>
            <a:endParaRPr lang="en-US" sz="1700" dirty="0"/>
          </a:p>
        </p:txBody>
      </p:sp>
      <p:sp>
        <p:nvSpPr>
          <p:cNvPr id="9" name="Shape 7"/>
          <p:cNvSpPr/>
          <p:nvPr/>
        </p:nvSpPr>
        <p:spPr>
          <a:xfrm>
            <a:off x="7132320" y="804672"/>
            <a:ext cx="1737360" cy="1371600"/>
          </a:xfrm>
          <a:prstGeom prst="rect">
            <a:avLst/>
          </a:prstGeom>
          <a:solidFill>
            <a:srgbClr val="FFFFFF"/>
          </a:solidFill>
          <a:ln w="12700">
            <a:solidFill>
              <a:srgbClr val="DDDDDD"/>
            </a:solidFill>
            <a:prstDash val="solid"/>
          </a:ln>
        </p:spPr>
      </p:sp>
      <p:pic>
        <p:nvPicPr>
          <p:cNvPr id="10" name="Image 0" descr="/home/claude/unpacked_電気用語集/ppt/media/image3.jpeg">    </p:cNvPr>
          <p:cNvPicPr>
            <a:picLocks noChangeAspect="1"/>
          </p:cNvPicPr>
          <p:nvPr/>
        </p:nvPicPr>
        <p:blipFill>
          <a:blip r:embed="rId1"/>
          <a:srcRect l="0" r="0" t="0" b="0"/>
          <a:stretch/>
        </p:blipFill>
        <p:spPr>
          <a:xfrm>
            <a:off x="7178040" y="850392"/>
            <a:ext cx="1645920" cy="1280160"/>
          </a:xfrm>
          <a:prstGeom prst="rect">
            <a:avLst/>
          </a:prstGeom>
        </p:spPr>
      </p:pic>
      <p:sp>
        <p:nvSpPr>
          <p:cNvPr id="11" name="Shape 8"/>
          <p:cNvSpPr/>
          <p:nvPr/>
        </p:nvSpPr>
        <p:spPr>
          <a:xfrm>
            <a:off x="274320" y="1463040"/>
            <a:ext cx="6675120" cy="749808"/>
          </a:xfrm>
          <a:prstGeom prst="rect">
            <a:avLst/>
          </a:prstGeom>
          <a:solidFill>
            <a:srgbClr val="E3F2FD"/>
          </a:solidFill>
          <a:ln w="19050">
            <a:solidFill>
              <a:srgbClr val="1565C0"/>
            </a:solidFill>
            <a:prstDash val="solid"/>
          </a:ln>
        </p:spPr>
      </p:sp>
      <p:sp>
        <p:nvSpPr>
          <p:cNvPr id="12" name="Shape 9"/>
          <p:cNvSpPr/>
          <p:nvPr/>
        </p:nvSpPr>
        <p:spPr>
          <a:xfrm>
            <a:off x="274320" y="1463040"/>
            <a:ext cx="457200" cy="749808"/>
          </a:xfrm>
          <a:prstGeom prst="rect">
            <a:avLst/>
          </a:prstGeom>
          <a:solidFill>
            <a:srgbClr val="1565C0"/>
          </a:solidFill>
          <a:ln w="12700">
            <a:solidFill>
              <a:srgbClr val="1565C0"/>
            </a:solidFill>
            <a:prstDash val="solid"/>
          </a:ln>
        </p:spPr>
      </p:sp>
      <p:sp>
        <p:nvSpPr>
          <p:cNvPr id="13" name="Text 10"/>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4" name="Text 11"/>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硬質ポリ塩化ビニル電線管の略。耐腐食性・絶縁性に優れた合成樹脂製の電線保護管で屋外・地中埋設にも使われる</a:t>
            </a:r>
            <a:endParaRPr lang="en-US" sz="1200" dirty="0"/>
          </a:p>
        </p:txBody>
      </p:sp>
      <p:sp>
        <p:nvSpPr>
          <p:cNvPr id="15" name="Shape 12"/>
          <p:cNvSpPr/>
          <p:nvPr/>
        </p:nvSpPr>
        <p:spPr>
          <a:xfrm>
            <a:off x="274320" y="2331720"/>
            <a:ext cx="6675120" cy="749808"/>
          </a:xfrm>
          <a:prstGeom prst="rect">
            <a:avLst/>
          </a:prstGeom>
          <a:solidFill>
            <a:srgbClr val="F3E5F5"/>
          </a:solidFill>
          <a:ln w="19050">
            <a:solidFill>
              <a:srgbClr val="6A1B9A"/>
            </a:solidFill>
            <a:prstDash val="solid"/>
          </a:ln>
        </p:spPr>
      </p:sp>
      <p:sp>
        <p:nvSpPr>
          <p:cNvPr id="16" name="Shape 13"/>
          <p:cNvSpPr/>
          <p:nvPr/>
        </p:nvSpPr>
        <p:spPr>
          <a:xfrm>
            <a:off x="274320" y="2331720"/>
            <a:ext cx="457200" cy="749808"/>
          </a:xfrm>
          <a:prstGeom prst="rect">
            <a:avLst/>
          </a:prstGeom>
          <a:solidFill>
            <a:srgbClr val="6A1B9A"/>
          </a:solidFill>
          <a:ln w="12700">
            <a:solidFill>
              <a:srgbClr val="6A1B9A"/>
            </a:solidFill>
            <a:prstDash val="solid"/>
          </a:ln>
        </p:spPr>
      </p:sp>
      <p:sp>
        <p:nvSpPr>
          <p:cNvPr id="17" name="Text 14"/>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8" name="Text 15"/>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電力供給システムにおいてメインの配電盤から各部屋や設備への電力を分配する装置。ブレーカー類が内蔵されている</a:t>
            </a:r>
            <a:endParaRPr lang="en-US" sz="1200" dirty="0"/>
          </a:p>
        </p:txBody>
      </p:sp>
      <p:sp>
        <p:nvSpPr>
          <p:cNvPr id="19" name="Shape 16"/>
          <p:cNvSpPr/>
          <p:nvPr/>
        </p:nvSpPr>
        <p:spPr>
          <a:xfrm>
            <a:off x="274320" y="3200400"/>
            <a:ext cx="6675120" cy="749808"/>
          </a:xfrm>
          <a:prstGeom prst="rect">
            <a:avLst/>
          </a:prstGeom>
          <a:solidFill>
            <a:srgbClr val="E8F5E9"/>
          </a:solidFill>
          <a:ln w="19050">
            <a:solidFill>
              <a:srgbClr val="1B5E20"/>
            </a:solidFill>
            <a:prstDash val="solid"/>
          </a:ln>
        </p:spPr>
      </p:sp>
      <p:sp>
        <p:nvSpPr>
          <p:cNvPr id="20" name="Shape 17"/>
          <p:cNvSpPr/>
          <p:nvPr/>
        </p:nvSpPr>
        <p:spPr>
          <a:xfrm>
            <a:off x="274320" y="3200400"/>
            <a:ext cx="457200" cy="749808"/>
          </a:xfrm>
          <a:prstGeom prst="rect">
            <a:avLst/>
          </a:prstGeom>
          <a:solidFill>
            <a:srgbClr val="1B5E20"/>
          </a:solidFill>
          <a:ln w="12700">
            <a:solidFill>
              <a:srgbClr val="1B5E20"/>
            </a:solidFill>
            <a:prstDash val="solid"/>
          </a:ln>
        </p:spPr>
      </p:sp>
      <p:sp>
        <p:nvSpPr>
          <p:cNvPr id="21" name="Text 18"/>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2" name="Text 19"/>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高圧で受電した電気を施設内で利用できる低圧の電気に変圧する設備。変圧器・配電盤・遮断器などで構成される</a:t>
            </a:r>
            <a:endParaRPr lang="en-US" sz="1200" dirty="0"/>
          </a:p>
        </p:txBody>
      </p:sp>
      <p:sp>
        <p:nvSpPr>
          <p:cNvPr id="23" name="Shape 20"/>
          <p:cNvSpPr/>
          <p:nvPr/>
        </p:nvSpPr>
        <p:spPr>
          <a:xfrm>
            <a:off x="274320" y="4069080"/>
            <a:ext cx="6675120" cy="749808"/>
          </a:xfrm>
          <a:prstGeom prst="rect">
            <a:avLst/>
          </a:prstGeom>
          <a:solidFill>
            <a:srgbClr val="FFEBEE"/>
          </a:solidFill>
          <a:ln w="19050">
            <a:solidFill>
              <a:srgbClr val="B71C1C"/>
            </a:solidFill>
            <a:prstDash val="solid"/>
          </a:ln>
        </p:spPr>
      </p:sp>
      <p:sp>
        <p:nvSpPr>
          <p:cNvPr id="24" name="Shape 21"/>
          <p:cNvSpPr/>
          <p:nvPr/>
        </p:nvSpPr>
        <p:spPr>
          <a:xfrm>
            <a:off x="274320" y="4069080"/>
            <a:ext cx="457200" cy="749808"/>
          </a:xfrm>
          <a:prstGeom prst="rect">
            <a:avLst/>
          </a:prstGeom>
          <a:solidFill>
            <a:srgbClr val="B71C1C"/>
          </a:solidFill>
          <a:ln w="12700">
            <a:solidFill>
              <a:srgbClr val="B71C1C"/>
            </a:solidFill>
            <a:prstDash val="solid"/>
          </a:ln>
        </p:spPr>
      </p:sp>
      <p:sp>
        <p:nvSpPr>
          <p:cNvPr id="25" name="Text 22"/>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6" name="Text 23"/>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高圧・低圧の電力ケーブル。架橋ポリエチレン絶縁ビニルシースケーブルの略で、耐熱性・耐水性に優れる</a:t>
            </a:r>
            <a:endParaRPr lang="en-US" sz="1200" dirty="0"/>
          </a:p>
        </p:txBody>
      </p:sp>
      <p:sp>
        <p:nvSpPr>
          <p:cNvPr id="27" name="Shape 24"/>
          <p:cNvSpPr/>
          <p:nvPr/>
        </p:nvSpPr>
        <p:spPr>
          <a:xfrm>
            <a:off x="0" y="4983480"/>
            <a:ext cx="9144000" cy="160020"/>
          </a:xfrm>
          <a:prstGeom prst="rect">
            <a:avLst/>
          </a:prstGeom>
          <a:solidFill>
            <a:srgbClr val="2C2C2C"/>
          </a:solidFill>
          <a:ln w="12700">
            <a:solidFill>
              <a:srgbClr val="2C2C2C"/>
            </a:solidFill>
            <a:prstDash val="solid"/>
          </a:ln>
        </p:spPr>
      </p:sp>
      <p:sp>
        <p:nvSpPr>
          <p:cNvPr id="28" name="Text 25"/>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分電盤</a:t>
            </a:r>
            <a:endParaRPr lang="en-US" sz="2200" dirty="0"/>
          </a:p>
        </p:txBody>
      </p:sp>
      <p:sp>
        <p:nvSpPr>
          <p:cNvPr id="9" name="Shape 7"/>
          <p:cNvSpPr/>
          <p:nvPr/>
        </p:nvSpPr>
        <p:spPr>
          <a:xfrm>
            <a:off x="6583680" y="2011680"/>
            <a:ext cx="2286000" cy="2286000"/>
          </a:xfrm>
          <a:prstGeom prst="rect">
            <a:avLst/>
          </a:prstGeom>
          <a:solidFill>
            <a:srgbClr val="FFFFFF"/>
          </a:solidFill>
          <a:ln w="12700">
            <a:solidFill>
              <a:srgbClr val="444444"/>
            </a:solidFill>
            <a:prstDash val="solid"/>
          </a:ln>
        </p:spPr>
      </p:sp>
      <p:pic>
        <p:nvPicPr>
          <p:cNvPr id="10" name="Image 0" descr="/home/claude/unpacked_電気用語集/ppt/media/image3.jpeg">    </p:cNvPr>
          <p:cNvPicPr>
            <a:picLocks noChangeAspect="1"/>
          </p:cNvPicPr>
          <p:nvPr/>
        </p:nvPicPr>
        <p:blipFill>
          <a:blip r:embed="rId1"/>
          <a:srcRect l="0" r="0" t="0" b="0"/>
          <a:stretch/>
        </p:blipFill>
        <p:spPr>
          <a:xfrm>
            <a:off x="6675120" y="2103120"/>
            <a:ext cx="2103120" cy="2103120"/>
          </a:xfrm>
          <a:prstGeom prst="rect">
            <a:avLst/>
          </a:prstGeom>
        </p:spPr>
      </p:pic>
      <p:sp>
        <p:nvSpPr>
          <p:cNvPr id="11" name="Shape 8"/>
          <p:cNvSpPr/>
          <p:nvPr/>
        </p:nvSpPr>
        <p:spPr>
          <a:xfrm>
            <a:off x="274320" y="1965960"/>
            <a:ext cx="6126480" cy="457200"/>
          </a:xfrm>
          <a:prstGeom prst="rect">
            <a:avLst/>
          </a:prstGeom>
          <a:solidFill>
            <a:srgbClr val="E8611A"/>
          </a:solidFill>
          <a:ln w="12700">
            <a:solidFill>
              <a:srgbClr val="E8611A"/>
            </a:solidFill>
            <a:prstDash val="solid"/>
          </a:ln>
        </p:spPr>
      </p:sp>
      <p:sp>
        <p:nvSpPr>
          <p:cNvPr id="12" name="Text 9"/>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3" name="Text 10"/>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分電盤（ぶんでんばん）</a:t>
            </a:r>
            <a:endParaRPr lang="en-US" sz="1600" dirty="0"/>
          </a:p>
        </p:txBody>
      </p:sp>
      <p:sp>
        <p:nvSpPr>
          <p:cNvPr id="14" name="Text 11"/>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電力供給システムにおいてメインの配電盤から各部屋や設備への電力を分配する装置。ブレーカー類が内蔵されている</a:t>
            </a:r>
            <a:endParaRPr lang="en-US" sz="1400" dirty="0"/>
          </a:p>
        </p:txBody>
      </p:sp>
      <p:sp>
        <p:nvSpPr>
          <p:cNvPr id="15" name="Shape 12"/>
          <p:cNvSpPr/>
          <p:nvPr/>
        </p:nvSpPr>
        <p:spPr>
          <a:xfrm>
            <a:off x="0" y="4983480"/>
            <a:ext cx="9144000" cy="160020"/>
          </a:xfrm>
          <a:prstGeom prst="rect">
            <a:avLst/>
          </a:prstGeom>
          <a:solidFill>
            <a:srgbClr val="111111"/>
          </a:solidFill>
          <a:ln w="12700">
            <a:solidFill>
              <a:srgbClr val="111111"/>
            </a:solidFill>
            <a:prstDash val="solid"/>
          </a:ln>
        </p:spPr>
      </p:sp>
      <p:sp>
        <p:nvSpPr>
          <p:cNvPr id="16" name="Text 13"/>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住宅分電盤の一番最初に設置されているブレーカー。使用電力が契約アンペアを超えると遮断し、建物全体の電力を管理する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スイッチ</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主幹ブレーカー</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照明計画</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非常灯</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主幹ブレーカー</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主幹ブレーカー（しゅかんぶれーかー）</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住宅分電盤の一番最初に設置されているブレーカー。使用電力が契約アンペアを超えると遮断し、建物全体の電力を管理する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Q5</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5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漏電による感電や火災を防ぐ役割を担っていて、漏電を検知すると自動的に電気回路を遮断する安全装置</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系統連系</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アウトレットボックス</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VVFケーブル</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漏電ブレーカー</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Q5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5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漏電ブレーカー</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漏電ブレーカー（ろうでんぶれーかー）</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漏電による感電や火災を防ぐ役割を担っていて、漏電を検知すると自動的に電気回路を遮断する安全装置</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Q6</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6 / 54</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「コンセント」の説明として正しいのはどれでしょうか？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照明器具を自由に取り付け・移動・増設できるレール状の配線器具。店舗やギャラリーなどで多く使われる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ある期間内に発生または消費された電気エネルギーの総量。電力量＝電力（ワット）×時間（時間）で求められ、単位はWh・kWh</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電気の配線にコードを接続するために壁などに設けるプラグの差込み口のこと。単相2極・3極など様々な規格がある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電力供給システムにおいてメインの配電盤から各部屋や設備への電力を分配する装置。ブレーカー類が内蔵されている</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Q6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6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コンセント</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コンセント（こんせんと）</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電気の配線にコードを接続するために壁などに設けるプラグの差込み口のこと。単相2極・3極など様々な規格がある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Q7</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7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光で部屋や場所を明るくするための器具全般。LED・蛍光灯・白熱灯など様々な種類があり用途に合わせて選ばれる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照明器具</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スイッチ</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誘導灯</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金属管</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Q7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7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照明器具</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照明器具（しょうめいきぐ）</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光で部屋や場所を明るくするための器具全般。LED・蛍光灯・白熱灯など様々な種類があり用途に合わせて選ばれる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Q8</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8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電気回路のオン・オフや切り替えを行うための器具。照明・換気扇・電熱器など様々な電気機器の制御に使われる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配線工事</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CD管</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電気回路</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スイッチ</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Q8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8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スイッチ</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スイッチ（すいっち）</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電気回路のオン・オフや切り替えを行うための器具。照明・換気扇・電熱器など様々な電気機器の制御に使われる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Q9</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9 / 54</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「蛍光灯」の説明として正しいのはどれでしょうか？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水銀蒸気が入ったガラス管内で放電を起こし、その際に発生する紫外線を蛍光物質で可視光線に変換して発光する照明器具</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電気（電流）をよく通す物質や材料。電線や電気回路において電気を効率よく流すために使われる。銅・アルミニウムが代表的</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電線やケーブルの接続部分を保護するために使われる箱状の部材。屋外や湿潤な環境でも安全に配線接続ができる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電圧がかかっている状態＝電流が流れている電線や機器のこと。感電の危険があるため適切な絶縁や保護が必要</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Q9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9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蛍光灯</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蛍光灯（けいこうとう）</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水銀蒸気が入ったガラス管内で放電を起こし、その際に発生する紫外線を蛍光物質で可視光線に変換して発光する照明器具</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Q10</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10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Light Emitting Diode（発光ダイオード）を使った照明。省エネ・長寿命・即時点灯が特徴で、現在最も普及している照明方式</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弱電設備</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ジャンクションボックス</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金属管</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LED照明</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Q10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10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LED照明</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LED照明（えるいーでぃーしょうめい）</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Light Emitting Diode（発光ダイオード）を使った照明。省エネ・長寿命・即時点灯が特徴で、現在最も普及している照明方式</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Q11</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11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発電所で作られた電気を家庭や工場・商業施設などの需要家に届けるための電力インフラ。送電線・変電所・配電線などで構成される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送配電</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電気回路</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主幹ブレーカー</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ライティングレール</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Q11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11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送配電</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送配電（そうはいでん）</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発電所で作られた電気を家庭や工場・商業施設などの需要家に届けるための電力インフラ。送電線・変電所・配電線などで構成される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Q12</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12 / 54</a:t>
            </a:r>
            <a:endParaRPr lang="en-US" sz="1400" dirty="0"/>
          </a:p>
        </p:txBody>
      </p:sp>
      <p:sp>
        <p:nvSpPr>
          <p:cNvPr id="8" name="Text 6"/>
          <p:cNvSpPr/>
          <p:nvPr/>
        </p:nvSpPr>
        <p:spPr>
          <a:xfrm>
            <a:off x="182880" y="804672"/>
            <a:ext cx="658368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「高圧受電設備」の説明として正しいのはどれでしょうか？</a:t>
            </a:r>
            <a:endParaRPr lang="en-US" sz="1700" dirty="0"/>
          </a:p>
        </p:txBody>
      </p:sp>
      <p:sp>
        <p:nvSpPr>
          <p:cNvPr id="9" name="Shape 7"/>
          <p:cNvSpPr/>
          <p:nvPr/>
        </p:nvSpPr>
        <p:spPr>
          <a:xfrm>
            <a:off x="7132320" y="804672"/>
            <a:ext cx="1737360" cy="1371600"/>
          </a:xfrm>
          <a:prstGeom prst="rect">
            <a:avLst/>
          </a:prstGeom>
          <a:solidFill>
            <a:srgbClr val="FFFFFF"/>
          </a:solidFill>
          <a:ln w="12700">
            <a:solidFill>
              <a:srgbClr val="DDDDDD"/>
            </a:solidFill>
            <a:prstDash val="solid"/>
          </a:ln>
        </p:spPr>
      </p:sp>
      <p:pic>
        <p:nvPicPr>
          <p:cNvPr id="10" name="Image 0" descr="/home/claude/unpacked_電気用語集/ppt/media/image4.jpeg">    </p:cNvPr>
          <p:cNvPicPr>
            <a:picLocks noChangeAspect="1"/>
          </p:cNvPicPr>
          <p:nvPr/>
        </p:nvPicPr>
        <p:blipFill>
          <a:blip r:embed="rId1"/>
          <a:srcRect l="0" r="0" t="0" b="0"/>
          <a:stretch/>
        </p:blipFill>
        <p:spPr>
          <a:xfrm>
            <a:off x="7178040" y="850392"/>
            <a:ext cx="1645920" cy="1280160"/>
          </a:xfrm>
          <a:prstGeom prst="rect">
            <a:avLst/>
          </a:prstGeom>
        </p:spPr>
      </p:pic>
      <p:sp>
        <p:nvSpPr>
          <p:cNvPr id="11" name="Shape 8"/>
          <p:cNvSpPr/>
          <p:nvPr/>
        </p:nvSpPr>
        <p:spPr>
          <a:xfrm>
            <a:off x="274320" y="1463040"/>
            <a:ext cx="6675120" cy="749808"/>
          </a:xfrm>
          <a:prstGeom prst="rect">
            <a:avLst/>
          </a:prstGeom>
          <a:solidFill>
            <a:srgbClr val="E3F2FD"/>
          </a:solidFill>
          <a:ln w="19050">
            <a:solidFill>
              <a:srgbClr val="1565C0"/>
            </a:solidFill>
            <a:prstDash val="solid"/>
          </a:ln>
        </p:spPr>
      </p:sp>
      <p:sp>
        <p:nvSpPr>
          <p:cNvPr id="12" name="Shape 9"/>
          <p:cNvSpPr/>
          <p:nvPr/>
        </p:nvSpPr>
        <p:spPr>
          <a:xfrm>
            <a:off x="274320" y="1463040"/>
            <a:ext cx="457200" cy="749808"/>
          </a:xfrm>
          <a:prstGeom prst="rect">
            <a:avLst/>
          </a:prstGeom>
          <a:solidFill>
            <a:srgbClr val="1565C0"/>
          </a:solidFill>
          <a:ln w="12700">
            <a:solidFill>
              <a:srgbClr val="1565C0"/>
            </a:solidFill>
            <a:prstDash val="solid"/>
          </a:ln>
        </p:spPr>
      </p:sp>
      <p:sp>
        <p:nvSpPr>
          <p:cNvPr id="13" name="Text 10"/>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4" name="Text 11"/>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電力会社から送られてくる高圧電力を施設内で利用できる電圧に変換・配電するための設備。キュービクルとも呼ばれる</a:t>
            </a:r>
            <a:endParaRPr lang="en-US" sz="1200" dirty="0"/>
          </a:p>
        </p:txBody>
      </p:sp>
      <p:sp>
        <p:nvSpPr>
          <p:cNvPr id="15" name="Shape 12"/>
          <p:cNvSpPr/>
          <p:nvPr/>
        </p:nvSpPr>
        <p:spPr>
          <a:xfrm>
            <a:off x="274320" y="2331720"/>
            <a:ext cx="6675120" cy="749808"/>
          </a:xfrm>
          <a:prstGeom prst="rect">
            <a:avLst/>
          </a:prstGeom>
          <a:solidFill>
            <a:srgbClr val="F3E5F5"/>
          </a:solidFill>
          <a:ln w="19050">
            <a:solidFill>
              <a:srgbClr val="6A1B9A"/>
            </a:solidFill>
            <a:prstDash val="solid"/>
          </a:ln>
        </p:spPr>
      </p:sp>
      <p:sp>
        <p:nvSpPr>
          <p:cNvPr id="16" name="Shape 13"/>
          <p:cNvSpPr/>
          <p:nvPr/>
        </p:nvSpPr>
        <p:spPr>
          <a:xfrm>
            <a:off x="274320" y="2331720"/>
            <a:ext cx="457200" cy="749808"/>
          </a:xfrm>
          <a:prstGeom prst="rect">
            <a:avLst/>
          </a:prstGeom>
          <a:solidFill>
            <a:srgbClr val="6A1B9A"/>
          </a:solidFill>
          <a:ln w="12700">
            <a:solidFill>
              <a:srgbClr val="6A1B9A"/>
            </a:solidFill>
            <a:prstDash val="solid"/>
          </a:ln>
        </p:spPr>
      </p:sp>
      <p:sp>
        <p:nvSpPr>
          <p:cNvPr id="17" name="Text 14"/>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8" name="Text 15"/>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電気の流れそのもの。つまり電気が流れている量のこと。単位はアンペア（A）で表される</a:t>
            </a:r>
            <a:endParaRPr lang="en-US" sz="1200" dirty="0"/>
          </a:p>
        </p:txBody>
      </p:sp>
      <p:sp>
        <p:nvSpPr>
          <p:cNvPr id="19" name="Shape 16"/>
          <p:cNvSpPr/>
          <p:nvPr/>
        </p:nvSpPr>
        <p:spPr>
          <a:xfrm>
            <a:off x="274320" y="3200400"/>
            <a:ext cx="6675120" cy="749808"/>
          </a:xfrm>
          <a:prstGeom prst="rect">
            <a:avLst/>
          </a:prstGeom>
          <a:solidFill>
            <a:srgbClr val="E8F5E9"/>
          </a:solidFill>
          <a:ln w="19050">
            <a:solidFill>
              <a:srgbClr val="1B5E20"/>
            </a:solidFill>
            <a:prstDash val="solid"/>
          </a:ln>
        </p:spPr>
      </p:sp>
      <p:sp>
        <p:nvSpPr>
          <p:cNvPr id="20" name="Shape 17"/>
          <p:cNvSpPr/>
          <p:nvPr/>
        </p:nvSpPr>
        <p:spPr>
          <a:xfrm>
            <a:off x="274320" y="3200400"/>
            <a:ext cx="457200" cy="749808"/>
          </a:xfrm>
          <a:prstGeom prst="rect">
            <a:avLst/>
          </a:prstGeom>
          <a:solidFill>
            <a:srgbClr val="1B5E20"/>
          </a:solidFill>
          <a:ln w="12700">
            <a:solidFill>
              <a:srgbClr val="1B5E20"/>
            </a:solidFill>
            <a:prstDash val="solid"/>
          </a:ln>
        </p:spPr>
      </p:sp>
      <p:sp>
        <p:nvSpPr>
          <p:cNvPr id="21" name="Text 18"/>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2" name="Text 19"/>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48V以下の電圧で電気信号として使用し情報を伝達するための設備。電話・インターネット・TV・インターホンなどが含まれる</a:t>
            </a:r>
            <a:endParaRPr lang="en-US" sz="1200" dirty="0"/>
          </a:p>
        </p:txBody>
      </p:sp>
      <p:sp>
        <p:nvSpPr>
          <p:cNvPr id="23" name="Shape 20"/>
          <p:cNvSpPr/>
          <p:nvPr/>
        </p:nvSpPr>
        <p:spPr>
          <a:xfrm>
            <a:off x="274320" y="4069080"/>
            <a:ext cx="6675120" cy="749808"/>
          </a:xfrm>
          <a:prstGeom prst="rect">
            <a:avLst/>
          </a:prstGeom>
          <a:solidFill>
            <a:srgbClr val="FFEBEE"/>
          </a:solidFill>
          <a:ln w="19050">
            <a:solidFill>
              <a:srgbClr val="B71C1C"/>
            </a:solidFill>
            <a:prstDash val="solid"/>
          </a:ln>
        </p:spPr>
      </p:sp>
      <p:sp>
        <p:nvSpPr>
          <p:cNvPr id="24" name="Shape 21"/>
          <p:cNvSpPr/>
          <p:nvPr/>
        </p:nvSpPr>
        <p:spPr>
          <a:xfrm>
            <a:off x="274320" y="4069080"/>
            <a:ext cx="457200" cy="749808"/>
          </a:xfrm>
          <a:prstGeom prst="rect">
            <a:avLst/>
          </a:prstGeom>
          <a:solidFill>
            <a:srgbClr val="B71C1C"/>
          </a:solidFill>
          <a:ln w="12700">
            <a:solidFill>
              <a:srgbClr val="B71C1C"/>
            </a:solidFill>
            <a:prstDash val="solid"/>
          </a:ln>
        </p:spPr>
      </p:sp>
      <p:sp>
        <p:nvSpPr>
          <p:cNvPr id="25" name="Text 22"/>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6" name="Text 23"/>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無停電電源装置（Uninterruptible Power Supply）。停電や電源の落ち込みが起きた場合にバッテリーから電力を供給し機器の稼働を継続させる</a:t>
            </a:r>
            <a:endParaRPr lang="en-US" sz="1200" dirty="0"/>
          </a:p>
        </p:txBody>
      </p:sp>
      <p:sp>
        <p:nvSpPr>
          <p:cNvPr id="27" name="Shape 24"/>
          <p:cNvSpPr/>
          <p:nvPr/>
        </p:nvSpPr>
        <p:spPr>
          <a:xfrm>
            <a:off x="0" y="4983480"/>
            <a:ext cx="9144000" cy="160020"/>
          </a:xfrm>
          <a:prstGeom prst="rect">
            <a:avLst/>
          </a:prstGeom>
          <a:solidFill>
            <a:srgbClr val="2C2C2C"/>
          </a:solidFill>
          <a:ln w="12700">
            <a:solidFill>
              <a:srgbClr val="2C2C2C"/>
            </a:solidFill>
            <a:prstDash val="solid"/>
          </a:ln>
        </p:spPr>
      </p:sp>
      <p:sp>
        <p:nvSpPr>
          <p:cNvPr id="28" name="Text 25"/>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Q12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12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高圧受電設備</a:t>
            </a:r>
            <a:endParaRPr lang="en-US" sz="2200" dirty="0"/>
          </a:p>
        </p:txBody>
      </p:sp>
      <p:sp>
        <p:nvSpPr>
          <p:cNvPr id="9" name="Shape 7"/>
          <p:cNvSpPr/>
          <p:nvPr/>
        </p:nvSpPr>
        <p:spPr>
          <a:xfrm>
            <a:off x="6583680" y="2011680"/>
            <a:ext cx="2286000" cy="2286000"/>
          </a:xfrm>
          <a:prstGeom prst="rect">
            <a:avLst/>
          </a:prstGeom>
          <a:solidFill>
            <a:srgbClr val="FFFFFF"/>
          </a:solidFill>
          <a:ln w="12700">
            <a:solidFill>
              <a:srgbClr val="444444"/>
            </a:solidFill>
            <a:prstDash val="solid"/>
          </a:ln>
        </p:spPr>
      </p:sp>
      <p:pic>
        <p:nvPicPr>
          <p:cNvPr id="10" name="Image 0" descr="/home/claude/unpacked_電気用語集/ppt/media/image4.jpeg">    </p:cNvPr>
          <p:cNvPicPr>
            <a:picLocks noChangeAspect="1"/>
          </p:cNvPicPr>
          <p:nvPr/>
        </p:nvPicPr>
        <p:blipFill>
          <a:blip r:embed="rId1"/>
          <a:srcRect l="0" r="0" t="0" b="0"/>
          <a:stretch/>
        </p:blipFill>
        <p:spPr>
          <a:xfrm>
            <a:off x="6675120" y="2103120"/>
            <a:ext cx="2103120" cy="2103120"/>
          </a:xfrm>
          <a:prstGeom prst="rect">
            <a:avLst/>
          </a:prstGeom>
        </p:spPr>
      </p:pic>
      <p:sp>
        <p:nvSpPr>
          <p:cNvPr id="11" name="Shape 8"/>
          <p:cNvSpPr/>
          <p:nvPr/>
        </p:nvSpPr>
        <p:spPr>
          <a:xfrm>
            <a:off x="274320" y="1965960"/>
            <a:ext cx="6126480" cy="457200"/>
          </a:xfrm>
          <a:prstGeom prst="rect">
            <a:avLst/>
          </a:prstGeom>
          <a:solidFill>
            <a:srgbClr val="E8611A"/>
          </a:solidFill>
          <a:ln w="12700">
            <a:solidFill>
              <a:srgbClr val="E8611A"/>
            </a:solidFill>
            <a:prstDash val="solid"/>
          </a:ln>
        </p:spPr>
      </p:sp>
      <p:sp>
        <p:nvSpPr>
          <p:cNvPr id="12" name="Text 9"/>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3" name="Text 10"/>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高圧受電設備（こうあつじゅでんせつび）</a:t>
            </a:r>
            <a:endParaRPr lang="en-US" sz="1600" dirty="0"/>
          </a:p>
        </p:txBody>
      </p:sp>
      <p:sp>
        <p:nvSpPr>
          <p:cNvPr id="14" name="Text 11"/>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電力会社から送られてくる高圧電力を施設内で利用できる電圧に変換・配電するための設備。キュービクルとも呼ばれる</a:t>
            </a:r>
            <a:endParaRPr lang="en-US" sz="1400" dirty="0"/>
          </a:p>
        </p:txBody>
      </p:sp>
      <p:sp>
        <p:nvSpPr>
          <p:cNvPr id="15" name="Shape 12"/>
          <p:cNvSpPr/>
          <p:nvPr/>
        </p:nvSpPr>
        <p:spPr>
          <a:xfrm>
            <a:off x="0" y="4983480"/>
            <a:ext cx="9144000" cy="160020"/>
          </a:xfrm>
          <a:prstGeom prst="rect">
            <a:avLst/>
          </a:prstGeom>
          <a:solidFill>
            <a:srgbClr val="111111"/>
          </a:solidFill>
          <a:ln w="12700">
            <a:solidFill>
              <a:srgbClr val="111111"/>
            </a:solidFill>
            <a:prstDash val="solid"/>
          </a:ln>
        </p:spPr>
      </p:sp>
      <p:sp>
        <p:nvSpPr>
          <p:cNvPr id="16" name="Text 13"/>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Q13</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13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高圧で受電した電気を施設内で利用できる低圧の電気に変圧する設備。変圧器・配電盤・遮断器などで構成される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分電盤</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導体</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テレビ共聴設備</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低圧受電設備</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Q13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13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低圧受電設備</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低圧受電設備（ていあつじゅでんせつび）</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高圧で受電した電気を施設内で利用できる低圧の電気に変圧する設備。変圧器・配電盤・遮断器などで構成される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Q14</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14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電気の電圧を上げたり下げたりして電力の効率的な送電・利用を可能にする装置（トランス）。鉄心と巻線で構成される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変圧器</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電力</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発電機</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負荷</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Q14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14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変圧器</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変圧器（へんあつき）</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電気の電圧を上げたり下げたりして電力の効率的な送電・利用を可能にする装置（トランス）。鉄心と巻線で構成される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Q15</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15 / 54</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「遮断器」の説明として正しいのはどれでしょうか？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1つのテレビアンテナで受信した電波を複数の部屋やテレビへ分配するための設備。マンションや集合住宅に設置される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自家発電設備（太陽光発電など）を電力会社の電力系統（送電網や配電網）に接続すること。余剰電力を売電する際に必要</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電線やケーブルの接続部分を保護するために使われる箱状の部材。屋外や湿潤な環境でも安全に配線接続ができる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電気回路に過電流や異常な状態が発生した際にその電流を遮断し回路や電気機器を保護する装置。ブレーカーの一種</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Q15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15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遮断器</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遮断器（しゃだんき）</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電気回路に過電流や異常な状態が発生した際にその電流を遮断し回路や電気機器を保護する装置。ブレーカーの一種</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Q16</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16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電気機器の金属筐体などを大地に接続し漏電や過電圧が発生した場合に電気を大地に逃がして感電や機器損傷を防ぐ安全対策</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電圧</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非常灯</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接地</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ジャンクションボックス</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Q16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16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接地</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接地（せっち）</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電気機器の金属筐体などを大地に接続し漏電や過電圧が発生した場合に電気を大地に逃がして感電や機器損傷を防ぐ安全対策</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Q17</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17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電気機器や電気回路の一部を地面（大地）とつなげること、またはその仕組み・線・端子を指す。「接地」とも呼ばれる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コンセント</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金属管</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高圧受電設備</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アース</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Q17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17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アース</a:t>
            </a:r>
            <a:endParaRPr lang="en-US" sz="2200" dirty="0"/>
          </a:p>
        </p:txBody>
      </p:sp>
      <p:sp>
        <p:nvSpPr>
          <p:cNvPr id="9" name="Shape 7"/>
          <p:cNvSpPr/>
          <p:nvPr/>
        </p:nvSpPr>
        <p:spPr>
          <a:xfrm>
            <a:off x="6583680" y="2011680"/>
            <a:ext cx="2286000" cy="2286000"/>
          </a:xfrm>
          <a:prstGeom prst="rect">
            <a:avLst/>
          </a:prstGeom>
          <a:solidFill>
            <a:srgbClr val="FFFFFF"/>
          </a:solidFill>
          <a:ln w="12700">
            <a:solidFill>
              <a:srgbClr val="444444"/>
            </a:solidFill>
            <a:prstDash val="solid"/>
          </a:ln>
        </p:spPr>
      </p:sp>
      <p:pic>
        <p:nvPicPr>
          <p:cNvPr id="10" name="Image 0" descr="/home/claude/unpacked_電気用語集/ppt/media/image5.png">    </p:cNvPr>
          <p:cNvPicPr>
            <a:picLocks noChangeAspect="1"/>
          </p:cNvPicPr>
          <p:nvPr/>
        </p:nvPicPr>
        <p:blipFill>
          <a:blip r:embed="rId1"/>
          <a:srcRect l="0" r="0" t="0" b="0"/>
          <a:stretch/>
        </p:blipFill>
        <p:spPr>
          <a:xfrm>
            <a:off x="6675120" y="2103120"/>
            <a:ext cx="2103120" cy="2103120"/>
          </a:xfrm>
          <a:prstGeom prst="rect">
            <a:avLst/>
          </a:prstGeom>
        </p:spPr>
      </p:pic>
      <p:sp>
        <p:nvSpPr>
          <p:cNvPr id="11" name="Shape 8"/>
          <p:cNvSpPr/>
          <p:nvPr/>
        </p:nvSpPr>
        <p:spPr>
          <a:xfrm>
            <a:off x="274320" y="1965960"/>
            <a:ext cx="6126480" cy="457200"/>
          </a:xfrm>
          <a:prstGeom prst="rect">
            <a:avLst/>
          </a:prstGeom>
          <a:solidFill>
            <a:srgbClr val="E8611A"/>
          </a:solidFill>
          <a:ln w="12700">
            <a:solidFill>
              <a:srgbClr val="E8611A"/>
            </a:solidFill>
            <a:prstDash val="solid"/>
          </a:ln>
        </p:spPr>
      </p:sp>
      <p:sp>
        <p:nvSpPr>
          <p:cNvPr id="12" name="Text 9"/>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3" name="Text 10"/>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アース（あーす）</a:t>
            </a:r>
            <a:endParaRPr lang="en-US" sz="1600" dirty="0"/>
          </a:p>
        </p:txBody>
      </p:sp>
      <p:sp>
        <p:nvSpPr>
          <p:cNvPr id="14" name="Text 11"/>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電気機器や電気回路の一部を地面（大地）とつなげること、またはその仕組み・線・端子を指す。「接地」とも呼ばれる</a:t>
            </a:r>
            <a:endParaRPr lang="en-US" sz="1400" dirty="0"/>
          </a:p>
        </p:txBody>
      </p:sp>
      <p:sp>
        <p:nvSpPr>
          <p:cNvPr id="15" name="Shape 12"/>
          <p:cNvSpPr/>
          <p:nvPr/>
        </p:nvSpPr>
        <p:spPr>
          <a:xfrm>
            <a:off x="0" y="4983480"/>
            <a:ext cx="9144000" cy="160020"/>
          </a:xfrm>
          <a:prstGeom prst="rect">
            <a:avLst/>
          </a:prstGeom>
          <a:solidFill>
            <a:srgbClr val="111111"/>
          </a:solidFill>
          <a:ln w="12700">
            <a:solidFill>
              <a:srgbClr val="111111"/>
            </a:solidFill>
            <a:prstDash val="solid"/>
          </a:ln>
        </p:spPr>
      </p:sp>
      <p:sp>
        <p:nvSpPr>
          <p:cNvPr id="16" name="Text 13"/>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Q18</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18 / 54</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「接地抵抗」の説明として正しいのはどれでしょうか？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電気機器などを地面に接続した際に電気の流れにくさを表す値。接地抵抗値が低いほど良好な接地が得られる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電気の電圧を上げたり下げたりして電力の効率的な送電・利用を可能にする装置（トランス）。鉄心と巻線で構成される</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Light Emitting Diode（発光ダイオード）を使った照明。省エネ・長寿命・即時点灯が特徴で、現在最も普及している照明方式</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電気機器の金属筐体などを大地に接続し漏電や過電圧が発生した場合に電気を大地に逃がして感電や機器損傷を防ぐ安全対策</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Q18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18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接地抵抗</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接地抵抗（せっちていこう）</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電気機器などを地面に接続した際に電気の流れにくさを表す値。接地抵抗値が低いほど良好な接地が得られる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Q19</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19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住宅や建物の電気配線に最もよく使われる電線の一種。ビニル絶縁ビニルシースフラットケーブルの略称</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VVFケーブル</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主幹ブレーカー</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照明器具</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高圧受電設備</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Q19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19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VVFケーブル</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VVFケーブル（ぶいぶいえふけーぶる）</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住宅や建物の電気配線に最もよく使われる電線の一種。ビニル絶縁ビニルシースフラットケーブルの略称</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Q20</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20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高圧・低圧の電力ケーブル。架橋ポリエチレン絶縁ビニルシースケーブルの略で、耐熱性・耐水性に優れる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発電機</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CVケーブル</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アウトレットボックス</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VE管</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Q20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20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CVケーブル</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CVケーブル（しーぶいけーぶる）</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高圧・低圧の電力ケーブル。架橋ポリエチレン絶縁ビニルシースケーブルの略で、耐熱性・耐水性に優れる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Q21</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21 / 54</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「PF管」の説明として正しいのはどれでしょうか？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メガーとも呼ばれる、電線や機器の絶縁状態を測定するための計器。漏電・絶縁劣化の診断に使われる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プラスチック フレキシブル コンジットの略。電線・ケーブルの保護管として使われる可撓性のある合成樹脂製配管</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光で部屋や場所を明るくするための器具全般。LED・蛍光灯・白熱灯など様々な種類があり用途に合わせて選ばれる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電気の流れそのもの。つまり電気が流れている量のこと。単位はアンペア（A）で表される</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Q21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21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PF管</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PF管（ぴーえふかん）</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プラスチック フレキシブル コンジットの略。電線・ケーブルの保護管として使われる可撓性のある合成樹脂製配管</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Q22</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22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コンクリート埋設用の電線保護管（オレンジ色）。コンクリートへの埋設専用のため単独使用では露出配管はできない</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UPS</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漏電ブレーカー</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CD管</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絶縁</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Q22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22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CD管</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CD管（しーでぃーかん）</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コンクリート埋設用の電線保護管（オレンジ色）。コンクリートへの埋設専用のため単独使用では露出配管はできない</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Q23</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23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電線保護や隠蔽目的で用いられる金属製の電線管。直管型の鋼製電線管や屈曲が可能な可とう電線管（金属製可とう電線管）がある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分電盤</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テスター</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主幹ブレーカー</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金属管</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Q23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23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金属管</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金属管（きんぞくかん）</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電線保護や隠蔽目的で用いられる金属製の電線管。直管型の鋼製電線管や屈曲が可能な可とう電線管（金属製可とう電線管）がある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Q24</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24 / 54</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「VE管」の説明として正しいのはどれでしょうか？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硬質ポリ塩化ビニル電線管の略。耐腐食性・絶縁性に優れた合成樹脂製の電線保護管で屋外・地中埋設にも使われる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光で部屋や場所を明るくするための器具全般。LED・蛍光灯・白熱灯など様々な種類があり用途に合わせて選ばれる</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電気回路のオン・オフや切り替えを行うための器具。照明・換気扇・電熱器など様々な電気機器の制御に使われる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電気機器の金属筐体などを大地に接続し漏電や過電圧が発生した場合に電気を大地に逃がして感電や機器損傷を防ぐ安全対策</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Q24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24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VE管</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VE管（ぶいいーかん）</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硬質ポリ塩化ビニル電線管の略。耐腐食性・絶縁性に優れた合成樹脂製の電線保護管で屋外・地中埋設にも使われる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Q25</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25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電線やケーブルの分岐・接続・敷設を容易にするために設置される箱型のケース。大量のケーブルを集約する場所に使われる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プルボックス</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送配電</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VE管</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低圧受電設備</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Q25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25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プルボックス</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プルボックス（ぷるぼっくす）</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電線やケーブルの分岐・接続・敷設を容易にするために設置される箱型のケース。大量のケーブルを集約する場所に使われる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Q26</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26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電線やケーブルの配線工事で配線の分岐・接続・器具の取り付けに使用される金属製または樹脂製のボックス</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系統連系</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PF管</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遮断器</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アウトレットボックス</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Q26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26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アウトレットボックス</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アウトレットボックス（あうとれっとぼっくす）</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電線やケーブルの配線工事で配線の分岐・接続・器具の取り付けに使用される金属製または樹脂製のボックス</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Q27</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27 / 54</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「ジャンクションボックス」の説明として正しいのはどれでしょうか？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電線やケーブルの分岐・接続・敷設を容易にするために設置される箱型のケース。大量のケーブルを集約する場所に使われる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電力供給システムにおいてメインの配電盤から各部屋や設備への電力を分配する装置。ブレーカー類が内蔵されている</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電線やケーブルの接続部分を保護するために使われる箱状の部材。屋外や湿潤な環境でも安全に配線接続ができる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電気が流れる道（ルート）のこと。電源・導体・負荷・スイッチなどが組み合わさって構成される電気の経路</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Q27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27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ジャンクションボックス</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ジャンクションボックス（じゃんくしょんぼっくす）</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電線やケーブルの接続部分を保護するために使われる箱状の部材。屋外や湿潤な環境でも安全に配線接続ができる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Q28</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28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電気を通さない物（絶縁体）で電気回路や導体を覆い、漏電・感電・短絡を防ぐこと。ゴム・樹脂・セラミックなどが絶縁材料</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絶縁</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電気回路</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低圧受電設備</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アース</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Q28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28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絶縁</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絶縁（ぜつえん）</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電気を通さない物（絶縁体）で電気回路や導体を覆い、漏電・感電・短絡を防ぐこと。ゴム・樹脂・セラミックなどが絶縁材料</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Q29</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29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電気（電流）をよく通す物質や材料。電線や電気回路において電気を効率よく流すために使われる。銅・アルミニウムが代表的</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主幹ブレーカー</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電気回路</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火災報知設備</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導体</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Q29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29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導体</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導体（どうたい）</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電気（電流）をよく通す物質や材料。電線や電気回路において電気を効率よく流すために使われる。銅・アルミニウムが代表的</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Q30</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30 / 54</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「負荷」の説明として正しいのはどれでしょうか？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電気回路で電気エネルギーを消費する機器や装置のこと。照明・モーター・ヒーターなどが負荷に当たる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漏電による感電や火災を防ぐ役割を担っていて、漏電を検知すると自動的に電気回路を遮断する安全装置</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電線やケーブルの接続部分を保護するために使われる箱状の部材。屋外や湿潤な環境でも安全に配線接続ができる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電気の電圧を上げたり下げたりして電力の効率的な送電・利用を可能にする装置（トランス）。鉄心と巻線で構成される</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Q30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30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負荷</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負荷（ふか）</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電気回路で電気エネルギーを消費する機器や装置のこと。照明・モーター・ヒーターなどが負荷に当たる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Q31</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31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電気（電流）を押し出す圧力のようなもの。単位はボルト（V）で表され、日本の家庭用電源は100Vが基準</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配線工事</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電気回路</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低圧受電設備</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電圧</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Q31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31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電圧</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電圧（でんあつ）</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電気（電流）を押し出す圧力のようなもの。単位はボルト（V）で表され、日本の家庭用電源は100Vが基準</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Q32</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32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電気の流れそのもの。つまり電気が流れている量のこと。単位はアンペア（A）で表される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充電部</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電流</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分電盤</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主幹ブレーカー</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Q32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32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電流</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電流（でんりゅう）</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電気の流れそのもの。つまり電気が流れている量のこと。単位はアンペア（A）で表される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Q33</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33 / 54</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「電力」の説明として正しいのはどれでしょうか？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電気を使う速さ・エネルギーの量を示すもの。単位はワット（W）。電力＝電圧（V）×電流（A）で求められる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水銀蒸気が入ったガラス管内で放電を起こし、その際に発生する紫外線を蛍光物質で可視光線に変換して発光する照明器具</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発電所で作られた電気を家庭や工場・商業施設などの需要家に届けるための電力インフラ。送電線・変電所・配電線などで構成される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電気（電流）をよく通す物質や材料。電線や電気回路において電気を効率よく流すために使われる。銅・アルミニウムが代表的</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Q33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33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電力</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電力（でんりょく）</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電気を使う速さ・エネルギーの量を示すもの。単位はワット（W）。電力＝電圧（V）×電流（A）で求められる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Q34</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34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ある期間内に発生または消費された電気エネルギーの総量。電力量＝電力（ワット）×時間（時間）で求められ、単位はWh・kWh</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電気回路</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テスター</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アウトレットボックス</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電力量</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Q34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34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電力量</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電力量（でんりょくりょう）</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ある期間内に発生または消費された電気エネルギーの総量。電力量＝電力（ワット）×時間（時間）で求められ、単位はWh・kWh</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Q35</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35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建物や家庭で使った電気の量（電力量）を測定・記録する計器。電力会社の検針に使われる「電気メーター」のこと</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アウトレットボックス</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電力量計</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スイッチ</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送配電</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Q35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35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電力量計</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電力量計（でんりょくりょうけい）</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建物や家庭で使った電気の量（電力量）を測定・記録する計器。電力会社の検針に使われる「電気メーター」のこと</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Q36</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36 / 54</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「系統連系」の説明として正しいのはどれでしょうか？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自家発電設備（太陽光発電など）を電力会社の電力系統（送電網や配電網）に接続すること。余剰電力を売電する際に必要</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電気回路に過電流や異常な状態が発生した際にその電流を遮断し回路や電気機器を保護する装置。ブレーカーの一種</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硬質ポリ塩化ビニル電線管の略。耐腐食性・絶縁性に優れた合成樹脂製の電線保護管で屋外・地中埋設にも使われる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電気（電流）をよく通す物質や材料。電線や電気回路において電気を効率よく流すために使われる。銅・アルミニウムが代表的</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Q36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36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系統連系</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系統連系（けいとうれんけい）</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自家発電設備（太陽光発電など）を電力会社の電力系統（送電網や配電網）に接続すること。余剰電力を売電する際に必要</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Q37</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37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直流電流（DC）を交流電流（AC）に変換、またはモーターの回転数を制御するための電子機器。省エネ・精密制御に多用される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照度</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主幹ブレーカー</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ライティングレール</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インバーター</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Q37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37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インバーター</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インバーター（いんばーたー）</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直流電流（DC）を交流電流（AC）に変換、またはモーターの回転数を制御するための電子機器。省エネ・精密制御に多用される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Q38</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38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無停電電源装置（Uninterruptible Power Supply）。停電や電源の落ち込みが起きた場合にバッテリーから電力を供給し機器の稼働を継続させる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UPS</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変圧器</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PF管</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電力量</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Q38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38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UPS</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UPS（ゆーぴーえす）</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無停電電源装置（Uninterruptible Power Supply）。停電や電源の落ち込みが起きた場合にバッテリーから電力を供給し機器の稼働を継続させる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Q39</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39 / 54</a:t>
            </a:r>
            <a:endParaRPr lang="en-US" sz="1400" dirty="0"/>
          </a:p>
        </p:txBody>
      </p:sp>
      <p:sp>
        <p:nvSpPr>
          <p:cNvPr id="8" name="Text 6"/>
          <p:cNvSpPr/>
          <p:nvPr/>
        </p:nvSpPr>
        <p:spPr>
          <a:xfrm>
            <a:off x="182880" y="804672"/>
            <a:ext cx="658368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「発電機」の説明として正しいのはどれでしょうか？</a:t>
            </a:r>
            <a:endParaRPr lang="en-US" sz="1700" dirty="0"/>
          </a:p>
        </p:txBody>
      </p:sp>
      <p:sp>
        <p:nvSpPr>
          <p:cNvPr id="9" name="Shape 7"/>
          <p:cNvSpPr/>
          <p:nvPr/>
        </p:nvSpPr>
        <p:spPr>
          <a:xfrm>
            <a:off x="7132320" y="804672"/>
            <a:ext cx="1737360" cy="1371600"/>
          </a:xfrm>
          <a:prstGeom prst="rect">
            <a:avLst/>
          </a:prstGeom>
          <a:solidFill>
            <a:srgbClr val="FFFFFF"/>
          </a:solidFill>
          <a:ln w="12700">
            <a:solidFill>
              <a:srgbClr val="DDDDDD"/>
            </a:solidFill>
            <a:prstDash val="solid"/>
          </a:ln>
        </p:spPr>
      </p:sp>
      <p:pic>
        <p:nvPicPr>
          <p:cNvPr id="10" name="Image 0" descr="/home/claude/unpacked_電気用語集/ppt/media/image6.png">    </p:cNvPr>
          <p:cNvPicPr>
            <a:picLocks noChangeAspect="1"/>
          </p:cNvPicPr>
          <p:nvPr/>
        </p:nvPicPr>
        <p:blipFill>
          <a:blip r:embed="rId1"/>
          <a:srcRect l="0" r="0" t="0" b="0"/>
          <a:stretch/>
        </p:blipFill>
        <p:spPr>
          <a:xfrm>
            <a:off x="7178040" y="850392"/>
            <a:ext cx="1645920" cy="1280160"/>
          </a:xfrm>
          <a:prstGeom prst="rect">
            <a:avLst/>
          </a:prstGeom>
        </p:spPr>
      </p:pic>
      <p:sp>
        <p:nvSpPr>
          <p:cNvPr id="11" name="Shape 8"/>
          <p:cNvSpPr/>
          <p:nvPr/>
        </p:nvSpPr>
        <p:spPr>
          <a:xfrm>
            <a:off x="274320" y="1463040"/>
            <a:ext cx="6675120" cy="749808"/>
          </a:xfrm>
          <a:prstGeom prst="rect">
            <a:avLst/>
          </a:prstGeom>
          <a:solidFill>
            <a:srgbClr val="E3F2FD"/>
          </a:solidFill>
          <a:ln w="19050">
            <a:solidFill>
              <a:srgbClr val="1565C0"/>
            </a:solidFill>
            <a:prstDash val="solid"/>
          </a:ln>
        </p:spPr>
      </p:sp>
      <p:sp>
        <p:nvSpPr>
          <p:cNvPr id="12" name="Shape 9"/>
          <p:cNvSpPr/>
          <p:nvPr/>
        </p:nvSpPr>
        <p:spPr>
          <a:xfrm>
            <a:off x="274320" y="1463040"/>
            <a:ext cx="457200" cy="749808"/>
          </a:xfrm>
          <a:prstGeom prst="rect">
            <a:avLst/>
          </a:prstGeom>
          <a:solidFill>
            <a:srgbClr val="1565C0"/>
          </a:solidFill>
          <a:ln w="12700">
            <a:solidFill>
              <a:srgbClr val="1565C0"/>
            </a:solidFill>
            <a:prstDash val="solid"/>
          </a:ln>
        </p:spPr>
      </p:sp>
      <p:sp>
        <p:nvSpPr>
          <p:cNvPr id="13" name="Text 10"/>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4" name="Text 11"/>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外部から加えたエネルギー（回転など）を使って電気エネルギーに変換する装置。非常用・自家用発電に使われる</a:t>
            </a:r>
            <a:endParaRPr lang="en-US" sz="1200" dirty="0"/>
          </a:p>
        </p:txBody>
      </p:sp>
      <p:sp>
        <p:nvSpPr>
          <p:cNvPr id="15" name="Shape 12"/>
          <p:cNvSpPr/>
          <p:nvPr/>
        </p:nvSpPr>
        <p:spPr>
          <a:xfrm>
            <a:off x="274320" y="2331720"/>
            <a:ext cx="6675120" cy="749808"/>
          </a:xfrm>
          <a:prstGeom prst="rect">
            <a:avLst/>
          </a:prstGeom>
          <a:solidFill>
            <a:srgbClr val="F3E5F5"/>
          </a:solidFill>
          <a:ln w="19050">
            <a:solidFill>
              <a:srgbClr val="6A1B9A"/>
            </a:solidFill>
            <a:prstDash val="solid"/>
          </a:ln>
        </p:spPr>
      </p:sp>
      <p:sp>
        <p:nvSpPr>
          <p:cNvPr id="16" name="Shape 13"/>
          <p:cNvSpPr/>
          <p:nvPr/>
        </p:nvSpPr>
        <p:spPr>
          <a:xfrm>
            <a:off x="274320" y="2331720"/>
            <a:ext cx="457200" cy="749808"/>
          </a:xfrm>
          <a:prstGeom prst="rect">
            <a:avLst/>
          </a:prstGeom>
          <a:solidFill>
            <a:srgbClr val="6A1B9A"/>
          </a:solidFill>
          <a:ln w="12700">
            <a:solidFill>
              <a:srgbClr val="6A1B9A"/>
            </a:solidFill>
            <a:prstDash val="solid"/>
          </a:ln>
        </p:spPr>
      </p:sp>
      <p:sp>
        <p:nvSpPr>
          <p:cNvPr id="17" name="Text 14"/>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8" name="Text 15"/>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電気が流れる道（ルート）のこと。電源・導体・負荷・スイッチなどが組み合わさって構成される電気の経路</a:t>
            </a:r>
            <a:endParaRPr lang="en-US" sz="1200" dirty="0"/>
          </a:p>
        </p:txBody>
      </p:sp>
      <p:sp>
        <p:nvSpPr>
          <p:cNvPr id="19" name="Shape 16"/>
          <p:cNvSpPr/>
          <p:nvPr/>
        </p:nvSpPr>
        <p:spPr>
          <a:xfrm>
            <a:off x="274320" y="3200400"/>
            <a:ext cx="6675120" cy="749808"/>
          </a:xfrm>
          <a:prstGeom prst="rect">
            <a:avLst/>
          </a:prstGeom>
          <a:solidFill>
            <a:srgbClr val="E8F5E9"/>
          </a:solidFill>
          <a:ln w="19050">
            <a:solidFill>
              <a:srgbClr val="1B5E20"/>
            </a:solidFill>
            <a:prstDash val="solid"/>
          </a:ln>
        </p:spPr>
      </p:sp>
      <p:sp>
        <p:nvSpPr>
          <p:cNvPr id="20" name="Shape 17"/>
          <p:cNvSpPr/>
          <p:nvPr/>
        </p:nvSpPr>
        <p:spPr>
          <a:xfrm>
            <a:off x="274320" y="3200400"/>
            <a:ext cx="457200" cy="749808"/>
          </a:xfrm>
          <a:prstGeom prst="rect">
            <a:avLst/>
          </a:prstGeom>
          <a:solidFill>
            <a:srgbClr val="1B5E20"/>
          </a:solidFill>
          <a:ln w="12700">
            <a:solidFill>
              <a:srgbClr val="1B5E20"/>
            </a:solidFill>
            <a:prstDash val="solid"/>
          </a:ln>
        </p:spPr>
      </p:sp>
      <p:sp>
        <p:nvSpPr>
          <p:cNvPr id="21" name="Text 18"/>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2" name="Text 19"/>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電圧がかかっている状態＝電流が流れている電線や機器のこと。感電の危険があるため適切な絶縁や保護が必要</a:t>
            </a:r>
            <a:endParaRPr lang="en-US" sz="1200" dirty="0"/>
          </a:p>
        </p:txBody>
      </p:sp>
      <p:sp>
        <p:nvSpPr>
          <p:cNvPr id="23" name="Shape 20"/>
          <p:cNvSpPr/>
          <p:nvPr/>
        </p:nvSpPr>
        <p:spPr>
          <a:xfrm>
            <a:off x="274320" y="4069080"/>
            <a:ext cx="6675120" cy="749808"/>
          </a:xfrm>
          <a:prstGeom prst="rect">
            <a:avLst/>
          </a:prstGeom>
          <a:solidFill>
            <a:srgbClr val="FFEBEE"/>
          </a:solidFill>
          <a:ln w="19050">
            <a:solidFill>
              <a:srgbClr val="B71C1C"/>
            </a:solidFill>
            <a:prstDash val="solid"/>
          </a:ln>
        </p:spPr>
      </p:sp>
      <p:sp>
        <p:nvSpPr>
          <p:cNvPr id="24" name="Shape 21"/>
          <p:cNvSpPr/>
          <p:nvPr/>
        </p:nvSpPr>
        <p:spPr>
          <a:xfrm>
            <a:off x="274320" y="4069080"/>
            <a:ext cx="457200" cy="749808"/>
          </a:xfrm>
          <a:prstGeom prst="rect">
            <a:avLst/>
          </a:prstGeom>
          <a:solidFill>
            <a:srgbClr val="B71C1C"/>
          </a:solidFill>
          <a:ln w="12700">
            <a:solidFill>
              <a:srgbClr val="B71C1C"/>
            </a:solidFill>
            <a:prstDash val="solid"/>
          </a:ln>
        </p:spPr>
      </p:sp>
      <p:sp>
        <p:nvSpPr>
          <p:cNvPr id="25" name="Text 22"/>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6" name="Text 23"/>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高圧・低圧の電力ケーブル。架橋ポリエチレン絶縁ビニルシースケーブルの略で、耐熱性・耐水性に優れる</a:t>
            </a:r>
            <a:endParaRPr lang="en-US" sz="1200" dirty="0"/>
          </a:p>
        </p:txBody>
      </p:sp>
      <p:sp>
        <p:nvSpPr>
          <p:cNvPr id="27" name="Shape 24"/>
          <p:cNvSpPr/>
          <p:nvPr/>
        </p:nvSpPr>
        <p:spPr>
          <a:xfrm>
            <a:off x="0" y="4983480"/>
            <a:ext cx="9144000" cy="160020"/>
          </a:xfrm>
          <a:prstGeom prst="rect">
            <a:avLst/>
          </a:prstGeom>
          <a:solidFill>
            <a:srgbClr val="2C2C2C"/>
          </a:solidFill>
          <a:ln w="12700">
            <a:solidFill>
              <a:srgbClr val="2C2C2C"/>
            </a:solidFill>
            <a:prstDash val="solid"/>
          </a:ln>
        </p:spPr>
      </p:sp>
      <p:sp>
        <p:nvSpPr>
          <p:cNvPr id="28" name="Text 25"/>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Q39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39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発電機</a:t>
            </a:r>
            <a:endParaRPr lang="en-US" sz="2200" dirty="0"/>
          </a:p>
        </p:txBody>
      </p:sp>
      <p:sp>
        <p:nvSpPr>
          <p:cNvPr id="9" name="Shape 7"/>
          <p:cNvSpPr/>
          <p:nvPr/>
        </p:nvSpPr>
        <p:spPr>
          <a:xfrm>
            <a:off x="6583680" y="2011680"/>
            <a:ext cx="2286000" cy="2286000"/>
          </a:xfrm>
          <a:prstGeom prst="rect">
            <a:avLst/>
          </a:prstGeom>
          <a:solidFill>
            <a:srgbClr val="FFFFFF"/>
          </a:solidFill>
          <a:ln w="12700">
            <a:solidFill>
              <a:srgbClr val="444444"/>
            </a:solidFill>
            <a:prstDash val="solid"/>
          </a:ln>
        </p:spPr>
      </p:sp>
      <p:pic>
        <p:nvPicPr>
          <p:cNvPr id="10" name="Image 0" descr="/home/claude/unpacked_電気用語集/ppt/media/image6.png">    </p:cNvPr>
          <p:cNvPicPr>
            <a:picLocks noChangeAspect="1"/>
          </p:cNvPicPr>
          <p:nvPr/>
        </p:nvPicPr>
        <p:blipFill>
          <a:blip r:embed="rId1"/>
          <a:srcRect l="0" r="0" t="0" b="0"/>
          <a:stretch/>
        </p:blipFill>
        <p:spPr>
          <a:xfrm>
            <a:off x="6675120" y="2103120"/>
            <a:ext cx="2103120" cy="2103120"/>
          </a:xfrm>
          <a:prstGeom prst="rect">
            <a:avLst/>
          </a:prstGeom>
        </p:spPr>
      </p:pic>
      <p:sp>
        <p:nvSpPr>
          <p:cNvPr id="11" name="Shape 8"/>
          <p:cNvSpPr/>
          <p:nvPr/>
        </p:nvSpPr>
        <p:spPr>
          <a:xfrm>
            <a:off x="274320" y="1965960"/>
            <a:ext cx="6126480" cy="457200"/>
          </a:xfrm>
          <a:prstGeom prst="rect">
            <a:avLst/>
          </a:prstGeom>
          <a:solidFill>
            <a:srgbClr val="E8611A"/>
          </a:solidFill>
          <a:ln w="12700">
            <a:solidFill>
              <a:srgbClr val="E8611A"/>
            </a:solidFill>
            <a:prstDash val="solid"/>
          </a:ln>
        </p:spPr>
      </p:sp>
      <p:sp>
        <p:nvSpPr>
          <p:cNvPr id="12" name="Text 9"/>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3" name="Text 10"/>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発電機（はつでんき）</a:t>
            </a:r>
            <a:endParaRPr lang="en-US" sz="1600" dirty="0"/>
          </a:p>
        </p:txBody>
      </p:sp>
      <p:sp>
        <p:nvSpPr>
          <p:cNvPr id="14" name="Text 11"/>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外部から加えたエネルギー（回転など）を使って電気エネルギーに変換する装置。非常用・自家用発電に使われる</a:t>
            </a:r>
            <a:endParaRPr lang="en-US" sz="1400" dirty="0"/>
          </a:p>
        </p:txBody>
      </p:sp>
      <p:sp>
        <p:nvSpPr>
          <p:cNvPr id="15" name="Shape 12"/>
          <p:cNvSpPr/>
          <p:nvPr/>
        </p:nvSpPr>
        <p:spPr>
          <a:xfrm>
            <a:off x="0" y="4983480"/>
            <a:ext cx="9144000" cy="160020"/>
          </a:xfrm>
          <a:prstGeom prst="rect">
            <a:avLst/>
          </a:prstGeom>
          <a:solidFill>
            <a:srgbClr val="111111"/>
          </a:solidFill>
          <a:ln w="12700">
            <a:solidFill>
              <a:srgbClr val="111111"/>
            </a:solidFill>
            <a:prstDash val="solid"/>
          </a:ln>
        </p:spPr>
      </p:sp>
      <p:sp>
        <p:nvSpPr>
          <p:cNvPr id="16" name="Text 13"/>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Q40</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40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多くの電気ケーブルや通信ケーブルをまとめて整理・支持するための構造物。天井や壁に設置される梯子状のラック</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電力量</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遮断器</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ケーブルラック</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金属管</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Q40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40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ケーブルラック</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ケーブルラック（けーぶるらっく）</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多くの電気ケーブルや通信ケーブルをまとめて整理・支持するための構造物。天井や壁に設置される梯子状のラック</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Q41</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41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照明器具を自由に取り付け・移動・増設できるレール状の配線器具。店舗やギャラリーなどで多く使われる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主幹ブレーカー</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電圧</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ライティングレール</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金属管</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Q41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41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ライティングレール</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ライティングレール（らいてぃんぐれーる）</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照明器具を自由に取り付け・移動・増設できるレール状の配線器具。店舗やギャラリーなどで多く使われる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Q42</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42 / 54</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「弱電設備」の説明として正しいのはどれでしょうか？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48V以下の電圧で電気信号として使用し情報を伝達するための設備。電話・インターネット・TV・インターホンなどが含まれる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電気を通すために電線（コード）をつないで電気機器や設備を使えるようにする工事のこと。建物の電気設備工事の基本</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電気の配線にコードを接続するために壁などに設けるプラグの差込み口のこと。単相2極・3極など様々な規格がある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コンピュータやネットワーク機器同士を接続してデータをやりとりできるようにするための設備。オフィスや住宅に構築される</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Q42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42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弱電設備</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弱電設備（じゃくでんせつび）</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48V以下の電圧で電気信号として使用し情報を伝達するための設備。電話・インターネット・TV・インターホンなどが含まれる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Q43</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43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コンピュータやネットワーク機器同士を接続してデータをやりとりできるようにするための設備。オフィスや住宅に構築される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高圧受電設備</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LAN設備</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検電器</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金属管</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Q43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43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LAN設備</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LAN設備（らんせつび）</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コンピュータやネットワーク機器同士を接続してデータをやりとりできるようにするための設備。オフィスや住宅に構築される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Q44</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44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1つのテレビアンテナで受信した電波を複数の部屋やテレビへ分配するための設備。マンションや集合住宅に設置される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テレビ共聴設備</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CD管</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充電部</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弱電設備</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Q44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44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テレビ共聴設備</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テレビ共聴設備（てれびきょうちょうせつび）</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1つのテレビアンテナで受信した電波を複数の部屋やテレビへ分配するための設備。マンションや集合住宅に設置される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Q45</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45 / 54</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「インターホン」の説明として正しいのはどれでしょうか？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主に玄関に設置された呼び出し装置と室内に設置された応答装置で構成される通話設備。防犯・来客確認に使われる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建物や空間の用途や目的に応じて適切な明るさ・色温度・光源の種類・配置などを設計する作業。快適で省エネな照明環境を実現する</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多くの電気ケーブルや通信ケーブルをまとめて整理・支持するための構造物。天井や壁に設置される梯子状のラック</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電気回路のオン・オフや切り替えを行うための器具。照明・換気扇・電熱器など様々な電気機器の制御に使われる</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Q45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45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インターホン</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インターホン（いんたーほん）</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主に玄関に設置された呼び出し装置と室内に設置された応答装置で構成される通話設備。防犯・来客確認に使われる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Q46</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46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火災によって発生する熱・煙・炎などを感知して警報を発し在館者に知らせるための設備。消防法により設置が義務付けられている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導体</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ケーブルラック</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テレビ共聴設備</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火災報知設備</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Q46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46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火災報知設備</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火災報知設備（かさいほうちせつび）</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火災によって発生する熱・煙・炎などを感知して警報を発し在館者に知らせるための設備。消防法により設置が義務付けられている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Q47</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47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停電時や災害時に備えて避難経路を照らし安全に避難を助けるための照明器具。充電式バッテリーを内蔵している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低圧受電設備</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分電盤</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ケーブルラック</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非常灯</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Q47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47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非常灯</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非常灯（ひじょうとう）</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停電時や災害時に備えて避難経路を照らし安全に避難を助けるための照明器具。充電式バッテリーを内蔵している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Q48</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48 / 54</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「誘導灯」の説明として正しいのはどれでしょうか？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住宅分電盤の一番最初に設置されているブレーカー。使用電力が契約アンペアを超えると遮断し、建物全体の電力を管理する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火災や緊急時の避難を安全に行うために避難口や避難方向を示すための照明器具。緑色地に白い絵文字で表示される</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電気回路に過電流や異常な状態が発生した際にその電流を遮断し回路や電気機器を保護する装置。ブレーカーの一種</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電線保護や隠蔽目的で用いられる金属製の電線管。直管型の鋼製電線管や屈曲が可能な可とう電線管（金属製可とう電線管）がある</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Q48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48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誘導灯</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誘導灯（ゆうどうとう）</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火災や緊急時の避難を安全に行うために避難口や避難方向を示すための照明器具。緑色地に白い絵文字で表示される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Q49</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49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ある面にどれだけの光が当たっているかを示す物理量。単位はルクス（lux）。照明設計の基準値として使われる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照度</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インターホン</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UPS</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PF管</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Q49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49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照度</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照度（しょうど）</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ある面にどれだけの光が当たっているかを示す物理量。単位はルクス（lux）。照明設計の基準値として使われる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Q50</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50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建物や空間の用途や目的に応じて適切な明るさ・色温度・光源の種類・配置などを設計する作業。快適で省エネな照明環境を実現する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照明計画</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漏電ブレーカー</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接地</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CD管</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Q50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50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照明計画</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照明計画（しょうめいけいかく）</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建物や空間の用途や目的に応じて適切な明るさ・色温度・光源の種類・配置などを設計する作業。快適で省エネな照明環境を実現する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Q51</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51 / 54</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「充電部」の説明として正しいのはどれでしょうか？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電気の電圧を上げたり下げたりして電力の効率的な送電・利用を可能にする装置（トランス）。鉄心と巻線で構成される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電力供給システムにおいてメインの配電盤から各部屋や設備への電力を分配する装置。ブレーカー類が内蔵されている</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プラスチック フレキシブル コンジットの略。電線・ケーブルの保護管として使われる可撓性のある合成樹脂製配管</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電圧がかかっている状態＝電流が流れている電線や機器のこと。感電の危険があるため適切な絶縁や保護が必要</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Q51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51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充電部</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充電部（じゅうでんぶ）</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電圧がかかっている状態＝電流が流れている電線や機器のこと。感電の危険があるため適切な絶縁や保護が必要</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Q52</a:t>
            </a:r>
            <a:endParaRPr lang="en-US" sz="2200" dirty="0"/>
          </a:p>
        </p:txBody>
      </p:sp>
      <p:sp>
        <p:nvSpPr>
          <p:cNvPr id="5" name="Shape 3"/>
          <p:cNvSpPr/>
          <p:nvPr/>
        </p:nvSpPr>
        <p:spPr>
          <a:xfrm>
            <a:off x="1005840" y="118872"/>
            <a:ext cx="1828800" cy="420624"/>
          </a:xfrm>
          <a:prstGeom prst="roundRect">
            <a:avLst>
              <a:gd name="adj" fmla="val 17391"/>
            </a:avLst>
          </a:prstGeom>
          <a:solidFill>
            <a:srgbClr val="1565C0"/>
          </a:solidFill>
          <a:ln w="12700">
            <a:solidFill>
              <a:srgbClr val="1565C0"/>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写真問題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52 / 54</a:t>
            </a:r>
            <a:endParaRPr lang="en-US" sz="1400" dirty="0"/>
          </a:p>
        </p:txBody>
      </p:sp>
      <p:sp>
        <p:nvSpPr>
          <p:cNvPr id="8" name="Text 6"/>
          <p:cNvSpPr/>
          <p:nvPr/>
        </p:nvSpPr>
        <p:spPr>
          <a:xfrm>
            <a:off x="182880" y="822960"/>
            <a:ext cx="8778240" cy="45720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この写真に関係する用語はどれでしょうか？</a:t>
            </a:r>
            <a:endParaRPr lang="en-US" sz="1800" dirty="0"/>
          </a:p>
        </p:txBody>
      </p:sp>
      <p:sp>
        <p:nvSpPr>
          <p:cNvPr id="9" name="Shape 7"/>
          <p:cNvSpPr/>
          <p:nvPr/>
        </p:nvSpPr>
        <p:spPr>
          <a:xfrm>
            <a:off x="274320" y="1371600"/>
            <a:ext cx="3840480" cy="3200400"/>
          </a:xfrm>
          <a:prstGeom prst="rect">
            <a:avLst/>
          </a:prstGeom>
          <a:solidFill>
            <a:srgbClr val="FFFFFF"/>
          </a:solidFill>
          <a:ln w="12700">
            <a:solidFill>
              <a:srgbClr val="DDDDDD"/>
            </a:solidFill>
            <a:prstDash val="solid"/>
          </a:ln>
        </p:spPr>
      </p:sp>
      <p:pic>
        <p:nvPicPr>
          <p:cNvPr id="10" name="Image 0" descr="/home/claude/unpacked_電気用語集/ppt/media/image7.png">    </p:cNvPr>
          <p:cNvPicPr>
            <a:picLocks noChangeAspect="1"/>
          </p:cNvPicPr>
          <p:nvPr/>
        </p:nvPicPr>
        <p:blipFill>
          <a:blip r:embed="rId1"/>
          <a:srcRect l="0" r="0" t="0" b="0"/>
          <a:stretch/>
        </p:blipFill>
        <p:spPr>
          <a:xfrm>
            <a:off x="365760" y="1463040"/>
            <a:ext cx="3657600" cy="3017520"/>
          </a:xfrm>
          <a:prstGeom prst="rect">
            <a:avLst/>
          </a:prstGeom>
        </p:spPr>
      </p:pic>
      <p:sp>
        <p:nvSpPr>
          <p:cNvPr id="11" name="Shape 8"/>
          <p:cNvSpPr/>
          <p:nvPr/>
        </p:nvSpPr>
        <p:spPr>
          <a:xfrm>
            <a:off x="4572000" y="1371600"/>
            <a:ext cx="2194560" cy="1280160"/>
          </a:xfrm>
          <a:prstGeom prst="rect">
            <a:avLst/>
          </a:prstGeom>
          <a:solidFill>
            <a:srgbClr val="E3F2FD"/>
          </a:solidFill>
          <a:ln w="19050">
            <a:solidFill>
              <a:srgbClr val="1565C0"/>
            </a:solidFill>
            <a:prstDash val="solid"/>
          </a:ln>
        </p:spPr>
      </p:sp>
      <p:sp>
        <p:nvSpPr>
          <p:cNvPr id="12" name="Text 9"/>
          <p:cNvSpPr/>
          <p:nvPr/>
        </p:nvSpPr>
        <p:spPr>
          <a:xfrm>
            <a:off x="4617720" y="1417320"/>
            <a:ext cx="320040" cy="320040"/>
          </a:xfrm>
          <a:prstGeom prst="rect">
            <a:avLst/>
          </a:prstGeom>
          <a:solidFill>
            <a:srgbClr val="1565C0"/>
          </a:solidFill>
          <a:ln/>
        </p:spPr>
        <p:txBody>
          <a:bodyPr wrap="square" rtlCol="0" anchor="ctr"/>
          <a:lstStyle/>
          <a:p>
            <a:pPr algn="ctr" indent="0" marL="0">
              <a:buNone/>
            </a:pPr>
            <a:r>
              <a:rPr lang="en-US" sz="1200" b="1" dirty="0">
                <a:solidFill>
                  <a:srgbClr val="FFFFFF"/>
                </a:solidFill>
                <a:latin typeface="メイリオ" pitchFamily="34" charset="0"/>
                <a:ea typeface="メイリオ" pitchFamily="34" charset="-122"/>
                <a:cs typeface="メイリオ" pitchFamily="34" charset="-120"/>
              </a:rPr>
              <a:t>A</a:t>
            </a:r>
            <a:endParaRPr lang="en-US" sz="1200" dirty="0"/>
          </a:p>
        </p:txBody>
      </p:sp>
      <p:sp>
        <p:nvSpPr>
          <p:cNvPr id="13" name="Text 10"/>
          <p:cNvSpPr/>
          <p:nvPr/>
        </p:nvSpPr>
        <p:spPr>
          <a:xfrm>
            <a:off x="4663440" y="1691640"/>
            <a:ext cx="2011680" cy="822960"/>
          </a:xfrm>
          <a:prstGeom prst="rect">
            <a:avLst/>
          </a:prstGeom>
          <a:noFill/>
          <a:ln/>
        </p:spPr>
        <p:txBody>
          <a:bodyPr wrap="square" rtlCol="0" anchor="ctr"/>
          <a:lstStyle/>
          <a:p>
            <a:pPr algn="ctr" indent="0" marL="0">
              <a:buNone/>
            </a:pPr>
            <a:r>
              <a:rPr lang="en-US" sz="1300" b="1" dirty="0">
                <a:solidFill>
                  <a:srgbClr val="1565C0"/>
                </a:solidFill>
                <a:latin typeface="メイリオ" pitchFamily="34" charset="0"/>
                <a:ea typeface="メイリオ" pitchFamily="34" charset="-122"/>
                <a:cs typeface="メイリオ" pitchFamily="34" charset="-120"/>
              </a:rPr>
              <a:t>誘導灯</a:t>
            </a:r>
            <a:endParaRPr lang="en-US" sz="1300" dirty="0"/>
          </a:p>
        </p:txBody>
      </p:sp>
      <p:sp>
        <p:nvSpPr>
          <p:cNvPr id="14" name="Shape 11"/>
          <p:cNvSpPr/>
          <p:nvPr/>
        </p:nvSpPr>
        <p:spPr>
          <a:xfrm>
            <a:off x="6949440" y="1371600"/>
            <a:ext cx="2194560" cy="1280160"/>
          </a:xfrm>
          <a:prstGeom prst="rect">
            <a:avLst/>
          </a:prstGeom>
          <a:solidFill>
            <a:srgbClr val="F3E5F5"/>
          </a:solidFill>
          <a:ln w="19050">
            <a:solidFill>
              <a:srgbClr val="6A1B9A"/>
            </a:solidFill>
            <a:prstDash val="solid"/>
          </a:ln>
        </p:spPr>
      </p:sp>
      <p:sp>
        <p:nvSpPr>
          <p:cNvPr id="15" name="Text 12"/>
          <p:cNvSpPr/>
          <p:nvPr/>
        </p:nvSpPr>
        <p:spPr>
          <a:xfrm>
            <a:off x="6995160" y="1417320"/>
            <a:ext cx="320040" cy="320040"/>
          </a:xfrm>
          <a:prstGeom prst="rect">
            <a:avLst/>
          </a:prstGeom>
          <a:solidFill>
            <a:srgbClr val="6A1B9A"/>
          </a:solidFill>
          <a:ln/>
        </p:spPr>
        <p:txBody>
          <a:bodyPr wrap="square" rtlCol="0" anchor="ctr"/>
          <a:lstStyle/>
          <a:p>
            <a:pPr algn="ctr" indent="0" marL="0">
              <a:buNone/>
            </a:pPr>
            <a:r>
              <a:rPr lang="en-US" sz="1200" b="1" dirty="0">
                <a:solidFill>
                  <a:srgbClr val="FFFFFF"/>
                </a:solidFill>
                <a:latin typeface="メイリオ" pitchFamily="34" charset="0"/>
                <a:ea typeface="メイリオ" pitchFamily="34" charset="-122"/>
                <a:cs typeface="メイリオ" pitchFamily="34" charset="-120"/>
              </a:rPr>
              <a:t>B</a:t>
            </a:r>
            <a:endParaRPr lang="en-US" sz="1200" dirty="0"/>
          </a:p>
        </p:txBody>
      </p:sp>
      <p:sp>
        <p:nvSpPr>
          <p:cNvPr id="16" name="Text 13"/>
          <p:cNvSpPr/>
          <p:nvPr/>
        </p:nvSpPr>
        <p:spPr>
          <a:xfrm>
            <a:off x="7040880" y="1691640"/>
            <a:ext cx="2011680" cy="822960"/>
          </a:xfrm>
          <a:prstGeom prst="rect">
            <a:avLst/>
          </a:prstGeom>
          <a:noFill/>
          <a:ln/>
        </p:spPr>
        <p:txBody>
          <a:bodyPr wrap="square" rtlCol="0" anchor="ctr"/>
          <a:lstStyle/>
          <a:p>
            <a:pPr algn="ctr" indent="0" marL="0">
              <a:buNone/>
            </a:pPr>
            <a:r>
              <a:rPr lang="en-US" sz="1300" b="1" dirty="0">
                <a:solidFill>
                  <a:srgbClr val="6A1B9A"/>
                </a:solidFill>
                <a:latin typeface="メイリオ" pitchFamily="34" charset="0"/>
                <a:ea typeface="メイリオ" pitchFamily="34" charset="-122"/>
                <a:cs typeface="メイリオ" pitchFamily="34" charset="-120"/>
              </a:rPr>
              <a:t>VE管</a:t>
            </a:r>
            <a:endParaRPr lang="en-US" sz="1300" dirty="0"/>
          </a:p>
        </p:txBody>
      </p:sp>
      <p:sp>
        <p:nvSpPr>
          <p:cNvPr id="17" name="Shape 14"/>
          <p:cNvSpPr/>
          <p:nvPr/>
        </p:nvSpPr>
        <p:spPr>
          <a:xfrm>
            <a:off x="4572000" y="2834640"/>
            <a:ext cx="2194560" cy="1280160"/>
          </a:xfrm>
          <a:prstGeom prst="rect">
            <a:avLst/>
          </a:prstGeom>
          <a:solidFill>
            <a:srgbClr val="E8F5E9"/>
          </a:solidFill>
          <a:ln w="19050">
            <a:solidFill>
              <a:srgbClr val="1B5E20"/>
            </a:solidFill>
            <a:prstDash val="solid"/>
          </a:ln>
        </p:spPr>
      </p:sp>
      <p:sp>
        <p:nvSpPr>
          <p:cNvPr id="18" name="Text 15"/>
          <p:cNvSpPr/>
          <p:nvPr/>
        </p:nvSpPr>
        <p:spPr>
          <a:xfrm>
            <a:off x="4617720" y="2880360"/>
            <a:ext cx="320040" cy="320040"/>
          </a:xfrm>
          <a:prstGeom prst="rect">
            <a:avLst/>
          </a:prstGeom>
          <a:solidFill>
            <a:srgbClr val="1B5E20"/>
          </a:solidFill>
          <a:ln/>
        </p:spPr>
        <p:txBody>
          <a:bodyPr wrap="square" rtlCol="0" anchor="ctr"/>
          <a:lstStyle/>
          <a:p>
            <a:pPr algn="ctr" indent="0" marL="0">
              <a:buNone/>
            </a:pPr>
            <a:r>
              <a:rPr lang="en-US" sz="1200" b="1" dirty="0">
                <a:solidFill>
                  <a:srgbClr val="FFFFFF"/>
                </a:solidFill>
                <a:latin typeface="メイリオ" pitchFamily="34" charset="0"/>
                <a:ea typeface="メイリオ" pitchFamily="34" charset="-122"/>
                <a:cs typeface="メイリオ" pitchFamily="34" charset="-120"/>
              </a:rPr>
              <a:t>C</a:t>
            </a:r>
            <a:endParaRPr lang="en-US" sz="1200" dirty="0"/>
          </a:p>
        </p:txBody>
      </p:sp>
      <p:sp>
        <p:nvSpPr>
          <p:cNvPr id="19" name="Text 16"/>
          <p:cNvSpPr/>
          <p:nvPr/>
        </p:nvSpPr>
        <p:spPr>
          <a:xfrm>
            <a:off x="4663440" y="3154680"/>
            <a:ext cx="2011680" cy="822960"/>
          </a:xfrm>
          <a:prstGeom prst="rect">
            <a:avLst/>
          </a:prstGeom>
          <a:noFill/>
          <a:ln/>
        </p:spPr>
        <p:txBody>
          <a:bodyPr wrap="square" rtlCol="0" anchor="ctr"/>
          <a:lstStyle/>
          <a:p>
            <a:pPr algn="ctr" indent="0" marL="0">
              <a:buNone/>
            </a:pPr>
            <a:r>
              <a:rPr lang="en-US" sz="1300" b="1" dirty="0">
                <a:solidFill>
                  <a:srgbClr val="1B5E20"/>
                </a:solidFill>
                <a:latin typeface="メイリオ" pitchFamily="34" charset="0"/>
                <a:ea typeface="メイリオ" pitchFamily="34" charset="-122"/>
                <a:cs typeface="メイリオ" pitchFamily="34" charset="-120"/>
              </a:rPr>
              <a:t>検電器</a:t>
            </a:r>
            <a:endParaRPr lang="en-US" sz="1300" dirty="0"/>
          </a:p>
        </p:txBody>
      </p:sp>
      <p:sp>
        <p:nvSpPr>
          <p:cNvPr id="20" name="Shape 17"/>
          <p:cNvSpPr/>
          <p:nvPr/>
        </p:nvSpPr>
        <p:spPr>
          <a:xfrm>
            <a:off x="6949440" y="2834640"/>
            <a:ext cx="2194560" cy="1280160"/>
          </a:xfrm>
          <a:prstGeom prst="rect">
            <a:avLst/>
          </a:prstGeom>
          <a:solidFill>
            <a:srgbClr val="FFEBEE"/>
          </a:solidFill>
          <a:ln w="19050">
            <a:solidFill>
              <a:srgbClr val="B71C1C"/>
            </a:solidFill>
            <a:prstDash val="solid"/>
          </a:ln>
        </p:spPr>
      </p:sp>
      <p:sp>
        <p:nvSpPr>
          <p:cNvPr id="21" name="Text 18"/>
          <p:cNvSpPr/>
          <p:nvPr/>
        </p:nvSpPr>
        <p:spPr>
          <a:xfrm>
            <a:off x="6995160" y="2880360"/>
            <a:ext cx="320040" cy="320040"/>
          </a:xfrm>
          <a:prstGeom prst="rect">
            <a:avLst/>
          </a:prstGeom>
          <a:solidFill>
            <a:srgbClr val="B71C1C"/>
          </a:solidFill>
          <a:ln/>
        </p:spPr>
        <p:txBody>
          <a:bodyPr wrap="square" rtlCol="0" anchor="ctr"/>
          <a:lstStyle/>
          <a:p>
            <a:pPr algn="ctr" indent="0" marL="0">
              <a:buNone/>
            </a:pPr>
            <a:r>
              <a:rPr lang="en-US" sz="1200" b="1" dirty="0">
                <a:solidFill>
                  <a:srgbClr val="FFFFFF"/>
                </a:solidFill>
                <a:latin typeface="メイリオ" pitchFamily="34" charset="0"/>
                <a:ea typeface="メイリオ" pitchFamily="34" charset="-122"/>
                <a:cs typeface="メイリオ" pitchFamily="34" charset="-120"/>
              </a:rPr>
              <a:t>D</a:t>
            </a:r>
            <a:endParaRPr lang="en-US" sz="1200" dirty="0"/>
          </a:p>
        </p:txBody>
      </p:sp>
      <p:sp>
        <p:nvSpPr>
          <p:cNvPr id="22" name="Text 19"/>
          <p:cNvSpPr/>
          <p:nvPr/>
        </p:nvSpPr>
        <p:spPr>
          <a:xfrm>
            <a:off x="7040880" y="3154680"/>
            <a:ext cx="2011680" cy="822960"/>
          </a:xfrm>
          <a:prstGeom prst="rect">
            <a:avLst/>
          </a:prstGeom>
          <a:noFill/>
          <a:ln/>
        </p:spPr>
        <p:txBody>
          <a:bodyPr wrap="square" rtlCol="0" anchor="ctr"/>
          <a:lstStyle/>
          <a:p>
            <a:pPr algn="ctr" indent="0" marL="0">
              <a:buNone/>
            </a:pPr>
            <a:r>
              <a:rPr lang="en-US" sz="1300" b="1" dirty="0">
                <a:solidFill>
                  <a:srgbClr val="B71C1C"/>
                </a:solidFill>
                <a:latin typeface="メイリオ" pitchFamily="34" charset="0"/>
                <a:ea typeface="メイリオ" pitchFamily="34" charset="-122"/>
                <a:cs typeface="メイリオ" pitchFamily="34" charset="-120"/>
              </a:rPr>
              <a:t>系統連系</a:t>
            </a:r>
            <a:endParaRPr lang="en-US" sz="1300" dirty="0"/>
          </a:p>
        </p:txBody>
      </p:sp>
      <p:sp>
        <p:nvSpPr>
          <p:cNvPr id="23" name="Text 20"/>
          <p:cNvSpPr/>
          <p:nvPr/>
        </p:nvSpPr>
        <p:spPr>
          <a:xfrm>
            <a:off x="4572000" y="4297680"/>
            <a:ext cx="4389120" cy="365760"/>
          </a:xfrm>
          <a:prstGeom prst="rect">
            <a:avLst/>
          </a:prstGeom>
          <a:noFill/>
          <a:ln/>
        </p:spPr>
        <p:txBody>
          <a:bodyPr wrap="square" rtlCol="0" anchor="ctr"/>
          <a:lstStyle/>
          <a:p>
            <a:pPr algn="l" indent="0" marL="0">
              <a:buNone/>
            </a:pPr>
            <a:r>
              <a:rPr lang="en-US" sz="1200" i="1" dirty="0">
                <a:solidFill>
                  <a:srgbClr val="666666"/>
                </a:solidFill>
                <a:latin typeface="メイリオ" pitchFamily="34" charset="0"/>
                <a:ea typeface="メイリオ" pitchFamily="34" charset="-122"/>
                <a:cs typeface="メイリオ" pitchFamily="34" charset="-120"/>
              </a:rPr>
              <a:t>ヒント: よみ → （けんでんき）</a:t>
            </a:r>
            <a:endParaRPr lang="en-US" sz="1200" dirty="0"/>
          </a:p>
        </p:txBody>
      </p:sp>
      <p:sp>
        <p:nvSpPr>
          <p:cNvPr id="24" name="Shape 21"/>
          <p:cNvSpPr/>
          <p:nvPr/>
        </p:nvSpPr>
        <p:spPr>
          <a:xfrm>
            <a:off x="0" y="4983480"/>
            <a:ext cx="9144000" cy="160020"/>
          </a:xfrm>
          <a:prstGeom prst="rect">
            <a:avLst/>
          </a:prstGeom>
          <a:solidFill>
            <a:srgbClr val="2C2C2C"/>
          </a:solidFill>
          <a:ln w="12700">
            <a:solidFill>
              <a:srgbClr val="2C2C2C"/>
            </a:solidFill>
            <a:prstDash val="solid"/>
          </a:ln>
        </p:spPr>
      </p:sp>
      <p:sp>
        <p:nvSpPr>
          <p:cNvPr id="25" name="Text 2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Q52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52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検電器</a:t>
            </a:r>
            <a:endParaRPr lang="en-US" sz="2200" dirty="0"/>
          </a:p>
        </p:txBody>
      </p:sp>
      <p:sp>
        <p:nvSpPr>
          <p:cNvPr id="9" name="Shape 7"/>
          <p:cNvSpPr/>
          <p:nvPr/>
        </p:nvSpPr>
        <p:spPr>
          <a:xfrm>
            <a:off x="6583680" y="2011680"/>
            <a:ext cx="2286000" cy="2286000"/>
          </a:xfrm>
          <a:prstGeom prst="rect">
            <a:avLst/>
          </a:prstGeom>
          <a:solidFill>
            <a:srgbClr val="FFFFFF"/>
          </a:solidFill>
          <a:ln w="12700">
            <a:solidFill>
              <a:srgbClr val="444444"/>
            </a:solidFill>
            <a:prstDash val="solid"/>
          </a:ln>
        </p:spPr>
      </p:sp>
      <p:pic>
        <p:nvPicPr>
          <p:cNvPr id="10" name="Image 0" descr="/home/claude/unpacked_電気用語集/ppt/media/image7.png">    </p:cNvPr>
          <p:cNvPicPr>
            <a:picLocks noChangeAspect="1"/>
          </p:cNvPicPr>
          <p:nvPr/>
        </p:nvPicPr>
        <p:blipFill>
          <a:blip r:embed="rId1"/>
          <a:srcRect l="0" r="0" t="0" b="0"/>
          <a:stretch/>
        </p:blipFill>
        <p:spPr>
          <a:xfrm>
            <a:off x="6675120" y="2103120"/>
            <a:ext cx="2103120" cy="2103120"/>
          </a:xfrm>
          <a:prstGeom prst="rect">
            <a:avLst/>
          </a:prstGeom>
        </p:spPr>
      </p:pic>
      <p:sp>
        <p:nvSpPr>
          <p:cNvPr id="11" name="Shape 8"/>
          <p:cNvSpPr/>
          <p:nvPr/>
        </p:nvSpPr>
        <p:spPr>
          <a:xfrm>
            <a:off x="274320" y="1965960"/>
            <a:ext cx="6126480" cy="457200"/>
          </a:xfrm>
          <a:prstGeom prst="rect">
            <a:avLst/>
          </a:prstGeom>
          <a:solidFill>
            <a:srgbClr val="E8611A"/>
          </a:solidFill>
          <a:ln w="12700">
            <a:solidFill>
              <a:srgbClr val="E8611A"/>
            </a:solidFill>
            <a:prstDash val="solid"/>
          </a:ln>
        </p:spPr>
      </p:sp>
      <p:sp>
        <p:nvSpPr>
          <p:cNvPr id="12" name="Text 9"/>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3" name="Text 10"/>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検電器（けんでんき）</a:t>
            </a:r>
            <a:endParaRPr lang="en-US" sz="1600" dirty="0"/>
          </a:p>
        </p:txBody>
      </p:sp>
      <p:sp>
        <p:nvSpPr>
          <p:cNvPr id="14" name="Text 11"/>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電気設備や配線が通電しているかどうかを確認するための器具。作業前の安全確認に欠かせない工具</a:t>
            </a:r>
            <a:endParaRPr lang="en-US" sz="1400" dirty="0"/>
          </a:p>
        </p:txBody>
      </p:sp>
      <p:sp>
        <p:nvSpPr>
          <p:cNvPr id="15" name="Shape 12"/>
          <p:cNvSpPr/>
          <p:nvPr/>
        </p:nvSpPr>
        <p:spPr>
          <a:xfrm>
            <a:off x="0" y="4983480"/>
            <a:ext cx="9144000" cy="160020"/>
          </a:xfrm>
          <a:prstGeom prst="rect">
            <a:avLst/>
          </a:prstGeom>
          <a:solidFill>
            <a:srgbClr val="111111"/>
          </a:solidFill>
          <a:ln w="12700">
            <a:solidFill>
              <a:srgbClr val="111111"/>
            </a:solidFill>
            <a:prstDash val="solid"/>
          </a:ln>
        </p:spPr>
      </p:sp>
      <p:sp>
        <p:nvSpPr>
          <p:cNvPr id="16" name="Text 13"/>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Q53</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53 / 54</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メガーとも呼ばれる、電線や機器の絶縁状態を測定するための計器。漏電・絶縁劣化の診断に使われる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コンセント</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テレビ共聴設備</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接地</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絶縁抵抗計</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Q53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53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絶縁抵抗計</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絶縁抵抗計（ぜつえんていこうけい）</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メガーとも呼ばれる、電線や機器の絶縁状態を測定するための計器。漏電・絶縁劣化の診断に使われる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Q54</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54 / 54</a:t>
            </a:r>
            <a:endParaRPr lang="en-US" sz="1400" dirty="0"/>
          </a:p>
        </p:txBody>
      </p:sp>
      <p:sp>
        <p:nvSpPr>
          <p:cNvPr id="8" name="Text 6"/>
          <p:cNvSpPr/>
          <p:nvPr/>
        </p:nvSpPr>
        <p:spPr>
          <a:xfrm>
            <a:off x="182880" y="804672"/>
            <a:ext cx="658368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「テスター」の説明として正しいのはどれでしょうか？</a:t>
            </a:r>
            <a:endParaRPr lang="en-US" sz="1700" dirty="0"/>
          </a:p>
        </p:txBody>
      </p:sp>
      <p:sp>
        <p:nvSpPr>
          <p:cNvPr id="9" name="Shape 7"/>
          <p:cNvSpPr/>
          <p:nvPr/>
        </p:nvSpPr>
        <p:spPr>
          <a:xfrm>
            <a:off x="7132320" y="804672"/>
            <a:ext cx="1737360" cy="1371600"/>
          </a:xfrm>
          <a:prstGeom prst="rect">
            <a:avLst/>
          </a:prstGeom>
          <a:solidFill>
            <a:srgbClr val="FFFFFF"/>
          </a:solidFill>
          <a:ln w="12700">
            <a:solidFill>
              <a:srgbClr val="DDDDDD"/>
            </a:solidFill>
            <a:prstDash val="solid"/>
          </a:ln>
        </p:spPr>
      </p:sp>
      <p:pic>
        <p:nvPicPr>
          <p:cNvPr id="10" name="Image 0" descr="/home/claude/unpacked_電気用語集/ppt/media/image8.png">    </p:cNvPr>
          <p:cNvPicPr>
            <a:picLocks noChangeAspect="1"/>
          </p:cNvPicPr>
          <p:nvPr/>
        </p:nvPicPr>
        <p:blipFill>
          <a:blip r:embed="rId1"/>
          <a:srcRect l="0" r="0" t="0" b="0"/>
          <a:stretch/>
        </p:blipFill>
        <p:spPr>
          <a:xfrm>
            <a:off x="7178040" y="850392"/>
            <a:ext cx="1645920" cy="1280160"/>
          </a:xfrm>
          <a:prstGeom prst="rect">
            <a:avLst/>
          </a:prstGeom>
        </p:spPr>
      </p:pic>
      <p:sp>
        <p:nvSpPr>
          <p:cNvPr id="11" name="Shape 8"/>
          <p:cNvSpPr/>
          <p:nvPr/>
        </p:nvSpPr>
        <p:spPr>
          <a:xfrm>
            <a:off x="274320" y="1463040"/>
            <a:ext cx="6675120" cy="749808"/>
          </a:xfrm>
          <a:prstGeom prst="rect">
            <a:avLst/>
          </a:prstGeom>
          <a:solidFill>
            <a:srgbClr val="E3F2FD"/>
          </a:solidFill>
          <a:ln w="19050">
            <a:solidFill>
              <a:srgbClr val="1565C0"/>
            </a:solidFill>
            <a:prstDash val="solid"/>
          </a:ln>
        </p:spPr>
      </p:sp>
      <p:sp>
        <p:nvSpPr>
          <p:cNvPr id="12" name="Shape 9"/>
          <p:cNvSpPr/>
          <p:nvPr/>
        </p:nvSpPr>
        <p:spPr>
          <a:xfrm>
            <a:off x="274320" y="1463040"/>
            <a:ext cx="457200" cy="749808"/>
          </a:xfrm>
          <a:prstGeom prst="rect">
            <a:avLst/>
          </a:prstGeom>
          <a:solidFill>
            <a:srgbClr val="1565C0"/>
          </a:solidFill>
          <a:ln w="12700">
            <a:solidFill>
              <a:srgbClr val="1565C0"/>
            </a:solidFill>
            <a:prstDash val="solid"/>
          </a:ln>
        </p:spPr>
      </p:sp>
      <p:sp>
        <p:nvSpPr>
          <p:cNvPr id="13" name="Text 10"/>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4" name="Text 11"/>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電気回路の電圧・電流・抵抗などの電気量を測定するための機器（マルチメーター）。電気工事の現場で広く使われる</a:t>
            </a:r>
            <a:endParaRPr lang="en-US" sz="1200" dirty="0"/>
          </a:p>
        </p:txBody>
      </p:sp>
      <p:sp>
        <p:nvSpPr>
          <p:cNvPr id="15" name="Shape 12"/>
          <p:cNvSpPr/>
          <p:nvPr/>
        </p:nvSpPr>
        <p:spPr>
          <a:xfrm>
            <a:off x="274320" y="2331720"/>
            <a:ext cx="6675120" cy="749808"/>
          </a:xfrm>
          <a:prstGeom prst="rect">
            <a:avLst/>
          </a:prstGeom>
          <a:solidFill>
            <a:srgbClr val="F3E5F5"/>
          </a:solidFill>
          <a:ln w="19050">
            <a:solidFill>
              <a:srgbClr val="6A1B9A"/>
            </a:solidFill>
            <a:prstDash val="solid"/>
          </a:ln>
        </p:spPr>
      </p:sp>
      <p:sp>
        <p:nvSpPr>
          <p:cNvPr id="16" name="Shape 13"/>
          <p:cNvSpPr/>
          <p:nvPr/>
        </p:nvSpPr>
        <p:spPr>
          <a:xfrm>
            <a:off x="274320" y="2331720"/>
            <a:ext cx="457200" cy="749808"/>
          </a:xfrm>
          <a:prstGeom prst="rect">
            <a:avLst/>
          </a:prstGeom>
          <a:solidFill>
            <a:srgbClr val="6A1B9A"/>
          </a:solidFill>
          <a:ln w="12700">
            <a:solidFill>
              <a:srgbClr val="6A1B9A"/>
            </a:solidFill>
            <a:prstDash val="solid"/>
          </a:ln>
        </p:spPr>
      </p:sp>
      <p:sp>
        <p:nvSpPr>
          <p:cNvPr id="17" name="Text 14"/>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8" name="Text 15"/>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ある面にどれだけの光が当たっているかを示す物理量。単位はルクス（lux）。照明設計の基準値として使われる</a:t>
            </a:r>
            <a:endParaRPr lang="en-US" sz="1200" dirty="0"/>
          </a:p>
        </p:txBody>
      </p:sp>
      <p:sp>
        <p:nvSpPr>
          <p:cNvPr id="19" name="Shape 16"/>
          <p:cNvSpPr/>
          <p:nvPr/>
        </p:nvSpPr>
        <p:spPr>
          <a:xfrm>
            <a:off x="274320" y="3200400"/>
            <a:ext cx="6675120" cy="749808"/>
          </a:xfrm>
          <a:prstGeom prst="rect">
            <a:avLst/>
          </a:prstGeom>
          <a:solidFill>
            <a:srgbClr val="E8F5E9"/>
          </a:solidFill>
          <a:ln w="19050">
            <a:solidFill>
              <a:srgbClr val="1B5E20"/>
            </a:solidFill>
            <a:prstDash val="solid"/>
          </a:ln>
        </p:spPr>
      </p:sp>
      <p:sp>
        <p:nvSpPr>
          <p:cNvPr id="20" name="Shape 17"/>
          <p:cNvSpPr/>
          <p:nvPr/>
        </p:nvSpPr>
        <p:spPr>
          <a:xfrm>
            <a:off x="274320" y="3200400"/>
            <a:ext cx="457200" cy="749808"/>
          </a:xfrm>
          <a:prstGeom prst="rect">
            <a:avLst/>
          </a:prstGeom>
          <a:solidFill>
            <a:srgbClr val="1B5E20"/>
          </a:solidFill>
          <a:ln w="12700">
            <a:solidFill>
              <a:srgbClr val="1B5E20"/>
            </a:solidFill>
            <a:prstDash val="solid"/>
          </a:ln>
        </p:spPr>
      </p:sp>
      <p:sp>
        <p:nvSpPr>
          <p:cNvPr id="21" name="Text 18"/>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2" name="Text 19"/>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電気設備や配線が通電しているかどうかを確認するための器具。作業前の安全確認に欠かせない工具</a:t>
            </a:r>
            <a:endParaRPr lang="en-US" sz="1200" dirty="0"/>
          </a:p>
        </p:txBody>
      </p:sp>
      <p:sp>
        <p:nvSpPr>
          <p:cNvPr id="23" name="Shape 20"/>
          <p:cNvSpPr/>
          <p:nvPr/>
        </p:nvSpPr>
        <p:spPr>
          <a:xfrm>
            <a:off x="274320" y="4069080"/>
            <a:ext cx="6675120" cy="749808"/>
          </a:xfrm>
          <a:prstGeom prst="rect">
            <a:avLst/>
          </a:prstGeom>
          <a:solidFill>
            <a:srgbClr val="FFEBEE"/>
          </a:solidFill>
          <a:ln w="19050">
            <a:solidFill>
              <a:srgbClr val="B71C1C"/>
            </a:solidFill>
            <a:prstDash val="solid"/>
          </a:ln>
        </p:spPr>
      </p:sp>
      <p:sp>
        <p:nvSpPr>
          <p:cNvPr id="24" name="Shape 21"/>
          <p:cNvSpPr/>
          <p:nvPr/>
        </p:nvSpPr>
        <p:spPr>
          <a:xfrm>
            <a:off x="274320" y="4069080"/>
            <a:ext cx="457200" cy="749808"/>
          </a:xfrm>
          <a:prstGeom prst="rect">
            <a:avLst/>
          </a:prstGeom>
          <a:solidFill>
            <a:srgbClr val="B71C1C"/>
          </a:solidFill>
          <a:ln w="12700">
            <a:solidFill>
              <a:srgbClr val="B71C1C"/>
            </a:solidFill>
            <a:prstDash val="solid"/>
          </a:ln>
        </p:spPr>
      </p:sp>
      <p:sp>
        <p:nvSpPr>
          <p:cNvPr id="25" name="Text 22"/>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6" name="Text 23"/>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電気機器の金属筐体などを大地に接続し漏電や過電圧が発生した場合に電気を大地に逃がして感電や機器損傷を防ぐ安全対策</a:t>
            </a:r>
            <a:endParaRPr lang="en-US" sz="1200" dirty="0"/>
          </a:p>
        </p:txBody>
      </p:sp>
      <p:sp>
        <p:nvSpPr>
          <p:cNvPr id="27" name="Shape 24"/>
          <p:cNvSpPr/>
          <p:nvPr/>
        </p:nvSpPr>
        <p:spPr>
          <a:xfrm>
            <a:off x="0" y="4983480"/>
            <a:ext cx="9144000" cy="160020"/>
          </a:xfrm>
          <a:prstGeom prst="rect">
            <a:avLst/>
          </a:prstGeom>
          <a:solidFill>
            <a:srgbClr val="2C2C2C"/>
          </a:solidFill>
          <a:ln w="12700">
            <a:solidFill>
              <a:srgbClr val="2C2C2C"/>
            </a:solidFill>
            <a:prstDash val="solid"/>
          </a:ln>
        </p:spPr>
      </p:sp>
      <p:sp>
        <p:nvSpPr>
          <p:cNvPr id="28" name="Text 25"/>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Q54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54 / 54</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テスター</a:t>
            </a:r>
            <a:endParaRPr lang="en-US" sz="2200" dirty="0"/>
          </a:p>
        </p:txBody>
      </p:sp>
      <p:sp>
        <p:nvSpPr>
          <p:cNvPr id="9" name="Shape 7"/>
          <p:cNvSpPr/>
          <p:nvPr/>
        </p:nvSpPr>
        <p:spPr>
          <a:xfrm>
            <a:off x="6583680" y="2011680"/>
            <a:ext cx="2286000" cy="2286000"/>
          </a:xfrm>
          <a:prstGeom prst="rect">
            <a:avLst/>
          </a:prstGeom>
          <a:solidFill>
            <a:srgbClr val="FFFFFF"/>
          </a:solidFill>
          <a:ln w="12700">
            <a:solidFill>
              <a:srgbClr val="444444"/>
            </a:solidFill>
            <a:prstDash val="solid"/>
          </a:ln>
        </p:spPr>
      </p:sp>
      <p:pic>
        <p:nvPicPr>
          <p:cNvPr id="10" name="Image 0" descr="/home/claude/unpacked_電気用語集/ppt/media/image8.png">    </p:cNvPr>
          <p:cNvPicPr>
            <a:picLocks noChangeAspect="1"/>
          </p:cNvPicPr>
          <p:nvPr/>
        </p:nvPicPr>
        <p:blipFill>
          <a:blip r:embed="rId1"/>
          <a:srcRect l="0" r="0" t="0" b="0"/>
          <a:stretch/>
        </p:blipFill>
        <p:spPr>
          <a:xfrm>
            <a:off x="6675120" y="2103120"/>
            <a:ext cx="2103120" cy="2103120"/>
          </a:xfrm>
          <a:prstGeom prst="rect">
            <a:avLst/>
          </a:prstGeom>
        </p:spPr>
      </p:pic>
      <p:sp>
        <p:nvSpPr>
          <p:cNvPr id="11" name="Shape 8"/>
          <p:cNvSpPr/>
          <p:nvPr/>
        </p:nvSpPr>
        <p:spPr>
          <a:xfrm>
            <a:off x="274320" y="1965960"/>
            <a:ext cx="6126480" cy="457200"/>
          </a:xfrm>
          <a:prstGeom prst="rect">
            <a:avLst/>
          </a:prstGeom>
          <a:solidFill>
            <a:srgbClr val="E8611A"/>
          </a:solidFill>
          <a:ln w="12700">
            <a:solidFill>
              <a:srgbClr val="E8611A"/>
            </a:solidFill>
            <a:prstDash val="solid"/>
          </a:ln>
        </p:spPr>
      </p:sp>
      <p:sp>
        <p:nvSpPr>
          <p:cNvPr id="12" name="Text 9"/>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3" name="Text 10"/>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テスター（てすたー）</a:t>
            </a:r>
            <a:endParaRPr lang="en-US" sz="1600" dirty="0"/>
          </a:p>
        </p:txBody>
      </p:sp>
      <p:sp>
        <p:nvSpPr>
          <p:cNvPr id="14" name="Text 11"/>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電気回路の電圧・電流・抵抗などの電気量を測定するための機器（マルチメーター）。電気工事の現場で広く使われる</a:t>
            </a:r>
            <a:endParaRPr lang="en-US" sz="1400" dirty="0"/>
          </a:p>
        </p:txBody>
      </p:sp>
      <p:sp>
        <p:nvSpPr>
          <p:cNvPr id="15" name="Shape 12"/>
          <p:cNvSpPr/>
          <p:nvPr/>
        </p:nvSpPr>
        <p:spPr>
          <a:xfrm>
            <a:off x="0" y="4983480"/>
            <a:ext cx="9144000" cy="160020"/>
          </a:xfrm>
          <a:prstGeom prst="rect">
            <a:avLst/>
          </a:prstGeom>
          <a:solidFill>
            <a:srgbClr val="111111"/>
          </a:solidFill>
          <a:ln w="12700">
            <a:solidFill>
              <a:srgbClr val="111111"/>
            </a:solidFill>
            <a:prstDash val="solid"/>
          </a:ln>
        </p:spPr>
      </p:sp>
      <p:sp>
        <p:nvSpPr>
          <p:cNvPr id="16" name="Text 13"/>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電気用語クイズ　基本編</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109</Slides>
  <Notes>109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109</vt:i4>
      </vt:variant>
    </vt:vector>
  </HeadingPairs>
  <TitlesOfParts>
    <vt:vector size="1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電気用語クイズ</dc:title>
  <dc:subject>PptxGenJS Presentation</dc:subject>
  <dc:creator>PptxGenJS</dc:creator>
  <cp:lastModifiedBy>PptxGenJS</cp:lastModifiedBy>
  <cp:revision>1</cp:revision>
  <dcterms:created xsi:type="dcterms:W3CDTF">2026-03-09T14:48:47Z</dcterms:created>
  <dcterms:modified xsi:type="dcterms:W3CDTF">2026-03-09T14:48:47Z</dcterms:modified>
</cp:coreProperties>
</file>